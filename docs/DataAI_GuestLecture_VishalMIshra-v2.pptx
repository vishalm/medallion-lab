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4610"/>
  </p:normalViewPr>
  <p:slideViewPr>
    <p:cSldViewPr snapToGrid="0" snapToObjects="1">
      <p:cViewPr varScale="1">
        <p:scale>
          <a:sx n="114" d="100"/>
          <a:sy n="114" d="100"/>
        </p:scale>
        <p:origin x="1016"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1211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B24"/>
        </a:solidFill>
        <a:effectLst/>
      </p:bgPr>
    </p:bg>
    <p:spTree>
      <p:nvGrpSpPr>
        <p:cNvPr id="1" name=""/>
        <p:cNvGrpSpPr/>
        <p:nvPr/>
      </p:nvGrpSpPr>
      <p:grpSpPr>
        <a:xfrm>
          <a:off x="0" y="0"/>
          <a:ext cx="0" cy="0"/>
          <a:chOff x="0" y="0"/>
          <a:chExt cx="0" cy="0"/>
        </a:xfrm>
      </p:grpSpPr>
      <p:pic>
        <p:nvPicPr>
          <p:cNvPr id="2" name="Image 0" descr="images/cover.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6858000" cy="6858000"/>
          </a:xfrm>
          <a:prstGeom prst="rect">
            <a:avLst/>
          </a:prstGeom>
          <a:solidFill>
            <a:srgbClr val="060B24">
              <a:alpha val="75000"/>
            </a:srgbClr>
          </a:solidFill>
          <a:ln/>
        </p:spPr>
        <p:txBody>
          <a:bodyPr/>
          <a:lstStyle/>
          <a:p>
            <a:endParaRPr lang="en-AE"/>
          </a:p>
        </p:txBody>
      </p:sp>
      <p:sp>
        <p:nvSpPr>
          <p:cNvPr id="4" name="Text 1"/>
          <p:cNvSpPr/>
          <p:nvPr/>
        </p:nvSpPr>
        <p:spPr>
          <a:xfrm>
            <a:off x="640080" y="1005840"/>
            <a:ext cx="7315200" cy="320040"/>
          </a:xfrm>
          <a:prstGeom prst="rect">
            <a:avLst/>
          </a:prstGeom>
          <a:noFill/>
          <a:ln/>
        </p:spPr>
        <p:txBody>
          <a:bodyPr wrap="square" lIns="0" tIns="0" rIns="0" bIns="0" rtlCol="0" anchor="ctr"/>
          <a:lstStyle/>
          <a:p>
            <a:pPr marL="0" indent="0">
              <a:buNone/>
            </a:pPr>
            <a:r>
              <a:rPr lang="en-US" sz="1100" b="1" kern="0" spc="400" dirty="0">
                <a:solidFill>
                  <a:srgbClr val="22D3EE"/>
                </a:solidFill>
                <a:latin typeface="Calibri" pitchFamily="34" charset="0"/>
                <a:ea typeface="Calibri" pitchFamily="34" charset="-122"/>
                <a:cs typeface="Calibri" pitchFamily="34" charset="-120"/>
              </a:rPr>
              <a:t>GUEST LECTURE  ·  CSIT321  ·  DATA WAREHOUSING &amp; MINING</a:t>
            </a:r>
            <a:endParaRPr lang="en-US" sz="1100" dirty="0"/>
          </a:p>
        </p:txBody>
      </p:sp>
      <p:sp>
        <p:nvSpPr>
          <p:cNvPr id="5" name="Shape 2"/>
          <p:cNvSpPr/>
          <p:nvPr/>
        </p:nvSpPr>
        <p:spPr>
          <a:xfrm>
            <a:off x="640080" y="1463040"/>
            <a:ext cx="164592" cy="164592"/>
          </a:xfrm>
          <a:prstGeom prst="rect">
            <a:avLst/>
          </a:prstGeom>
          <a:solidFill>
            <a:srgbClr val="FF6B35"/>
          </a:solidFill>
          <a:ln/>
        </p:spPr>
        <p:txBody>
          <a:bodyPr/>
          <a:lstStyle/>
          <a:p>
            <a:endParaRPr lang="en-AE"/>
          </a:p>
        </p:txBody>
      </p:sp>
      <p:sp>
        <p:nvSpPr>
          <p:cNvPr id="6" name="Shape 3"/>
          <p:cNvSpPr/>
          <p:nvPr/>
        </p:nvSpPr>
        <p:spPr>
          <a:xfrm>
            <a:off x="841248" y="1463040"/>
            <a:ext cx="73152" cy="164592"/>
          </a:xfrm>
          <a:prstGeom prst="rect">
            <a:avLst/>
          </a:prstGeom>
          <a:solidFill>
            <a:srgbClr val="F472B6"/>
          </a:solidFill>
          <a:ln/>
        </p:spPr>
        <p:txBody>
          <a:bodyPr/>
          <a:lstStyle/>
          <a:p>
            <a:endParaRPr lang="en-AE"/>
          </a:p>
        </p:txBody>
      </p:sp>
      <p:sp>
        <p:nvSpPr>
          <p:cNvPr id="7" name="Text 4"/>
          <p:cNvSpPr/>
          <p:nvPr/>
        </p:nvSpPr>
        <p:spPr>
          <a:xfrm>
            <a:off x="640080" y="1828800"/>
            <a:ext cx="8229600" cy="1005840"/>
          </a:xfrm>
          <a:prstGeom prst="rect">
            <a:avLst/>
          </a:prstGeom>
          <a:noFill/>
          <a:ln/>
        </p:spPr>
        <p:txBody>
          <a:bodyPr wrap="square" lIns="0" tIns="0" rIns="0" bIns="0" rtlCol="0" anchor="ctr"/>
          <a:lstStyle/>
          <a:p>
            <a:pPr marL="0" indent="0">
              <a:buNone/>
            </a:pPr>
            <a:r>
              <a:rPr lang="en-US" sz="6400" b="1" dirty="0">
                <a:solidFill>
                  <a:srgbClr val="FFFFFF"/>
                </a:solidFill>
                <a:latin typeface="Arial Black" pitchFamily="34" charset="0"/>
                <a:ea typeface="Arial Black" pitchFamily="34" charset="-122"/>
                <a:cs typeface="Arial Black" pitchFamily="34" charset="-120"/>
              </a:rPr>
              <a:t>Data &amp; AI:</a:t>
            </a:r>
            <a:endParaRPr lang="en-US" sz="6400" dirty="0"/>
          </a:p>
        </p:txBody>
      </p:sp>
      <p:sp>
        <p:nvSpPr>
          <p:cNvPr id="8" name="Text 5"/>
          <p:cNvSpPr/>
          <p:nvPr/>
        </p:nvSpPr>
        <p:spPr>
          <a:xfrm>
            <a:off x="640080" y="2788920"/>
            <a:ext cx="10058400" cy="1005840"/>
          </a:xfrm>
          <a:prstGeom prst="rect">
            <a:avLst/>
          </a:prstGeom>
          <a:noFill/>
          <a:ln/>
        </p:spPr>
        <p:txBody>
          <a:bodyPr wrap="square" lIns="0" tIns="0" rIns="0" bIns="0" rtlCol="0" anchor="ctr"/>
          <a:lstStyle/>
          <a:p>
            <a:pPr marL="0" indent="0">
              <a:buNone/>
            </a:pPr>
            <a:r>
              <a:rPr lang="en-US" sz="6400" b="1" i="1" dirty="0">
                <a:solidFill>
                  <a:srgbClr val="FF6B35"/>
                </a:solidFill>
                <a:latin typeface="Arial Black" pitchFamily="34" charset="0"/>
                <a:ea typeface="Arial Black" pitchFamily="34" charset="-122"/>
                <a:cs typeface="Arial Black" pitchFamily="34" charset="-120"/>
              </a:rPr>
              <a:t>The Honest</a:t>
            </a:r>
            <a:r>
              <a:rPr lang="en-US" sz="6400" b="1" i="1" dirty="0">
                <a:solidFill>
                  <a:srgbClr val="22D3EE"/>
                </a:solidFill>
                <a:latin typeface="Arial Black" pitchFamily="34" charset="0"/>
                <a:ea typeface="Arial Black" pitchFamily="34" charset="-122"/>
                <a:cs typeface="Arial Black" pitchFamily="34" charset="-120"/>
              </a:rPr>
              <a:t> Tour.</a:t>
            </a:r>
            <a:endParaRPr lang="en-US" sz="6400" dirty="0"/>
          </a:p>
        </p:txBody>
      </p:sp>
      <p:sp>
        <p:nvSpPr>
          <p:cNvPr id="9" name="Text 6"/>
          <p:cNvSpPr/>
          <p:nvPr/>
        </p:nvSpPr>
        <p:spPr>
          <a:xfrm>
            <a:off x="640080" y="3931920"/>
            <a:ext cx="8686800" cy="32004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What your textbook covers,  what industry actually does,</a:t>
            </a:r>
            <a:endParaRPr lang="en-US" sz="1600" dirty="0"/>
          </a:p>
        </p:txBody>
      </p:sp>
      <p:sp>
        <p:nvSpPr>
          <p:cNvPr id="10" name="Text 7"/>
          <p:cNvSpPr/>
          <p:nvPr/>
        </p:nvSpPr>
        <p:spPr>
          <a:xfrm>
            <a:off x="640080" y="4224528"/>
            <a:ext cx="8686800" cy="32004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and what you need to know before your first job interview.</a:t>
            </a:r>
            <a:endParaRPr lang="en-US" sz="1600" dirty="0"/>
          </a:p>
        </p:txBody>
      </p:sp>
      <p:sp>
        <p:nvSpPr>
          <p:cNvPr id="11" name="Text 8"/>
          <p:cNvSpPr/>
          <p:nvPr/>
        </p:nvSpPr>
        <p:spPr>
          <a:xfrm>
            <a:off x="640080" y="4937760"/>
            <a:ext cx="7315200" cy="365760"/>
          </a:xfrm>
          <a:prstGeom prst="rect">
            <a:avLst/>
          </a:prstGeom>
          <a:noFill/>
          <a:ln/>
        </p:spPr>
        <p:txBody>
          <a:bodyPr wrap="square" lIns="0" tIns="0" rIns="0" bIns="0" rtlCol="0" anchor="ctr"/>
          <a:lstStyle/>
          <a:p>
            <a:pPr marL="0" indent="0">
              <a:buNone/>
            </a:pPr>
            <a:r>
              <a:rPr lang="en-US" sz="1400" b="1" dirty="0">
                <a:solidFill>
                  <a:srgbClr val="FF6B35"/>
                </a:solidFill>
                <a:latin typeface="Calibri" pitchFamily="34" charset="0"/>
                <a:ea typeface="Calibri" pitchFamily="34" charset="-122"/>
                <a:cs typeface="Calibri" pitchFamily="34" charset="-120"/>
              </a:rPr>
              <a:t>60 minutes</a:t>
            </a:r>
            <a:r>
              <a:rPr lang="en-US" sz="1400" dirty="0">
                <a:solidFill>
                  <a:srgbClr val="94A3B8"/>
                </a:solidFill>
                <a:latin typeface="Calibri" pitchFamily="34" charset="0"/>
                <a:ea typeface="Calibri" pitchFamily="34" charset="-122"/>
                <a:cs typeface="Calibri" pitchFamily="34" charset="-120"/>
              </a:rPr>
              <a:t>  ·  no fluff  ·  </a:t>
            </a:r>
            <a:r>
              <a:rPr lang="en-US" sz="1400" b="1" dirty="0">
                <a:solidFill>
                  <a:srgbClr val="22D3EE"/>
                </a:solidFill>
                <a:latin typeface="Calibri" pitchFamily="34" charset="0"/>
                <a:ea typeface="Calibri" pitchFamily="34" charset="-122"/>
                <a:cs typeface="Calibri" pitchFamily="34" charset="-120"/>
              </a:rPr>
              <a:t>bring questions</a:t>
            </a:r>
            <a:endParaRPr lang="en-US" sz="1400" dirty="0"/>
          </a:p>
        </p:txBody>
      </p:sp>
      <p:sp>
        <p:nvSpPr>
          <p:cNvPr id="12" name="Shape 9"/>
          <p:cNvSpPr/>
          <p:nvPr/>
        </p:nvSpPr>
        <p:spPr>
          <a:xfrm>
            <a:off x="640080" y="5669280"/>
            <a:ext cx="2286000" cy="0"/>
          </a:xfrm>
          <a:prstGeom prst="line">
            <a:avLst/>
          </a:prstGeom>
          <a:noFill/>
          <a:ln w="19050">
            <a:solidFill>
              <a:srgbClr val="FF6B35"/>
            </a:solidFill>
            <a:prstDash val="solid"/>
          </a:ln>
        </p:spPr>
        <p:txBody>
          <a:bodyPr/>
          <a:lstStyle/>
          <a:p>
            <a:endParaRPr lang="en-AE"/>
          </a:p>
        </p:txBody>
      </p:sp>
      <p:sp>
        <p:nvSpPr>
          <p:cNvPr id="13" name="Text 10"/>
          <p:cNvSpPr/>
          <p:nvPr/>
        </p:nvSpPr>
        <p:spPr>
          <a:xfrm>
            <a:off x="640080" y="5760720"/>
            <a:ext cx="5486400" cy="292608"/>
          </a:xfrm>
          <a:prstGeom prst="rect">
            <a:avLst/>
          </a:prstGeom>
          <a:noFill/>
          <a:ln/>
        </p:spPr>
        <p:txBody>
          <a:bodyPr wrap="square" lIns="0" tIns="0" rIns="0" bIns="0" rtlCol="0" anchor="ctr"/>
          <a:lstStyle/>
          <a:p>
            <a:pPr marL="0" indent="0">
              <a:buNone/>
            </a:pPr>
            <a:r>
              <a:rPr lang="en-US" sz="1300" kern="0" spc="300" dirty="0">
                <a:solidFill>
                  <a:srgbClr val="FFFFFF"/>
                </a:solidFill>
                <a:latin typeface="Arial Black" pitchFamily="34" charset="0"/>
                <a:ea typeface="Arial Black" pitchFamily="34" charset="-122"/>
                <a:cs typeface="Arial Black" pitchFamily="34" charset="-120"/>
              </a:rPr>
              <a:t>VISHAL MISHRA</a:t>
            </a:r>
            <a:endParaRPr lang="en-US" sz="1300" dirty="0"/>
          </a:p>
        </p:txBody>
      </p:sp>
      <p:sp>
        <p:nvSpPr>
          <p:cNvPr id="14" name="Text 11"/>
          <p:cNvSpPr/>
          <p:nvPr/>
        </p:nvSpPr>
        <p:spPr>
          <a:xfrm>
            <a:off x="640080" y="6080760"/>
            <a:ext cx="7315200" cy="27432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Head of AI &amp; Data  ·  20+ years shipping data platforms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437"/>
        </a:solidFill>
        <a:effectLst/>
      </p:bgPr>
    </p:bg>
    <p:spTree>
      <p:nvGrpSpPr>
        <p:cNvPr id="1" name=""/>
        <p:cNvGrpSpPr/>
        <p:nvPr/>
      </p:nvGrpSpPr>
      <p:grpSpPr>
        <a:xfrm>
          <a:off x="0" y="0"/>
          <a:ext cx="0" cy="0"/>
          <a:chOff x="0" y="0"/>
          <a:chExt cx="0" cy="0"/>
        </a:xfrm>
      </p:grpSpPr>
      <p:sp>
        <p:nvSpPr>
          <p:cNvPr id="2" name="Text 0"/>
          <p:cNvSpPr/>
          <p:nvPr/>
        </p:nvSpPr>
        <p:spPr>
          <a:xfrm>
            <a:off x="640080" y="822960"/>
            <a:ext cx="4572000" cy="320040"/>
          </a:xfrm>
          <a:prstGeom prst="rect">
            <a:avLst/>
          </a:prstGeom>
          <a:noFill/>
          <a:ln/>
        </p:spPr>
        <p:txBody>
          <a:bodyPr wrap="square" lIns="0" tIns="0" rIns="0" bIns="0" rtlCol="0" anchor="ctr"/>
          <a:lstStyle/>
          <a:p>
            <a:pPr marL="0" indent="0">
              <a:buNone/>
            </a:pPr>
            <a:r>
              <a:rPr lang="en-US" sz="1100" b="1" kern="0" spc="400" dirty="0">
                <a:solidFill>
                  <a:srgbClr val="FF6B35"/>
                </a:solidFill>
                <a:latin typeface="Calibri" pitchFamily="34" charset="0"/>
                <a:ea typeface="Calibri" pitchFamily="34" charset="-122"/>
                <a:cs typeface="Calibri" pitchFamily="34" charset="-120"/>
              </a:rPr>
              <a:t>REALITY CHECK</a:t>
            </a:r>
            <a:endParaRPr lang="en-US" sz="1100" dirty="0"/>
          </a:p>
        </p:txBody>
      </p:sp>
      <p:sp>
        <p:nvSpPr>
          <p:cNvPr id="3" name="Text 1"/>
          <p:cNvSpPr/>
          <p:nvPr/>
        </p:nvSpPr>
        <p:spPr>
          <a:xfrm>
            <a:off x="640080" y="1371600"/>
            <a:ext cx="5943600" cy="2560320"/>
          </a:xfrm>
          <a:prstGeom prst="rect">
            <a:avLst/>
          </a:prstGeom>
          <a:noFill/>
          <a:ln/>
        </p:spPr>
        <p:txBody>
          <a:bodyPr wrap="square" lIns="0" tIns="0" rIns="0" bIns="0" rtlCol="0" anchor="ctr"/>
          <a:lstStyle/>
          <a:p>
            <a:pPr marL="0" indent="0" algn="l">
              <a:buNone/>
            </a:pPr>
            <a:r>
              <a:rPr lang="en-US" sz="16000" b="1" dirty="0">
                <a:solidFill>
                  <a:srgbClr val="FF6B35"/>
                </a:solidFill>
                <a:latin typeface="Arial Black" pitchFamily="34" charset="0"/>
                <a:ea typeface="Arial Black" pitchFamily="34" charset="-122"/>
                <a:cs typeface="Arial Black" pitchFamily="34" charset="-120"/>
              </a:rPr>
              <a:t>85%</a:t>
            </a:r>
            <a:endParaRPr lang="en-US" sz="16000" dirty="0"/>
          </a:p>
        </p:txBody>
      </p:sp>
      <p:sp>
        <p:nvSpPr>
          <p:cNvPr id="4" name="Text 2"/>
          <p:cNvSpPr/>
          <p:nvPr/>
        </p:nvSpPr>
        <p:spPr>
          <a:xfrm>
            <a:off x="640080" y="4023360"/>
            <a:ext cx="5943600" cy="82296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of data &amp; AI projects fail</a:t>
            </a:r>
            <a:endParaRPr lang="en-US" sz="2400" dirty="0"/>
          </a:p>
          <a:p>
            <a:pPr marL="0" indent="0">
              <a:buNone/>
            </a:pPr>
            <a:r>
              <a:rPr lang="en-US" sz="2400" b="1" dirty="0">
                <a:solidFill>
                  <a:srgbClr val="FFFFFF"/>
                </a:solidFill>
                <a:latin typeface="Calibri" pitchFamily="34" charset="0"/>
                <a:ea typeface="Calibri" pitchFamily="34" charset="-122"/>
                <a:cs typeface="Calibri" pitchFamily="34" charset="-120"/>
              </a:rPr>
              <a:t>to deliver business value.</a:t>
            </a:r>
            <a:endParaRPr lang="en-US" sz="2400" dirty="0"/>
          </a:p>
        </p:txBody>
      </p:sp>
      <p:sp>
        <p:nvSpPr>
          <p:cNvPr id="5" name="Text 3"/>
          <p:cNvSpPr/>
          <p:nvPr/>
        </p:nvSpPr>
        <p:spPr>
          <a:xfrm>
            <a:off x="640080" y="4892040"/>
            <a:ext cx="5943600" cy="64008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Not because the tech is broken.</a:t>
            </a:r>
            <a:endParaRPr lang="en-US" sz="1400" dirty="0"/>
          </a:p>
          <a:p>
            <a:pPr marL="0" indent="0">
              <a:buNone/>
            </a:pPr>
            <a:r>
              <a:rPr lang="en-US" sz="1400" i="1" dirty="0">
                <a:solidFill>
                  <a:srgbClr val="94A3B8"/>
                </a:solidFill>
                <a:latin typeface="Calibri" pitchFamily="34" charset="0"/>
                <a:ea typeface="Calibri" pitchFamily="34" charset="-122"/>
                <a:cs typeface="Calibri" pitchFamily="34" charset="-120"/>
              </a:rPr>
              <a:t>Because nobody asked 'why are we building this?'</a:t>
            </a:r>
            <a:endParaRPr lang="en-US" sz="1400" dirty="0"/>
          </a:p>
        </p:txBody>
      </p:sp>
      <p:pic>
        <p:nvPicPr>
          <p:cNvPr id="6" name="Image 0" descr="images/brokenPipe.png"/>
          <p:cNvPicPr>
            <a:picLocks noChangeAspect="1"/>
          </p:cNvPicPr>
          <p:nvPr/>
        </p:nvPicPr>
        <p:blipFill>
          <a:blip r:embed="rId3"/>
          <a:srcRect/>
          <a:stretch/>
        </p:blipFill>
        <p:spPr>
          <a:xfrm>
            <a:off x="6217920" y="1188720"/>
            <a:ext cx="5669280" cy="3749040"/>
          </a:xfrm>
          <a:prstGeom prst="rect">
            <a:avLst/>
          </a:prstGeom>
        </p:spPr>
      </p:pic>
      <p:sp>
        <p:nvSpPr>
          <p:cNvPr id="7" name="Shape 4"/>
          <p:cNvSpPr/>
          <p:nvPr/>
        </p:nvSpPr>
        <p:spPr>
          <a:xfrm>
            <a:off x="640080" y="5577840"/>
            <a:ext cx="10881360" cy="822960"/>
          </a:xfrm>
          <a:prstGeom prst="rect">
            <a:avLst/>
          </a:prstGeom>
          <a:solidFill>
            <a:srgbClr val="1B2656"/>
          </a:solidFill>
          <a:ln/>
        </p:spPr>
        <p:txBody>
          <a:bodyPr/>
          <a:lstStyle/>
          <a:p>
            <a:endParaRPr lang="en-AE"/>
          </a:p>
        </p:txBody>
      </p:sp>
      <p:sp>
        <p:nvSpPr>
          <p:cNvPr id="8" name="Shape 5"/>
          <p:cNvSpPr/>
          <p:nvPr/>
        </p:nvSpPr>
        <p:spPr>
          <a:xfrm>
            <a:off x="640080" y="5577840"/>
            <a:ext cx="91440" cy="822960"/>
          </a:xfrm>
          <a:prstGeom prst="rect">
            <a:avLst/>
          </a:prstGeom>
          <a:solidFill>
            <a:srgbClr val="22D3EE"/>
          </a:solidFill>
          <a:ln/>
        </p:spPr>
        <p:txBody>
          <a:bodyPr/>
          <a:lstStyle/>
          <a:p>
            <a:endParaRPr lang="en-AE"/>
          </a:p>
        </p:txBody>
      </p:sp>
      <p:sp>
        <p:nvSpPr>
          <p:cNvPr id="9" name="Text 6"/>
          <p:cNvSpPr/>
          <p:nvPr/>
        </p:nvSpPr>
        <p:spPr>
          <a:xfrm>
            <a:off x="914400" y="5650992"/>
            <a:ext cx="10424160" cy="685800"/>
          </a:xfrm>
          <a:prstGeom prst="rect">
            <a:avLst/>
          </a:prstGeom>
          <a:noFill/>
          <a:ln/>
        </p:spPr>
        <p:txBody>
          <a:bodyPr wrap="square" lIns="0" tIns="0" rIns="0" bIns="0" rtlCol="0" anchor="ctr"/>
          <a:lstStyle/>
          <a:p>
            <a:pPr marL="0" indent="0">
              <a:buNone/>
            </a:pPr>
            <a:r>
              <a:rPr lang="en-US" sz="1400" b="1" dirty="0">
                <a:solidFill>
                  <a:srgbClr val="22D3EE"/>
                </a:solidFill>
                <a:latin typeface="Calibri" pitchFamily="34" charset="0"/>
                <a:ea typeface="Calibri" pitchFamily="34" charset="-122"/>
                <a:cs typeface="Calibri" pitchFamily="34" charset="-120"/>
              </a:rPr>
              <a:t>The good news: </a:t>
            </a:r>
            <a:r>
              <a:rPr lang="en-US" sz="1400" dirty="0">
                <a:solidFill>
                  <a:srgbClr val="FFFFFF"/>
                </a:solidFill>
                <a:latin typeface="Calibri" pitchFamily="34" charset="0"/>
                <a:ea typeface="Calibri" pitchFamily="34" charset="-122"/>
                <a:cs typeface="Calibri" pitchFamily="34" charset="-120"/>
              </a:rPr>
              <a:t>the 15% that succeed are led by people who understand BOTH the pipes AND the business.</a:t>
            </a:r>
            <a:r>
              <a:rPr lang="en-US" sz="1400" i="1" dirty="0">
                <a:solidFill>
                  <a:srgbClr val="F59E0B"/>
                </a:solidFill>
                <a:latin typeface="Calibri" pitchFamily="34" charset="0"/>
                <a:ea typeface="Calibri" pitchFamily="34" charset="-122"/>
                <a:cs typeface="Calibri" pitchFamily="34" charset="-120"/>
              </a:rPr>
              <a:t>  That's the job I'm describing today.</a:t>
            </a:r>
            <a:endParaRPr lang="en-US" sz="1400" dirty="0"/>
          </a:p>
        </p:txBody>
      </p:sp>
      <p:sp>
        <p:nvSpPr>
          <p:cNvPr id="10" name="Text 7"/>
          <p:cNvSpPr/>
          <p:nvPr/>
        </p:nvSpPr>
        <p:spPr>
          <a:xfrm>
            <a:off x="10332720" y="6510528"/>
            <a:ext cx="173736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02 / 32  ·  DATA &amp; AI</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FF6B35"/>
          </a:solidFill>
          <a:ln/>
        </p:spPr>
        <p:txBody>
          <a:bodyPr/>
          <a:lstStyle/>
          <a:p>
            <a:endParaRPr lang="en-AE"/>
          </a:p>
        </p:txBody>
      </p:sp>
      <p:sp>
        <p:nvSpPr>
          <p:cNvPr id="3" name="Shape 1"/>
          <p:cNvSpPr/>
          <p:nvPr/>
        </p:nvSpPr>
        <p:spPr>
          <a:xfrm>
            <a:off x="621792" y="457200"/>
            <a:ext cx="54864" cy="128016"/>
          </a:xfrm>
          <a:prstGeom prst="rect">
            <a:avLst/>
          </a:prstGeom>
          <a:solidFill>
            <a:srgbClr val="0B1437"/>
          </a:solidFill>
          <a:ln/>
        </p:spPr>
        <p:txBody>
          <a:bodyPr/>
          <a:lstStyle/>
          <a:p>
            <a:endParaRPr lang="en-AE"/>
          </a:p>
        </p:txBody>
      </p:sp>
      <p:sp>
        <p:nvSpPr>
          <p:cNvPr id="4" name="Text 2"/>
          <p:cNvSpPr/>
          <p:nvPr/>
        </p:nvSpPr>
        <p:spPr>
          <a:xfrm>
            <a:off x="457200" y="685800"/>
            <a:ext cx="11247120" cy="274320"/>
          </a:xfrm>
          <a:prstGeom prst="rect">
            <a:avLst/>
          </a:prstGeom>
          <a:noFill/>
          <a:ln/>
        </p:spPr>
        <p:txBody>
          <a:bodyPr wrap="square" lIns="0" tIns="0" rIns="0" bIns="0" rtlCol="0" anchor="ctr"/>
          <a:lstStyle/>
          <a:p>
            <a:pPr marL="0" indent="0">
              <a:buNone/>
            </a:pPr>
            <a:r>
              <a:rPr lang="en-US" sz="1100" b="1" kern="0" spc="400" dirty="0">
                <a:solidFill>
                  <a:srgbClr val="FF6B35"/>
                </a:solidFill>
                <a:latin typeface="Calibri" pitchFamily="34" charset="0"/>
                <a:ea typeface="Calibri" pitchFamily="34" charset="-122"/>
                <a:cs typeface="Calibri" pitchFamily="34" charset="-120"/>
              </a:rPr>
              <a:t>THE NEXT 60 MINUTES</a:t>
            </a:r>
            <a:endParaRPr lang="en-US" sz="1100" dirty="0"/>
          </a:p>
        </p:txBody>
      </p:sp>
      <p:sp>
        <p:nvSpPr>
          <p:cNvPr id="5" name="Text 3"/>
          <p:cNvSpPr/>
          <p:nvPr/>
        </p:nvSpPr>
        <p:spPr>
          <a:xfrm>
            <a:off x="457200" y="932688"/>
            <a:ext cx="1124712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Here's the ride.</a:t>
            </a:r>
            <a:endParaRPr lang="en-US" sz="3000" dirty="0"/>
          </a:p>
        </p:txBody>
      </p:sp>
      <p:sp>
        <p:nvSpPr>
          <p:cNvPr id="6" name="Text 4"/>
          <p:cNvSpPr/>
          <p:nvPr/>
        </p:nvSpPr>
        <p:spPr>
          <a:xfrm>
            <a:off x="457200" y="1572768"/>
            <a:ext cx="11247120" cy="45720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Six acts. Minimal textbook, maximum reality.</a:t>
            </a:r>
            <a:endParaRPr lang="en-US" sz="1300" dirty="0"/>
          </a:p>
        </p:txBody>
      </p:sp>
      <p:sp>
        <p:nvSpPr>
          <p:cNvPr id="7" name="Shape 5"/>
          <p:cNvSpPr/>
          <p:nvPr/>
        </p:nvSpPr>
        <p:spPr>
          <a:xfrm>
            <a:off x="457200" y="2286000"/>
            <a:ext cx="777240" cy="777240"/>
          </a:xfrm>
          <a:prstGeom prst="rect">
            <a:avLst/>
          </a:prstGeom>
          <a:solidFill>
            <a:srgbClr val="FF6B35"/>
          </a:solidFill>
          <a:ln/>
        </p:spPr>
        <p:txBody>
          <a:bodyPr/>
          <a:lstStyle/>
          <a:p>
            <a:endParaRPr lang="en-AE"/>
          </a:p>
        </p:txBody>
      </p:sp>
      <p:sp>
        <p:nvSpPr>
          <p:cNvPr id="8" name="Text 6"/>
          <p:cNvSpPr/>
          <p:nvPr/>
        </p:nvSpPr>
        <p:spPr>
          <a:xfrm>
            <a:off x="457200" y="2286000"/>
            <a:ext cx="777240" cy="777240"/>
          </a:xfrm>
          <a:prstGeom prst="rect">
            <a:avLst/>
          </a:prstGeom>
          <a:noFill/>
          <a:ln/>
        </p:spPr>
        <p:txBody>
          <a:bodyPr wrap="square" lIns="0" tIns="0" rIns="0" bIns="0" rtlCol="0" anchor="ctr"/>
          <a:lstStyle/>
          <a:p>
            <a:pPr marL="0" indent="0" algn="ctr">
              <a:buNone/>
            </a:pPr>
            <a:r>
              <a:rPr lang="en-US" sz="2800" b="1" dirty="0">
                <a:solidFill>
                  <a:srgbClr val="FFFFFF"/>
                </a:solidFill>
                <a:latin typeface="Arial Black" pitchFamily="34" charset="0"/>
                <a:ea typeface="Arial Black" pitchFamily="34" charset="-122"/>
                <a:cs typeface="Arial Black" pitchFamily="34" charset="-120"/>
              </a:rPr>
              <a:t>01</a:t>
            </a:r>
            <a:endParaRPr lang="en-US" sz="2800" dirty="0"/>
          </a:p>
        </p:txBody>
      </p:sp>
      <p:sp>
        <p:nvSpPr>
          <p:cNvPr id="9" name="Shape 7"/>
          <p:cNvSpPr/>
          <p:nvPr/>
        </p:nvSpPr>
        <p:spPr>
          <a:xfrm>
            <a:off x="1234440" y="2286000"/>
            <a:ext cx="4663440" cy="777240"/>
          </a:xfrm>
          <a:prstGeom prst="rect">
            <a:avLst/>
          </a:prstGeom>
          <a:solidFill>
            <a:srgbClr val="F8FAFC"/>
          </a:solidFill>
          <a:ln/>
        </p:spPr>
        <p:txBody>
          <a:bodyPr/>
          <a:lstStyle/>
          <a:p>
            <a:endParaRPr lang="en-AE"/>
          </a:p>
        </p:txBody>
      </p:sp>
      <p:sp>
        <p:nvSpPr>
          <p:cNvPr id="10" name="Text 8"/>
          <p:cNvSpPr/>
          <p:nvPr/>
        </p:nvSpPr>
        <p:spPr>
          <a:xfrm>
            <a:off x="1417320" y="2377440"/>
            <a:ext cx="4526280" cy="347472"/>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The Landscape</a:t>
            </a:r>
            <a:endParaRPr lang="en-US" sz="1600" dirty="0"/>
          </a:p>
        </p:txBody>
      </p:sp>
      <p:sp>
        <p:nvSpPr>
          <p:cNvPr id="11" name="Text 9"/>
          <p:cNvSpPr/>
          <p:nvPr/>
        </p:nvSpPr>
        <p:spPr>
          <a:xfrm>
            <a:off x="1417320" y="2724912"/>
            <a:ext cx="4526280" cy="29260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Why every company is now a data company</a:t>
            </a:r>
            <a:endParaRPr lang="en-US" sz="1050" dirty="0"/>
          </a:p>
        </p:txBody>
      </p:sp>
      <p:sp>
        <p:nvSpPr>
          <p:cNvPr id="12" name="Shape 10"/>
          <p:cNvSpPr/>
          <p:nvPr/>
        </p:nvSpPr>
        <p:spPr>
          <a:xfrm>
            <a:off x="6172200" y="2286000"/>
            <a:ext cx="777240" cy="777240"/>
          </a:xfrm>
          <a:prstGeom prst="rect">
            <a:avLst/>
          </a:prstGeom>
          <a:solidFill>
            <a:srgbClr val="0891B2"/>
          </a:solidFill>
          <a:ln/>
        </p:spPr>
        <p:txBody>
          <a:bodyPr/>
          <a:lstStyle/>
          <a:p>
            <a:endParaRPr lang="en-AE"/>
          </a:p>
        </p:txBody>
      </p:sp>
      <p:sp>
        <p:nvSpPr>
          <p:cNvPr id="13" name="Text 11"/>
          <p:cNvSpPr/>
          <p:nvPr/>
        </p:nvSpPr>
        <p:spPr>
          <a:xfrm>
            <a:off x="6172200" y="2286000"/>
            <a:ext cx="777240" cy="777240"/>
          </a:xfrm>
          <a:prstGeom prst="rect">
            <a:avLst/>
          </a:prstGeom>
          <a:noFill/>
          <a:ln/>
        </p:spPr>
        <p:txBody>
          <a:bodyPr wrap="square" lIns="0" tIns="0" rIns="0" bIns="0" rtlCol="0" anchor="ctr"/>
          <a:lstStyle/>
          <a:p>
            <a:pPr marL="0" indent="0" algn="ctr">
              <a:buNone/>
            </a:pPr>
            <a:r>
              <a:rPr lang="en-US" sz="2800" b="1" dirty="0">
                <a:solidFill>
                  <a:srgbClr val="FFFFFF"/>
                </a:solidFill>
                <a:latin typeface="Arial Black" pitchFamily="34" charset="0"/>
                <a:ea typeface="Arial Black" pitchFamily="34" charset="-122"/>
                <a:cs typeface="Arial Black" pitchFamily="34" charset="-120"/>
              </a:rPr>
              <a:t>02</a:t>
            </a:r>
            <a:endParaRPr lang="en-US" sz="2800" dirty="0"/>
          </a:p>
        </p:txBody>
      </p:sp>
      <p:sp>
        <p:nvSpPr>
          <p:cNvPr id="14" name="Shape 12"/>
          <p:cNvSpPr/>
          <p:nvPr/>
        </p:nvSpPr>
        <p:spPr>
          <a:xfrm>
            <a:off x="6949440" y="2286000"/>
            <a:ext cx="4663440" cy="777240"/>
          </a:xfrm>
          <a:prstGeom prst="rect">
            <a:avLst/>
          </a:prstGeom>
          <a:solidFill>
            <a:srgbClr val="F8FAFC"/>
          </a:solidFill>
          <a:ln/>
        </p:spPr>
        <p:txBody>
          <a:bodyPr/>
          <a:lstStyle/>
          <a:p>
            <a:endParaRPr lang="en-AE"/>
          </a:p>
        </p:txBody>
      </p:sp>
      <p:sp>
        <p:nvSpPr>
          <p:cNvPr id="15" name="Text 13"/>
          <p:cNvSpPr/>
          <p:nvPr/>
        </p:nvSpPr>
        <p:spPr>
          <a:xfrm>
            <a:off x="7132320" y="2377440"/>
            <a:ext cx="4526280" cy="347472"/>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Warehouse 101</a:t>
            </a:r>
            <a:endParaRPr lang="en-US" sz="1600" dirty="0"/>
          </a:p>
        </p:txBody>
      </p:sp>
      <p:sp>
        <p:nvSpPr>
          <p:cNvPr id="16" name="Text 14"/>
          <p:cNvSpPr/>
          <p:nvPr/>
        </p:nvSpPr>
        <p:spPr>
          <a:xfrm>
            <a:off x="7132320" y="2724912"/>
            <a:ext cx="4526280" cy="29260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OLTP vs OLAP  ·  the cube  ·  why it still matters</a:t>
            </a:r>
            <a:endParaRPr lang="en-US" sz="1050" dirty="0"/>
          </a:p>
        </p:txBody>
      </p:sp>
      <p:sp>
        <p:nvSpPr>
          <p:cNvPr id="17" name="Shape 15"/>
          <p:cNvSpPr/>
          <p:nvPr/>
        </p:nvSpPr>
        <p:spPr>
          <a:xfrm>
            <a:off x="457200" y="3291840"/>
            <a:ext cx="777240" cy="777240"/>
          </a:xfrm>
          <a:prstGeom prst="rect">
            <a:avLst/>
          </a:prstGeom>
          <a:solidFill>
            <a:srgbClr val="DB2777"/>
          </a:solidFill>
          <a:ln/>
        </p:spPr>
        <p:txBody>
          <a:bodyPr/>
          <a:lstStyle/>
          <a:p>
            <a:endParaRPr lang="en-AE"/>
          </a:p>
        </p:txBody>
      </p:sp>
      <p:sp>
        <p:nvSpPr>
          <p:cNvPr id="18" name="Text 16"/>
          <p:cNvSpPr/>
          <p:nvPr/>
        </p:nvSpPr>
        <p:spPr>
          <a:xfrm>
            <a:off x="457200" y="3291840"/>
            <a:ext cx="777240" cy="777240"/>
          </a:xfrm>
          <a:prstGeom prst="rect">
            <a:avLst/>
          </a:prstGeom>
          <a:noFill/>
          <a:ln/>
        </p:spPr>
        <p:txBody>
          <a:bodyPr wrap="square" lIns="0" tIns="0" rIns="0" bIns="0" rtlCol="0" anchor="ctr"/>
          <a:lstStyle/>
          <a:p>
            <a:pPr marL="0" indent="0" algn="ctr">
              <a:buNone/>
            </a:pPr>
            <a:r>
              <a:rPr lang="en-US" sz="2800" b="1" dirty="0">
                <a:solidFill>
                  <a:srgbClr val="FFFFFF"/>
                </a:solidFill>
                <a:latin typeface="Arial Black" pitchFamily="34" charset="0"/>
                <a:ea typeface="Arial Black" pitchFamily="34" charset="-122"/>
                <a:cs typeface="Arial Black" pitchFamily="34" charset="-120"/>
              </a:rPr>
              <a:t>03</a:t>
            </a:r>
            <a:endParaRPr lang="en-US" sz="2800" dirty="0"/>
          </a:p>
        </p:txBody>
      </p:sp>
      <p:sp>
        <p:nvSpPr>
          <p:cNvPr id="19" name="Shape 17"/>
          <p:cNvSpPr/>
          <p:nvPr/>
        </p:nvSpPr>
        <p:spPr>
          <a:xfrm>
            <a:off x="1234440" y="3291840"/>
            <a:ext cx="4663440" cy="777240"/>
          </a:xfrm>
          <a:prstGeom prst="rect">
            <a:avLst/>
          </a:prstGeom>
          <a:solidFill>
            <a:srgbClr val="F8FAFC"/>
          </a:solidFill>
          <a:ln/>
        </p:spPr>
        <p:txBody>
          <a:bodyPr/>
          <a:lstStyle/>
          <a:p>
            <a:endParaRPr lang="en-AE"/>
          </a:p>
        </p:txBody>
      </p:sp>
      <p:sp>
        <p:nvSpPr>
          <p:cNvPr id="20" name="Text 18"/>
          <p:cNvSpPr/>
          <p:nvPr/>
        </p:nvSpPr>
        <p:spPr>
          <a:xfrm>
            <a:off x="1417320" y="3383280"/>
            <a:ext cx="4526280" cy="347472"/>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Dimensional Modeling</a:t>
            </a:r>
            <a:endParaRPr lang="en-US" sz="1600" dirty="0"/>
          </a:p>
        </p:txBody>
      </p:sp>
      <p:sp>
        <p:nvSpPr>
          <p:cNvPr id="21" name="Text 19"/>
          <p:cNvSpPr/>
          <p:nvPr/>
        </p:nvSpPr>
        <p:spPr>
          <a:xfrm>
            <a:off x="1417320" y="3730752"/>
            <a:ext cx="4526280" cy="29260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Star  ·  Snowflake  ·  Galaxy  ·  ROLAP/MOLAP/HOLAP</a:t>
            </a:r>
            <a:endParaRPr lang="en-US" sz="1050" dirty="0"/>
          </a:p>
        </p:txBody>
      </p:sp>
      <p:sp>
        <p:nvSpPr>
          <p:cNvPr id="22" name="Shape 20"/>
          <p:cNvSpPr/>
          <p:nvPr/>
        </p:nvSpPr>
        <p:spPr>
          <a:xfrm>
            <a:off x="6172200" y="3291840"/>
            <a:ext cx="777240" cy="777240"/>
          </a:xfrm>
          <a:prstGeom prst="rect">
            <a:avLst/>
          </a:prstGeom>
          <a:solidFill>
            <a:srgbClr val="14B8A6"/>
          </a:solidFill>
          <a:ln/>
        </p:spPr>
        <p:txBody>
          <a:bodyPr/>
          <a:lstStyle/>
          <a:p>
            <a:endParaRPr lang="en-AE"/>
          </a:p>
        </p:txBody>
      </p:sp>
      <p:sp>
        <p:nvSpPr>
          <p:cNvPr id="23" name="Text 21"/>
          <p:cNvSpPr/>
          <p:nvPr/>
        </p:nvSpPr>
        <p:spPr>
          <a:xfrm>
            <a:off x="6172200" y="3291840"/>
            <a:ext cx="777240" cy="777240"/>
          </a:xfrm>
          <a:prstGeom prst="rect">
            <a:avLst/>
          </a:prstGeom>
          <a:noFill/>
          <a:ln/>
        </p:spPr>
        <p:txBody>
          <a:bodyPr wrap="square" lIns="0" tIns="0" rIns="0" bIns="0" rtlCol="0" anchor="ctr"/>
          <a:lstStyle/>
          <a:p>
            <a:pPr marL="0" indent="0" algn="ctr">
              <a:buNone/>
            </a:pPr>
            <a:r>
              <a:rPr lang="en-US" sz="2800" b="1" dirty="0">
                <a:solidFill>
                  <a:srgbClr val="FFFFFF"/>
                </a:solidFill>
                <a:latin typeface="Arial Black" pitchFamily="34" charset="0"/>
                <a:ea typeface="Arial Black" pitchFamily="34" charset="-122"/>
                <a:cs typeface="Arial Black" pitchFamily="34" charset="-120"/>
              </a:rPr>
              <a:t>04</a:t>
            </a:r>
            <a:endParaRPr lang="en-US" sz="2800" dirty="0"/>
          </a:p>
        </p:txBody>
      </p:sp>
      <p:sp>
        <p:nvSpPr>
          <p:cNvPr id="24" name="Shape 22"/>
          <p:cNvSpPr/>
          <p:nvPr/>
        </p:nvSpPr>
        <p:spPr>
          <a:xfrm>
            <a:off x="6949440" y="3291840"/>
            <a:ext cx="4663440" cy="777240"/>
          </a:xfrm>
          <a:prstGeom prst="rect">
            <a:avLst/>
          </a:prstGeom>
          <a:solidFill>
            <a:srgbClr val="F8FAFC"/>
          </a:solidFill>
          <a:ln/>
        </p:spPr>
        <p:txBody>
          <a:bodyPr/>
          <a:lstStyle/>
          <a:p>
            <a:endParaRPr lang="en-AE"/>
          </a:p>
        </p:txBody>
      </p:sp>
      <p:sp>
        <p:nvSpPr>
          <p:cNvPr id="25" name="Text 23"/>
          <p:cNvSpPr/>
          <p:nvPr/>
        </p:nvSpPr>
        <p:spPr>
          <a:xfrm>
            <a:off x="7132320" y="3383280"/>
            <a:ext cx="4526280" cy="347472"/>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Modern Stack</a:t>
            </a:r>
            <a:endParaRPr lang="en-US" sz="1600" dirty="0"/>
          </a:p>
        </p:txBody>
      </p:sp>
      <p:sp>
        <p:nvSpPr>
          <p:cNvPr id="26" name="Text 24"/>
          <p:cNvSpPr/>
          <p:nvPr/>
        </p:nvSpPr>
        <p:spPr>
          <a:xfrm>
            <a:off x="7132320" y="3730752"/>
            <a:ext cx="4526280" cy="29260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ETL → ELT  ·  Lake  ·  Lakehouse  ·  Medallion</a:t>
            </a:r>
            <a:endParaRPr lang="en-US" sz="1050" dirty="0"/>
          </a:p>
        </p:txBody>
      </p:sp>
      <p:sp>
        <p:nvSpPr>
          <p:cNvPr id="27" name="Shape 25"/>
          <p:cNvSpPr/>
          <p:nvPr/>
        </p:nvSpPr>
        <p:spPr>
          <a:xfrm>
            <a:off x="457200" y="4297680"/>
            <a:ext cx="777240" cy="777240"/>
          </a:xfrm>
          <a:prstGeom prst="rect">
            <a:avLst/>
          </a:prstGeom>
          <a:solidFill>
            <a:srgbClr val="D97706"/>
          </a:solidFill>
          <a:ln/>
        </p:spPr>
        <p:txBody>
          <a:bodyPr/>
          <a:lstStyle/>
          <a:p>
            <a:endParaRPr lang="en-AE"/>
          </a:p>
        </p:txBody>
      </p:sp>
      <p:sp>
        <p:nvSpPr>
          <p:cNvPr id="28" name="Text 26"/>
          <p:cNvSpPr/>
          <p:nvPr/>
        </p:nvSpPr>
        <p:spPr>
          <a:xfrm>
            <a:off x="457200" y="4297680"/>
            <a:ext cx="777240" cy="777240"/>
          </a:xfrm>
          <a:prstGeom prst="rect">
            <a:avLst/>
          </a:prstGeom>
          <a:noFill/>
          <a:ln/>
        </p:spPr>
        <p:txBody>
          <a:bodyPr wrap="square" lIns="0" tIns="0" rIns="0" bIns="0" rtlCol="0" anchor="ctr"/>
          <a:lstStyle/>
          <a:p>
            <a:pPr marL="0" indent="0" algn="ctr">
              <a:buNone/>
            </a:pPr>
            <a:r>
              <a:rPr lang="en-US" sz="2800" b="1" dirty="0">
                <a:solidFill>
                  <a:srgbClr val="FFFFFF"/>
                </a:solidFill>
                <a:latin typeface="Arial Black" pitchFamily="34" charset="0"/>
                <a:ea typeface="Arial Black" pitchFamily="34" charset="-122"/>
                <a:cs typeface="Arial Black" pitchFamily="34" charset="-120"/>
              </a:rPr>
              <a:t>05</a:t>
            </a:r>
            <a:endParaRPr lang="en-US" sz="2800" dirty="0"/>
          </a:p>
        </p:txBody>
      </p:sp>
      <p:sp>
        <p:nvSpPr>
          <p:cNvPr id="29" name="Shape 27"/>
          <p:cNvSpPr/>
          <p:nvPr/>
        </p:nvSpPr>
        <p:spPr>
          <a:xfrm>
            <a:off x="1234440" y="4297680"/>
            <a:ext cx="4663440" cy="777240"/>
          </a:xfrm>
          <a:prstGeom prst="rect">
            <a:avLst/>
          </a:prstGeom>
          <a:solidFill>
            <a:srgbClr val="F8FAFC"/>
          </a:solidFill>
          <a:ln/>
        </p:spPr>
        <p:txBody>
          <a:bodyPr/>
          <a:lstStyle/>
          <a:p>
            <a:endParaRPr lang="en-AE"/>
          </a:p>
        </p:txBody>
      </p:sp>
      <p:sp>
        <p:nvSpPr>
          <p:cNvPr id="30" name="Text 28"/>
          <p:cNvSpPr/>
          <p:nvPr/>
        </p:nvSpPr>
        <p:spPr>
          <a:xfrm>
            <a:off x="1417320" y="4389120"/>
            <a:ext cx="4526280" cy="347472"/>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Data Mining → AI</a:t>
            </a:r>
            <a:endParaRPr lang="en-US" sz="1600" dirty="0"/>
          </a:p>
        </p:txBody>
      </p:sp>
      <p:sp>
        <p:nvSpPr>
          <p:cNvPr id="31" name="Text 29"/>
          <p:cNvSpPr/>
          <p:nvPr/>
        </p:nvSpPr>
        <p:spPr>
          <a:xfrm>
            <a:off x="1417320" y="4736592"/>
            <a:ext cx="4526280" cy="29260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KDD  ·  classification  ·  clustering  ·  road to GenAI</a:t>
            </a:r>
            <a:endParaRPr lang="en-US" sz="1050" dirty="0"/>
          </a:p>
        </p:txBody>
      </p:sp>
      <p:sp>
        <p:nvSpPr>
          <p:cNvPr id="32" name="Shape 30"/>
          <p:cNvSpPr/>
          <p:nvPr/>
        </p:nvSpPr>
        <p:spPr>
          <a:xfrm>
            <a:off x="6172200" y="4297680"/>
            <a:ext cx="777240" cy="777240"/>
          </a:xfrm>
          <a:prstGeom prst="rect">
            <a:avLst/>
          </a:prstGeom>
          <a:solidFill>
            <a:srgbClr val="DB2777"/>
          </a:solidFill>
          <a:ln/>
        </p:spPr>
        <p:txBody>
          <a:bodyPr/>
          <a:lstStyle/>
          <a:p>
            <a:endParaRPr lang="en-AE"/>
          </a:p>
        </p:txBody>
      </p:sp>
      <p:sp>
        <p:nvSpPr>
          <p:cNvPr id="33" name="Text 31"/>
          <p:cNvSpPr/>
          <p:nvPr/>
        </p:nvSpPr>
        <p:spPr>
          <a:xfrm>
            <a:off x="6172200" y="4297680"/>
            <a:ext cx="777240" cy="777240"/>
          </a:xfrm>
          <a:prstGeom prst="rect">
            <a:avLst/>
          </a:prstGeom>
          <a:noFill/>
          <a:ln/>
        </p:spPr>
        <p:txBody>
          <a:bodyPr wrap="square" lIns="0" tIns="0" rIns="0" bIns="0" rtlCol="0" anchor="ctr"/>
          <a:lstStyle/>
          <a:p>
            <a:pPr marL="0" indent="0" algn="ctr">
              <a:buNone/>
            </a:pPr>
            <a:r>
              <a:rPr lang="en-US" sz="2800" b="1" dirty="0">
                <a:solidFill>
                  <a:srgbClr val="FFFFFF"/>
                </a:solidFill>
                <a:latin typeface="Arial Black" pitchFamily="34" charset="0"/>
                <a:ea typeface="Arial Black" pitchFamily="34" charset="-122"/>
                <a:cs typeface="Arial Black" pitchFamily="34" charset="-120"/>
              </a:rPr>
              <a:t>06</a:t>
            </a:r>
            <a:endParaRPr lang="en-US" sz="2800" dirty="0"/>
          </a:p>
        </p:txBody>
      </p:sp>
      <p:sp>
        <p:nvSpPr>
          <p:cNvPr id="34" name="Shape 32"/>
          <p:cNvSpPr/>
          <p:nvPr/>
        </p:nvSpPr>
        <p:spPr>
          <a:xfrm>
            <a:off x="6949440" y="4297680"/>
            <a:ext cx="4663440" cy="777240"/>
          </a:xfrm>
          <a:prstGeom prst="rect">
            <a:avLst/>
          </a:prstGeom>
          <a:solidFill>
            <a:srgbClr val="F8FAFC"/>
          </a:solidFill>
          <a:ln/>
        </p:spPr>
        <p:txBody>
          <a:bodyPr/>
          <a:lstStyle/>
          <a:p>
            <a:endParaRPr lang="en-AE"/>
          </a:p>
        </p:txBody>
      </p:sp>
      <p:sp>
        <p:nvSpPr>
          <p:cNvPr id="35" name="Text 33"/>
          <p:cNvSpPr/>
          <p:nvPr/>
        </p:nvSpPr>
        <p:spPr>
          <a:xfrm>
            <a:off x="7132320" y="4389120"/>
            <a:ext cx="4526280" cy="347472"/>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Your Launchpad</a:t>
            </a:r>
            <a:endParaRPr lang="en-US" sz="1600" dirty="0"/>
          </a:p>
        </p:txBody>
      </p:sp>
      <p:sp>
        <p:nvSpPr>
          <p:cNvPr id="36" name="Text 34"/>
          <p:cNvSpPr/>
          <p:nvPr/>
        </p:nvSpPr>
        <p:spPr>
          <a:xfrm>
            <a:off x="7132320" y="4736592"/>
            <a:ext cx="4526280" cy="29260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Free courses  ·  student programs  ·  certs that matter</a:t>
            </a:r>
            <a:endParaRPr lang="en-US" sz="1050" dirty="0"/>
          </a:p>
        </p:txBody>
      </p:sp>
      <p:sp>
        <p:nvSpPr>
          <p:cNvPr id="37" name="Text 35"/>
          <p:cNvSpPr/>
          <p:nvPr/>
        </p:nvSpPr>
        <p:spPr>
          <a:xfrm>
            <a:off x="10332720" y="6510528"/>
            <a:ext cx="173736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03 / 32  ·  DATA &amp; AI</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437"/>
        </a:solidFill>
        <a:effectLst/>
      </p:bgPr>
    </p:bg>
    <p:spTree>
      <p:nvGrpSpPr>
        <p:cNvPr id="1" name=""/>
        <p:cNvGrpSpPr/>
        <p:nvPr/>
      </p:nvGrpSpPr>
      <p:grpSpPr>
        <a:xfrm>
          <a:off x="0" y="0"/>
          <a:ext cx="0" cy="0"/>
          <a:chOff x="0" y="0"/>
          <a:chExt cx="0" cy="0"/>
        </a:xfrm>
      </p:grpSpPr>
      <p:sp>
        <p:nvSpPr>
          <p:cNvPr id="2" name="Text 0"/>
          <p:cNvSpPr/>
          <p:nvPr/>
        </p:nvSpPr>
        <p:spPr>
          <a:xfrm>
            <a:off x="457200" y="1828800"/>
            <a:ext cx="4572000" cy="3200400"/>
          </a:xfrm>
          <a:prstGeom prst="rect">
            <a:avLst/>
          </a:prstGeom>
          <a:noFill/>
          <a:ln/>
        </p:spPr>
        <p:txBody>
          <a:bodyPr wrap="square" lIns="0" tIns="0" rIns="0" bIns="0" rtlCol="0" anchor="ctr"/>
          <a:lstStyle/>
          <a:p>
            <a:pPr marL="0" indent="0" algn="l">
              <a:buNone/>
            </a:pPr>
            <a:r>
              <a:rPr lang="en-US" sz="18000" b="1" dirty="0">
                <a:solidFill>
                  <a:srgbClr val="FF6B35"/>
                </a:solidFill>
                <a:latin typeface="Arial Black" pitchFamily="34" charset="0"/>
                <a:ea typeface="Arial Black" pitchFamily="34" charset="-122"/>
                <a:cs typeface="Arial Black" pitchFamily="34" charset="-120"/>
              </a:rPr>
              <a:t>01</a:t>
            </a:r>
            <a:endParaRPr lang="en-US" sz="18000" dirty="0"/>
          </a:p>
        </p:txBody>
      </p:sp>
      <p:sp>
        <p:nvSpPr>
          <p:cNvPr id="3" name="Text 1"/>
          <p:cNvSpPr/>
          <p:nvPr/>
        </p:nvSpPr>
        <p:spPr>
          <a:xfrm>
            <a:off x="5303520" y="2377440"/>
            <a:ext cx="6400800" cy="365760"/>
          </a:xfrm>
          <a:prstGeom prst="rect">
            <a:avLst/>
          </a:prstGeom>
          <a:noFill/>
          <a:ln/>
        </p:spPr>
        <p:txBody>
          <a:bodyPr wrap="square" lIns="0" tIns="0" rIns="0" bIns="0" rtlCol="0" anchor="ctr"/>
          <a:lstStyle/>
          <a:p>
            <a:pPr marL="0" indent="0">
              <a:buNone/>
            </a:pPr>
            <a:r>
              <a:rPr lang="en-US" sz="1300" b="1" kern="0" spc="400" dirty="0">
                <a:solidFill>
                  <a:srgbClr val="22D3EE"/>
                </a:solidFill>
                <a:latin typeface="Calibri" pitchFamily="34" charset="0"/>
                <a:ea typeface="Calibri" pitchFamily="34" charset="-122"/>
                <a:cs typeface="Calibri" pitchFamily="34" charset="-120"/>
              </a:rPr>
              <a:t>THE LANDSCAPE</a:t>
            </a:r>
            <a:endParaRPr lang="en-US" sz="1300" dirty="0"/>
          </a:p>
        </p:txBody>
      </p:sp>
      <p:sp>
        <p:nvSpPr>
          <p:cNvPr id="4" name="Shape 2"/>
          <p:cNvSpPr/>
          <p:nvPr/>
        </p:nvSpPr>
        <p:spPr>
          <a:xfrm>
            <a:off x="5303520" y="2834640"/>
            <a:ext cx="457200" cy="73152"/>
          </a:xfrm>
          <a:prstGeom prst="rect">
            <a:avLst/>
          </a:prstGeom>
          <a:solidFill>
            <a:srgbClr val="FF6B35"/>
          </a:solidFill>
          <a:ln/>
        </p:spPr>
        <p:txBody>
          <a:bodyPr/>
          <a:lstStyle/>
          <a:p>
            <a:endParaRPr lang="en-AE"/>
          </a:p>
        </p:txBody>
      </p:sp>
      <p:sp>
        <p:nvSpPr>
          <p:cNvPr id="5" name="Text 3"/>
          <p:cNvSpPr/>
          <p:nvPr/>
        </p:nvSpPr>
        <p:spPr>
          <a:xfrm>
            <a:off x="5303520" y="3017520"/>
            <a:ext cx="6400800" cy="1828800"/>
          </a:xfrm>
          <a:prstGeom prst="rect">
            <a:avLst/>
          </a:prstGeom>
          <a:noFill/>
          <a:ln/>
        </p:spPr>
        <p:txBody>
          <a:bodyPr wrap="square" lIns="0" tIns="0" rIns="0" bIns="0" rtlCol="0" anchor="ctr"/>
          <a:lstStyle/>
          <a:p>
            <a:pPr marL="0" indent="0">
              <a:buNone/>
            </a:pPr>
            <a:r>
              <a:rPr lang="en-US" sz="4000" b="1" dirty="0">
                <a:solidFill>
                  <a:srgbClr val="FFFFFF"/>
                </a:solidFill>
                <a:latin typeface="Arial Black" pitchFamily="34" charset="0"/>
                <a:ea typeface="Arial Black" pitchFamily="34" charset="-122"/>
                <a:cs typeface="Arial Black" pitchFamily="34" charset="-120"/>
              </a:rPr>
              <a:t>Why every company</a:t>
            </a:r>
            <a:endParaRPr lang="en-US" sz="4000" dirty="0"/>
          </a:p>
          <a:p>
            <a:pPr marL="0" indent="0">
              <a:buNone/>
            </a:pPr>
            <a:r>
              <a:rPr lang="en-US" sz="4000" b="1" dirty="0">
                <a:solidFill>
                  <a:srgbClr val="FFFFFF"/>
                </a:solidFill>
                <a:latin typeface="Arial Black" pitchFamily="34" charset="0"/>
                <a:ea typeface="Arial Black" pitchFamily="34" charset="-122"/>
                <a:cs typeface="Arial Black" pitchFamily="34" charset="-120"/>
              </a:rPr>
              <a:t>is now a data company.</a:t>
            </a:r>
            <a:endParaRPr lang="en-US" sz="4000" dirty="0"/>
          </a:p>
        </p:txBody>
      </p:sp>
      <p:sp>
        <p:nvSpPr>
          <p:cNvPr id="6" name="Text 4"/>
          <p:cNvSpPr/>
          <p:nvPr/>
        </p:nvSpPr>
        <p:spPr>
          <a:xfrm>
            <a:off x="5303520" y="5120640"/>
            <a:ext cx="6400800" cy="45720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In 2026, "non-tech company" is an extinct species.</a:t>
            </a:r>
            <a:endParaRPr lang="en-US" sz="1400" dirty="0"/>
          </a:p>
        </p:txBody>
      </p:sp>
      <p:sp>
        <p:nvSpPr>
          <p:cNvPr id="7" name="Text 5"/>
          <p:cNvSpPr/>
          <p:nvPr/>
        </p:nvSpPr>
        <p:spPr>
          <a:xfrm>
            <a:off x="10332720" y="6510528"/>
            <a:ext cx="173736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04 / 32  ·  DATA &amp; AI</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22D3EE"/>
          </a:solidFill>
          <a:ln/>
        </p:spPr>
        <p:txBody>
          <a:bodyPr/>
          <a:lstStyle/>
          <a:p>
            <a:endParaRPr lang="en-AE"/>
          </a:p>
        </p:txBody>
      </p:sp>
      <p:sp>
        <p:nvSpPr>
          <p:cNvPr id="3" name="Shape 1"/>
          <p:cNvSpPr/>
          <p:nvPr/>
        </p:nvSpPr>
        <p:spPr>
          <a:xfrm>
            <a:off x="621792" y="457200"/>
            <a:ext cx="54864" cy="128016"/>
          </a:xfrm>
          <a:prstGeom prst="rect">
            <a:avLst/>
          </a:prstGeom>
          <a:solidFill>
            <a:srgbClr val="0B1437"/>
          </a:solidFill>
          <a:ln/>
        </p:spPr>
        <p:txBody>
          <a:bodyPr/>
          <a:lstStyle/>
          <a:p>
            <a:endParaRPr lang="en-AE"/>
          </a:p>
        </p:txBody>
      </p:sp>
      <p:sp>
        <p:nvSpPr>
          <p:cNvPr id="4" name="Text 2"/>
          <p:cNvSpPr/>
          <p:nvPr/>
        </p:nvSpPr>
        <p:spPr>
          <a:xfrm>
            <a:off x="457200" y="685800"/>
            <a:ext cx="11247120" cy="274320"/>
          </a:xfrm>
          <a:prstGeom prst="rect">
            <a:avLst/>
          </a:prstGeom>
          <a:noFill/>
          <a:ln/>
        </p:spPr>
        <p:txBody>
          <a:bodyPr wrap="square" lIns="0" tIns="0" rIns="0" bIns="0" rtlCol="0" anchor="ctr"/>
          <a:lstStyle/>
          <a:p>
            <a:pPr marL="0" indent="0">
              <a:buNone/>
            </a:pPr>
            <a:r>
              <a:rPr lang="en-US" sz="1100" b="1" kern="0" spc="400" dirty="0">
                <a:solidFill>
                  <a:srgbClr val="0891B2"/>
                </a:solidFill>
                <a:latin typeface="Calibri" pitchFamily="34" charset="0"/>
                <a:ea typeface="Calibri" pitchFamily="34" charset="-122"/>
                <a:cs typeface="Calibri" pitchFamily="34" charset="-120"/>
              </a:rPr>
              <a:t>THE LANDSCAPE</a:t>
            </a:r>
            <a:endParaRPr lang="en-US" sz="1100" dirty="0"/>
          </a:p>
        </p:txBody>
      </p:sp>
      <p:sp>
        <p:nvSpPr>
          <p:cNvPr id="5" name="Text 3"/>
          <p:cNvSpPr/>
          <p:nvPr/>
        </p:nvSpPr>
        <p:spPr>
          <a:xfrm>
            <a:off x="457200" y="932688"/>
            <a:ext cx="1124712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There is no such thing as a "non-tech company" in 2026.</a:t>
            </a:r>
            <a:endParaRPr lang="en-US" sz="3000" dirty="0"/>
          </a:p>
        </p:txBody>
      </p:sp>
      <p:sp>
        <p:nvSpPr>
          <p:cNvPr id="6" name="Text 4"/>
          <p:cNvSpPr/>
          <p:nvPr/>
        </p:nvSpPr>
        <p:spPr>
          <a:xfrm>
            <a:off x="457200" y="1572768"/>
            <a:ext cx="11247120" cy="45720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Airline, bank, retailer, hospital all quietly running a data/AI org the size of a small country.</a:t>
            </a:r>
            <a:endParaRPr lang="en-US" sz="1300" dirty="0"/>
          </a:p>
        </p:txBody>
      </p:sp>
      <p:sp>
        <p:nvSpPr>
          <p:cNvPr id="7" name="Shape 5"/>
          <p:cNvSpPr/>
          <p:nvPr/>
        </p:nvSpPr>
        <p:spPr>
          <a:xfrm>
            <a:off x="457200" y="2377440"/>
            <a:ext cx="2743200" cy="2651760"/>
          </a:xfrm>
          <a:prstGeom prst="rect">
            <a:avLst/>
          </a:prstGeom>
          <a:solidFill>
            <a:srgbClr val="F8FAFC"/>
          </a:solidFill>
          <a:ln/>
          <a:effectLst>
            <a:outerShdw blurRad="101600" dist="25400" dir="8100000" algn="bl" rotWithShape="0">
              <a:srgbClr val="000000">
                <a:alpha val="8000"/>
              </a:srgbClr>
            </a:outerShdw>
          </a:effectLst>
        </p:spPr>
        <p:txBody>
          <a:bodyPr/>
          <a:lstStyle/>
          <a:p>
            <a:endParaRPr lang="en-AE"/>
          </a:p>
        </p:txBody>
      </p:sp>
      <p:sp>
        <p:nvSpPr>
          <p:cNvPr id="8" name="Shape 6"/>
          <p:cNvSpPr/>
          <p:nvPr/>
        </p:nvSpPr>
        <p:spPr>
          <a:xfrm>
            <a:off x="457200" y="2377440"/>
            <a:ext cx="2743200" cy="109728"/>
          </a:xfrm>
          <a:prstGeom prst="rect">
            <a:avLst/>
          </a:prstGeom>
          <a:solidFill>
            <a:srgbClr val="FF6B35"/>
          </a:solidFill>
          <a:ln/>
        </p:spPr>
        <p:txBody>
          <a:bodyPr/>
          <a:lstStyle/>
          <a:p>
            <a:endParaRPr lang="en-AE"/>
          </a:p>
        </p:txBody>
      </p:sp>
      <p:sp>
        <p:nvSpPr>
          <p:cNvPr id="9" name="Text 7"/>
          <p:cNvSpPr/>
          <p:nvPr/>
        </p:nvSpPr>
        <p:spPr>
          <a:xfrm>
            <a:off x="594360" y="2788920"/>
            <a:ext cx="2468880" cy="1325880"/>
          </a:xfrm>
          <a:prstGeom prst="rect">
            <a:avLst/>
          </a:prstGeom>
          <a:noFill/>
          <a:ln/>
        </p:spPr>
        <p:txBody>
          <a:bodyPr wrap="square" lIns="0" tIns="0" rIns="0" bIns="0" rtlCol="0" anchor="ctr"/>
          <a:lstStyle/>
          <a:p>
            <a:pPr marL="0" indent="0">
              <a:buNone/>
            </a:pPr>
            <a:r>
              <a:rPr lang="en-US" sz="5000" b="1" dirty="0">
                <a:solidFill>
                  <a:srgbClr val="FF6B35"/>
                </a:solidFill>
                <a:latin typeface="Arial Black" pitchFamily="34" charset="0"/>
                <a:ea typeface="Arial Black" pitchFamily="34" charset="-122"/>
                <a:cs typeface="Arial Black" pitchFamily="34" charset="-120"/>
              </a:rPr>
              <a:t>$1.8T</a:t>
            </a:r>
            <a:endParaRPr lang="en-US" sz="5000" dirty="0"/>
          </a:p>
        </p:txBody>
      </p:sp>
      <p:sp>
        <p:nvSpPr>
          <p:cNvPr id="10" name="Text 8"/>
          <p:cNvSpPr/>
          <p:nvPr/>
        </p:nvSpPr>
        <p:spPr>
          <a:xfrm>
            <a:off x="594360" y="4206240"/>
            <a:ext cx="2468880" cy="685800"/>
          </a:xfrm>
          <a:prstGeom prst="rect">
            <a:avLst/>
          </a:prstGeom>
          <a:noFill/>
          <a:ln/>
        </p:spPr>
        <p:txBody>
          <a:bodyPr wrap="square" lIns="0" tIns="0" rIns="0" bIns="0" rtlCol="0" anchor="ctr"/>
          <a:lstStyle/>
          <a:p>
            <a:pPr marL="0" indent="0">
              <a:buNone/>
            </a:pPr>
            <a:r>
              <a:rPr lang="en-US" sz="1300" dirty="0">
                <a:solidFill>
                  <a:srgbClr val="0F172A"/>
                </a:solidFill>
                <a:latin typeface="Calibri" pitchFamily="34" charset="0"/>
                <a:ea typeface="Calibri" pitchFamily="34" charset="-122"/>
                <a:cs typeface="Calibri" pitchFamily="34" charset="-120"/>
              </a:rPr>
              <a:t>global data &amp; analytics</a:t>
            </a:r>
            <a:endParaRPr lang="en-US" sz="1300" dirty="0"/>
          </a:p>
          <a:p>
            <a:pPr marL="0" indent="0">
              <a:buNone/>
            </a:pPr>
            <a:r>
              <a:rPr lang="en-US" sz="1300" dirty="0">
                <a:solidFill>
                  <a:srgbClr val="0F172A"/>
                </a:solidFill>
                <a:latin typeface="Calibri" pitchFamily="34" charset="0"/>
                <a:ea typeface="Calibri" pitchFamily="34" charset="-122"/>
                <a:cs typeface="Calibri" pitchFamily="34" charset="-120"/>
              </a:rPr>
              <a:t>spend by 2027</a:t>
            </a:r>
            <a:endParaRPr lang="en-US" sz="1300" dirty="0"/>
          </a:p>
        </p:txBody>
      </p:sp>
      <p:sp>
        <p:nvSpPr>
          <p:cNvPr id="11" name="Shape 9"/>
          <p:cNvSpPr/>
          <p:nvPr/>
        </p:nvSpPr>
        <p:spPr>
          <a:xfrm>
            <a:off x="3291840" y="2377440"/>
            <a:ext cx="2743200" cy="2651760"/>
          </a:xfrm>
          <a:prstGeom prst="rect">
            <a:avLst/>
          </a:prstGeom>
          <a:solidFill>
            <a:srgbClr val="F8FAFC"/>
          </a:solidFill>
          <a:ln/>
          <a:effectLst>
            <a:outerShdw blurRad="101600" dist="25400" dir="8100000" algn="bl" rotWithShape="0">
              <a:srgbClr val="000000">
                <a:alpha val="8000"/>
              </a:srgbClr>
            </a:outerShdw>
          </a:effectLst>
        </p:spPr>
        <p:txBody>
          <a:bodyPr/>
          <a:lstStyle/>
          <a:p>
            <a:endParaRPr lang="en-AE"/>
          </a:p>
        </p:txBody>
      </p:sp>
      <p:sp>
        <p:nvSpPr>
          <p:cNvPr id="12" name="Shape 10"/>
          <p:cNvSpPr/>
          <p:nvPr/>
        </p:nvSpPr>
        <p:spPr>
          <a:xfrm>
            <a:off x="3291840" y="2377440"/>
            <a:ext cx="2743200" cy="109728"/>
          </a:xfrm>
          <a:prstGeom prst="rect">
            <a:avLst/>
          </a:prstGeom>
          <a:solidFill>
            <a:srgbClr val="0891B2"/>
          </a:solidFill>
          <a:ln/>
        </p:spPr>
        <p:txBody>
          <a:bodyPr/>
          <a:lstStyle/>
          <a:p>
            <a:endParaRPr lang="en-AE"/>
          </a:p>
        </p:txBody>
      </p:sp>
      <p:sp>
        <p:nvSpPr>
          <p:cNvPr id="13" name="Text 11"/>
          <p:cNvSpPr/>
          <p:nvPr/>
        </p:nvSpPr>
        <p:spPr>
          <a:xfrm>
            <a:off x="3429000" y="2788920"/>
            <a:ext cx="2468880" cy="1325880"/>
          </a:xfrm>
          <a:prstGeom prst="rect">
            <a:avLst/>
          </a:prstGeom>
          <a:noFill/>
          <a:ln/>
        </p:spPr>
        <p:txBody>
          <a:bodyPr wrap="square" lIns="0" tIns="0" rIns="0" bIns="0" rtlCol="0" anchor="ctr"/>
          <a:lstStyle/>
          <a:p>
            <a:pPr marL="0" indent="0">
              <a:buNone/>
            </a:pPr>
            <a:r>
              <a:rPr lang="en-US" sz="5000" b="1" dirty="0">
                <a:solidFill>
                  <a:srgbClr val="0891B2"/>
                </a:solidFill>
                <a:latin typeface="Arial Black" pitchFamily="34" charset="0"/>
                <a:ea typeface="Arial Black" pitchFamily="34" charset="-122"/>
                <a:cs typeface="Arial Black" pitchFamily="34" charset="-120"/>
              </a:rPr>
              <a:t>402 ZB</a:t>
            </a:r>
            <a:endParaRPr lang="en-US" sz="5000" dirty="0"/>
          </a:p>
        </p:txBody>
      </p:sp>
      <p:sp>
        <p:nvSpPr>
          <p:cNvPr id="14" name="Text 12"/>
          <p:cNvSpPr/>
          <p:nvPr/>
        </p:nvSpPr>
        <p:spPr>
          <a:xfrm>
            <a:off x="3429000" y="4206240"/>
            <a:ext cx="2468880" cy="685800"/>
          </a:xfrm>
          <a:prstGeom prst="rect">
            <a:avLst/>
          </a:prstGeom>
          <a:noFill/>
          <a:ln/>
        </p:spPr>
        <p:txBody>
          <a:bodyPr wrap="square" lIns="0" tIns="0" rIns="0" bIns="0" rtlCol="0" anchor="ctr"/>
          <a:lstStyle/>
          <a:p>
            <a:pPr marL="0" indent="0">
              <a:buNone/>
            </a:pPr>
            <a:r>
              <a:rPr lang="en-US" sz="1300" dirty="0">
                <a:solidFill>
                  <a:srgbClr val="0F172A"/>
                </a:solidFill>
                <a:latin typeface="Calibri" pitchFamily="34" charset="0"/>
                <a:ea typeface="Calibri" pitchFamily="34" charset="-122"/>
                <a:cs typeface="Calibri" pitchFamily="34" charset="-120"/>
              </a:rPr>
              <a:t>of data will be</a:t>
            </a:r>
            <a:endParaRPr lang="en-US" sz="1300" dirty="0"/>
          </a:p>
          <a:p>
            <a:pPr marL="0" indent="0">
              <a:buNone/>
            </a:pPr>
            <a:r>
              <a:rPr lang="en-US" sz="1300" dirty="0">
                <a:solidFill>
                  <a:srgbClr val="0F172A"/>
                </a:solidFill>
                <a:latin typeface="Calibri" pitchFamily="34" charset="0"/>
                <a:ea typeface="Calibri" pitchFamily="34" charset="-122"/>
                <a:cs typeface="Calibri" pitchFamily="34" charset="-120"/>
              </a:rPr>
              <a:t>created in 2026</a:t>
            </a:r>
            <a:endParaRPr lang="en-US" sz="1300" dirty="0"/>
          </a:p>
        </p:txBody>
      </p:sp>
      <p:sp>
        <p:nvSpPr>
          <p:cNvPr id="15" name="Shape 13"/>
          <p:cNvSpPr/>
          <p:nvPr/>
        </p:nvSpPr>
        <p:spPr>
          <a:xfrm>
            <a:off x="6126480" y="2377440"/>
            <a:ext cx="2743200" cy="2651760"/>
          </a:xfrm>
          <a:prstGeom prst="rect">
            <a:avLst/>
          </a:prstGeom>
          <a:solidFill>
            <a:srgbClr val="F8FAFC"/>
          </a:solidFill>
          <a:ln/>
          <a:effectLst>
            <a:outerShdw blurRad="101600" dist="25400" dir="8100000" algn="bl" rotWithShape="0">
              <a:srgbClr val="000000">
                <a:alpha val="8000"/>
              </a:srgbClr>
            </a:outerShdw>
          </a:effectLst>
        </p:spPr>
        <p:txBody>
          <a:bodyPr/>
          <a:lstStyle/>
          <a:p>
            <a:endParaRPr lang="en-AE"/>
          </a:p>
        </p:txBody>
      </p:sp>
      <p:sp>
        <p:nvSpPr>
          <p:cNvPr id="16" name="Shape 14"/>
          <p:cNvSpPr/>
          <p:nvPr/>
        </p:nvSpPr>
        <p:spPr>
          <a:xfrm>
            <a:off x="6126480" y="2377440"/>
            <a:ext cx="2743200" cy="109728"/>
          </a:xfrm>
          <a:prstGeom prst="rect">
            <a:avLst/>
          </a:prstGeom>
          <a:solidFill>
            <a:srgbClr val="DB2777"/>
          </a:solidFill>
          <a:ln/>
        </p:spPr>
        <p:txBody>
          <a:bodyPr/>
          <a:lstStyle/>
          <a:p>
            <a:endParaRPr lang="en-AE"/>
          </a:p>
        </p:txBody>
      </p:sp>
      <p:sp>
        <p:nvSpPr>
          <p:cNvPr id="17" name="Text 15"/>
          <p:cNvSpPr/>
          <p:nvPr/>
        </p:nvSpPr>
        <p:spPr>
          <a:xfrm>
            <a:off x="6263640" y="2788920"/>
            <a:ext cx="2468880" cy="1325880"/>
          </a:xfrm>
          <a:prstGeom prst="rect">
            <a:avLst/>
          </a:prstGeom>
          <a:noFill/>
          <a:ln/>
        </p:spPr>
        <p:txBody>
          <a:bodyPr wrap="square" lIns="0" tIns="0" rIns="0" bIns="0" rtlCol="0" anchor="ctr"/>
          <a:lstStyle/>
          <a:p>
            <a:pPr marL="0" indent="0">
              <a:buNone/>
            </a:pPr>
            <a:r>
              <a:rPr lang="en-US" sz="5000" b="1" dirty="0">
                <a:solidFill>
                  <a:srgbClr val="DB2777"/>
                </a:solidFill>
                <a:latin typeface="Arial Black" pitchFamily="34" charset="0"/>
                <a:ea typeface="Arial Black" pitchFamily="34" charset="-122"/>
                <a:cs typeface="Arial Black" pitchFamily="34" charset="-120"/>
              </a:rPr>
              <a:t>2.5M+</a:t>
            </a:r>
            <a:endParaRPr lang="en-US" sz="5000" dirty="0"/>
          </a:p>
        </p:txBody>
      </p:sp>
      <p:sp>
        <p:nvSpPr>
          <p:cNvPr id="18" name="Text 16"/>
          <p:cNvSpPr/>
          <p:nvPr/>
        </p:nvSpPr>
        <p:spPr>
          <a:xfrm>
            <a:off x="6263640" y="4206240"/>
            <a:ext cx="2468880" cy="685800"/>
          </a:xfrm>
          <a:prstGeom prst="rect">
            <a:avLst/>
          </a:prstGeom>
          <a:noFill/>
          <a:ln/>
        </p:spPr>
        <p:txBody>
          <a:bodyPr wrap="square" lIns="0" tIns="0" rIns="0" bIns="0" rtlCol="0" anchor="ctr"/>
          <a:lstStyle/>
          <a:p>
            <a:pPr marL="0" indent="0">
              <a:buNone/>
            </a:pPr>
            <a:r>
              <a:rPr lang="en-US" sz="1300" dirty="0">
                <a:solidFill>
                  <a:srgbClr val="0F172A"/>
                </a:solidFill>
                <a:latin typeface="Calibri" pitchFamily="34" charset="0"/>
                <a:ea typeface="Calibri" pitchFamily="34" charset="-122"/>
                <a:cs typeface="Calibri" pitchFamily="34" charset="-120"/>
              </a:rPr>
              <a:t>open data/AI roles</a:t>
            </a:r>
            <a:endParaRPr lang="en-US" sz="1300" dirty="0"/>
          </a:p>
          <a:p>
            <a:pPr marL="0" indent="0">
              <a:buNone/>
            </a:pPr>
            <a:r>
              <a:rPr lang="en-US" sz="1300" dirty="0">
                <a:solidFill>
                  <a:srgbClr val="0F172A"/>
                </a:solidFill>
                <a:latin typeface="Calibri" pitchFamily="34" charset="0"/>
                <a:ea typeface="Calibri" pitchFamily="34" charset="-122"/>
                <a:cs typeface="Calibri" pitchFamily="34" charset="-120"/>
              </a:rPr>
              <a:t>worldwide</a:t>
            </a:r>
            <a:endParaRPr lang="en-US" sz="1300" dirty="0"/>
          </a:p>
        </p:txBody>
      </p:sp>
      <p:sp>
        <p:nvSpPr>
          <p:cNvPr id="19" name="Shape 17"/>
          <p:cNvSpPr/>
          <p:nvPr/>
        </p:nvSpPr>
        <p:spPr>
          <a:xfrm>
            <a:off x="8961120" y="2377440"/>
            <a:ext cx="2743200" cy="2651760"/>
          </a:xfrm>
          <a:prstGeom prst="rect">
            <a:avLst/>
          </a:prstGeom>
          <a:solidFill>
            <a:srgbClr val="F8FAFC"/>
          </a:solidFill>
          <a:ln/>
          <a:effectLst>
            <a:outerShdw blurRad="101600" dist="25400" dir="8100000" algn="bl" rotWithShape="0">
              <a:srgbClr val="000000">
                <a:alpha val="8000"/>
              </a:srgbClr>
            </a:outerShdw>
          </a:effectLst>
        </p:spPr>
        <p:txBody>
          <a:bodyPr/>
          <a:lstStyle/>
          <a:p>
            <a:endParaRPr lang="en-AE"/>
          </a:p>
        </p:txBody>
      </p:sp>
      <p:sp>
        <p:nvSpPr>
          <p:cNvPr id="20" name="Shape 18"/>
          <p:cNvSpPr/>
          <p:nvPr/>
        </p:nvSpPr>
        <p:spPr>
          <a:xfrm>
            <a:off x="8961120" y="2377440"/>
            <a:ext cx="2743200" cy="109728"/>
          </a:xfrm>
          <a:prstGeom prst="rect">
            <a:avLst/>
          </a:prstGeom>
          <a:solidFill>
            <a:srgbClr val="D97706"/>
          </a:solidFill>
          <a:ln/>
        </p:spPr>
        <p:txBody>
          <a:bodyPr/>
          <a:lstStyle/>
          <a:p>
            <a:endParaRPr lang="en-AE"/>
          </a:p>
        </p:txBody>
      </p:sp>
      <p:sp>
        <p:nvSpPr>
          <p:cNvPr id="21" name="Text 19"/>
          <p:cNvSpPr/>
          <p:nvPr/>
        </p:nvSpPr>
        <p:spPr>
          <a:xfrm>
            <a:off x="9098280" y="2788920"/>
            <a:ext cx="2468880" cy="1325880"/>
          </a:xfrm>
          <a:prstGeom prst="rect">
            <a:avLst/>
          </a:prstGeom>
          <a:noFill/>
          <a:ln/>
        </p:spPr>
        <p:txBody>
          <a:bodyPr wrap="square" lIns="0" tIns="0" rIns="0" bIns="0" rtlCol="0" anchor="ctr"/>
          <a:lstStyle/>
          <a:p>
            <a:pPr marL="0" indent="0">
              <a:buNone/>
            </a:pPr>
            <a:r>
              <a:rPr lang="en-US" sz="5000" b="1" dirty="0">
                <a:solidFill>
                  <a:srgbClr val="D97706"/>
                </a:solidFill>
                <a:latin typeface="Arial Black" pitchFamily="34" charset="0"/>
                <a:ea typeface="Arial Black" pitchFamily="34" charset="-122"/>
                <a:cs typeface="Arial Black" pitchFamily="34" charset="-120"/>
              </a:rPr>
              <a:t>90%</a:t>
            </a:r>
            <a:endParaRPr lang="en-US" sz="5000" dirty="0"/>
          </a:p>
        </p:txBody>
      </p:sp>
      <p:sp>
        <p:nvSpPr>
          <p:cNvPr id="22" name="Text 20"/>
          <p:cNvSpPr/>
          <p:nvPr/>
        </p:nvSpPr>
        <p:spPr>
          <a:xfrm>
            <a:off x="9098280" y="4206240"/>
            <a:ext cx="2468880" cy="685800"/>
          </a:xfrm>
          <a:prstGeom prst="rect">
            <a:avLst/>
          </a:prstGeom>
          <a:noFill/>
          <a:ln/>
        </p:spPr>
        <p:txBody>
          <a:bodyPr wrap="square" lIns="0" tIns="0" rIns="0" bIns="0" rtlCol="0" anchor="ctr"/>
          <a:lstStyle/>
          <a:p>
            <a:pPr marL="0" indent="0">
              <a:buNone/>
            </a:pPr>
            <a:r>
              <a:rPr lang="en-US" sz="1300" dirty="0">
                <a:solidFill>
                  <a:srgbClr val="0F172A"/>
                </a:solidFill>
                <a:latin typeface="Calibri" pitchFamily="34" charset="0"/>
                <a:ea typeface="Calibri" pitchFamily="34" charset="-122"/>
                <a:cs typeface="Calibri" pitchFamily="34" charset="-120"/>
              </a:rPr>
              <a:t>of the world's data</a:t>
            </a:r>
            <a:endParaRPr lang="en-US" sz="1300" dirty="0"/>
          </a:p>
          <a:p>
            <a:pPr marL="0" indent="0">
              <a:buNone/>
            </a:pPr>
            <a:r>
              <a:rPr lang="en-US" sz="1300" dirty="0">
                <a:solidFill>
                  <a:srgbClr val="0F172A"/>
                </a:solidFill>
                <a:latin typeface="Calibri" pitchFamily="34" charset="0"/>
                <a:ea typeface="Calibri" pitchFamily="34" charset="-122"/>
                <a:cs typeface="Calibri" pitchFamily="34" charset="-120"/>
              </a:rPr>
              <a:t>is from post-2022</a:t>
            </a:r>
            <a:endParaRPr lang="en-US" sz="1300" dirty="0"/>
          </a:p>
        </p:txBody>
      </p:sp>
      <p:sp>
        <p:nvSpPr>
          <p:cNvPr id="23" name="Shape 21"/>
          <p:cNvSpPr/>
          <p:nvPr/>
        </p:nvSpPr>
        <p:spPr>
          <a:xfrm>
            <a:off x="457200" y="5577840"/>
            <a:ext cx="11247120" cy="822960"/>
          </a:xfrm>
          <a:prstGeom prst="rect">
            <a:avLst/>
          </a:prstGeom>
          <a:solidFill>
            <a:srgbClr val="0B1437"/>
          </a:solidFill>
          <a:ln/>
        </p:spPr>
        <p:txBody>
          <a:bodyPr/>
          <a:lstStyle/>
          <a:p>
            <a:endParaRPr lang="en-AE"/>
          </a:p>
        </p:txBody>
      </p:sp>
      <p:sp>
        <p:nvSpPr>
          <p:cNvPr id="24" name="Text 22"/>
          <p:cNvSpPr/>
          <p:nvPr/>
        </p:nvSpPr>
        <p:spPr>
          <a:xfrm>
            <a:off x="731520" y="5669280"/>
            <a:ext cx="10881360" cy="658368"/>
          </a:xfrm>
          <a:prstGeom prst="rect">
            <a:avLst/>
          </a:prstGeom>
          <a:noFill/>
          <a:ln/>
        </p:spPr>
        <p:txBody>
          <a:bodyPr wrap="square" lIns="0" tIns="0" rIns="0" bIns="0" rtlCol="0" anchor="ctr"/>
          <a:lstStyle/>
          <a:p>
            <a:pPr marL="0" indent="0">
              <a:buNone/>
            </a:pPr>
            <a:r>
              <a:rPr lang="en-US" sz="1500" b="1" i="1" dirty="0">
                <a:solidFill>
                  <a:srgbClr val="FF6B35"/>
                </a:solidFill>
                <a:latin typeface="Calibri" pitchFamily="34" charset="0"/>
                <a:ea typeface="Calibri" pitchFamily="34" charset="-122"/>
                <a:cs typeface="Calibri" pitchFamily="34" charset="-120"/>
              </a:rPr>
              <a:t>Translation: </a:t>
            </a:r>
            <a:r>
              <a:rPr lang="en-US" sz="1500" i="1" dirty="0">
                <a:solidFill>
                  <a:srgbClr val="FFFFFF"/>
                </a:solidFill>
                <a:latin typeface="Calibri" pitchFamily="34" charset="0"/>
                <a:ea typeface="Calibri" pitchFamily="34" charset="-122"/>
                <a:cs typeface="Calibri" pitchFamily="34" charset="-120"/>
              </a:rPr>
              <a:t>the market isn't short on demand. It's short on people who know what they're doing.</a:t>
            </a:r>
            <a:endParaRPr lang="en-US" sz="1500" dirty="0"/>
          </a:p>
        </p:txBody>
      </p:sp>
      <p:sp>
        <p:nvSpPr>
          <p:cNvPr id="25" name="Text 23"/>
          <p:cNvSpPr/>
          <p:nvPr/>
        </p:nvSpPr>
        <p:spPr>
          <a:xfrm>
            <a:off x="10332720" y="6510528"/>
            <a:ext cx="173736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05 / 32  ·  DATA &amp; AI</a:t>
            </a:r>
            <a:endParaRPr lang="en-US" sz="900" dirty="0"/>
          </a:p>
        </p:txBody>
      </p:sp>
      <p:sp>
        <p:nvSpPr>
          <p:cNvPr id="26" name="Text 24"/>
          <p:cNvSpPr/>
          <p:nvPr/>
        </p:nvSpPr>
        <p:spPr>
          <a:xfrm>
            <a:off x="457200" y="6510528"/>
            <a:ext cx="5486400" cy="256032"/>
          </a:xfrm>
          <a:prstGeom prst="rect">
            <a:avLst/>
          </a:prstGeom>
          <a:noFill/>
          <a:ln/>
        </p:spPr>
        <p:txBody>
          <a:bodyPr wrap="square" lIns="0" tIns="0" rIns="0" bIns="0" rtlCol="0" anchor="ctr"/>
          <a:lstStyle/>
          <a:p>
            <a:pPr marL="0" indent="0">
              <a:buNone/>
            </a:pPr>
            <a:r>
              <a:rPr lang="en-US" sz="900" b="1" kern="0" spc="200" dirty="0">
                <a:solidFill>
                  <a:srgbClr val="94A3B8"/>
                </a:solidFill>
                <a:latin typeface="Calibri" pitchFamily="34" charset="0"/>
                <a:ea typeface="Calibri" pitchFamily="34" charset="-122"/>
                <a:cs typeface="Calibri" pitchFamily="34" charset="-120"/>
              </a:rPr>
              <a:t>THE LANDSCAPE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22D3EE"/>
          </a:solidFill>
          <a:ln/>
        </p:spPr>
        <p:txBody>
          <a:bodyPr/>
          <a:lstStyle/>
          <a:p>
            <a:endParaRPr lang="en-AE"/>
          </a:p>
        </p:txBody>
      </p:sp>
      <p:sp>
        <p:nvSpPr>
          <p:cNvPr id="3" name="Shape 1"/>
          <p:cNvSpPr/>
          <p:nvPr/>
        </p:nvSpPr>
        <p:spPr>
          <a:xfrm>
            <a:off x="621792" y="457200"/>
            <a:ext cx="54864" cy="128016"/>
          </a:xfrm>
          <a:prstGeom prst="rect">
            <a:avLst/>
          </a:prstGeom>
          <a:solidFill>
            <a:srgbClr val="0B1437"/>
          </a:solidFill>
          <a:ln/>
        </p:spPr>
        <p:txBody>
          <a:bodyPr/>
          <a:lstStyle/>
          <a:p>
            <a:endParaRPr lang="en-AE"/>
          </a:p>
        </p:txBody>
      </p:sp>
      <p:sp>
        <p:nvSpPr>
          <p:cNvPr id="4" name="Text 2"/>
          <p:cNvSpPr/>
          <p:nvPr/>
        </p:nvSpPr>
        <p:spPr>
          <a:xfrm>
            <a:off x="457200" y="685800"/>
            <a:ext cx="11247120" cy="274320"/>
          </a:xfrm>
          <a:prstGeom prst="rect">
            <a:avLst/>
          </a:prstGeom>
          <a:noFill/>
          <a:ln/>
        </p:spPr>
        <p:txBody>
          <a:bodyPr wrap="square" lIns="0" tIns="0" rIns="0" bIns="0" rtlCol="0" anchor="ctr"/>
          <a:lstStyle/>
          <a:p>
            <a:pPr marL="0" indent="0">
              <a:buNone/>
            </a:pPr>
            <a:r>
              <a:rPr lang="en-US" sz="1100" b="1" kern="0" spc="400" dirty="0">
                <a:solidFill>
                  <a:srgbClr val="0891B2"/>
                </a:solidFill>
                <a:latin typeface="Calibri" pitchFamily="34" charset="0"/>
                <a:ea typeface="Calibri" pitchFamily="34" charset="-122"/>
                <a:cs typeface="Calibri" pitchFamily="34" charset="-120"/>
              </a:rPr>
              <a:t>WHERE CS GRADS LAND</a:t>
            </a:r>
            <a:endParaRPr lang="en-US" sz="1100" dirty="0"/>
          </a:p>
        </p:txBody>
      </p:sp>
      <p:sp>
        <p:nvSpPr>
          <p:cNvPr id="5" name="Text 3"/>
          <p:cNvSpPr/>
          <p:nvPr/>
        </p:nvSpPr>
        <p:spPr>
          <a:xfrm>
            <a:off x="457200" y="932688"/>
            <a:ext cx="1124712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Six roles, one data ecosystem.</a:t>
            </a:r>
            <a:endParaRPr lang="en-US" sz="3000" dirty="0"/>
          </a:p>
        </p:txBody>
      </p:sp>
      <p:sp>
        <p:nvSpPr>
          <p:cNvPr id="6" name="Text 4"/>
          <p:cNvSpPr/>
          <p:nvPr/>
        </p:nvSpPr>
        <p:spPr>
          <a:xfrm>
            <a:off x="457200" y="1572768"/>
            <a:ext cx="11247120" cy="45720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You'll touch at least three of these in your first 3 years.</a:t>
            </a:r>
            <a:endParaRPr lang="en-US" sz="1300" dirty="0"/>
          </a:p>
        </p:txBody>
      </p:sp>
      <p:sp>
        <p:nvSpPr>
          <p:cNvPr id="7" name="Shape 5"/>
          <p:cNvSpPr/>
          <p:nvPr/>
        </p:nvSpPr>
        <p:spPr>
          <a:xfrm>
            <a:off x="457200" y="2103120"/>
            <a:ext cx="3657600" cy="1755648"/>
          </a:xfrm>
          <a:prstGeom prst="rect">
            <a:avLst/>
          </a:prstGeom>
          <a:solidFill>
            <a:srgbClr val="F8FAFC"/>
          </a:solidFill>
          <a:ln/>
          <a:effectLst>
            <a:outerShdw blurRad="76200" dist="25400" dir="8100000" algn="bl" rotWithShape="0">
              <a:srgbClr val="000000">
                <a:alpha val="8000"/>
              </a:srgbClr>
            </a:outerShdw>
          </a:effectLst>
        </p:spPr>
        <p:txBody>
          <a:bodyPr/>
          <a:lstStyle/>
          <a:p>
            <a:endParaRPr lang="en-AE"/>
          </a:p>
        </p:txBody>
      </p:sp>
      <p:sp>
        <p:nvSpPr>
          <p:cNvPr id="8" name="Shape 6"/>
          <p:cNvSpPr/>
          <p:nvPr/>
        </p:nvSpPr>
        <p:spPr>
          <a:xfrm>
            <a:off x="457200" y="2103120"/>
            <a:ext cx="91440" cy="1755648"/>
          </a:xfrm>
          <a:prstGeom prst="rect">
            <a:avLst/>
          </a:prstGeom>
          <a:solidFill>
            <a:srgbClr val="0891B2"/>
          </a:solidFill>
          <a:ln/>
        </p:spPr>
        <p:txBody>
          <a:bodyPr/>
          <a:lstStyle/>
          <a:p>
            <a:endParaRPr lang="en-AE"/>
          </a:p>
        </p:txBody>
      </p:sp>
      <p:sp>
        <p:nvSpPr>
          <p:cNvPr id="9" name="Text 7"/>
          <p:cNvSpPr/>
          <p:nvPr/>
        </p:nvSpPr>
        <p:spPr>
          <a:xfrm>
            <a:off x="685800" y="2212848"/>
            <a:ext cx="3291840" cy="36576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Data Engineer</a:t>
            </a:r>
            <a:endParaRPr lang="en-US" sz="1700" dirty="0"/>
          </a:p>
        </p:txBody>
      </p:sp>
      <p:sp>
        <p:nvSpPr>
          <p:cNvPr id="10" name="Text 8"/>
          <p:cNvSpPr/>
          <p:nvPr/>
        </p:nvSpPr>
        <p:spPr>
          <a:xfrm>
            <a:off x="685800" y="2560320"/>
            <a:ext cx="3291840" cy="274320"/>
          </a:xfrm>
          <a:prstGeom prst="rect">
            <a:avLst/>
          </a:prstGeom>
          <a:noFill/>
          <a:ln/>
        </p:spPr>
        <p:txBody>
          <a:bodyPr wrap="square" lIns="0" tIns="0" rIns="0" bIns="0" rtlCol="0" anchor="ctr"/>
          <a:lstStyle/>
          <a:p>
            <a:pPr marL="0" indent="0">
              <a:buNone/>
            </a:pPr>
            <a:r>
              <a:rPr lang="en-US" sz="1000" i="1" dirty="0">
                <a:solidFill>
                  <a:srgbClr val="0891B2"/>
                </a:solidFill>
                <a:latin typeface="Calibri" pitchFamily="34" charset="0"/>
                <a:ea typeface="Calibri" pitchFamily="34" charset="-122"/>
                <a:cs typeface="Calibri" pitchFamily="34" charset="-120"/>
              </a:rPr>
              <a:t>"the plumber"</a:t>
            </a:r>
            <a:endParaRPr lang="en-US" sz="1000" dirty="0"/>
          </a:p>
        </p:txBody>
      </p:sp>
      <p:sp>
        <p:nvSpPr>
          <p:cNvPr id="11" name="Text 9"/>
          <p:cNvSpPr/>
          <p:nvPr/>
        </p:nvSpPr>
        <p:spPr>
          <a:xfrm>
            <a:off x="685800" y="2880360"/>
            <a:ext cx="3291840" cy="54864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Builds the pipes. Moves data. Fixes it at 2am.</a:t>
            </a:r>
            <a:endParaRPr lang="en-US" sz="1100" dirty="0"/>
          </a:p>
        </p:txBody>
      </p:sp>
      <p:sp>
        <p:nvSpPr>
          <p:cNvPr id="12" name="Text 10"/>
          <p:cNvSpPr/>
          <p:nvPr/>
        </p:nvSpPr>
        <p:spPr>
          <a:xfrm>
            <a:off x="685800" y="3474720"/>
            <a:ext cx="3291840" cy="274320"/>
          </a:xfrm>
          <a:prstGeom prst="rect">
            <a:avLst/>
          </a:prstGeom>
          <a:noFill/>
          <a:ln/>
        </p:spPr>
        <p:txBody>
          <a:bodyPr wrap="square" lIns="0" tIns="0" rIns="0" bIns="0" rtlCol="0" anchor="ctr"/>
          <a:lstStyle/>
          <a:p>
            <a:pPr marL="0" indent="0">
              <a:buNone/>
            </a:pPr>
            <a:r>
              <a:rPr lang="en-US" sz="1100" b="1" dirty="0">
                <a:solidFill>
                  <a:srgbClr val="0891B2"/>
                </a:solidFill>
                <a:latin typeface="Calibri" pitchFamily="34" charset="0"/>
                <a:ea typeface="Calibri" pitchFamily="34" charset="-122"/>
                <a:cs typeface="Calibri" pitchFamily="34" charset="-120"/>
              </a:rPr>
              <a:t>₹8–25 L · $25–75K</a:t>
            </a:r>
            <a:endParaRPr lang="en-US" sz="1100" dirty="0"/>
          </a:p>
        </p:txBody>
      </p:sp>
      <p:sp>
        <p:nvSpPr>
          <p:cNvPr id="13" name="Shape 11"/>
          <p:cNvSpPr/>
          <p:nvPr/>
        </p:nvSpPr>
        <p:spPr>
          <a:xfrm>
            <a:off x="4206240" y="2103120"/>
            <a:ext cx="3657600" cy="1755648"/>
          </a:xfrm>
          <a:prstGeom prst="rect">
            <a:avLst/>
          </a:prstGeom>
          <a:solidFill>
            <a:srgbClr val="F8FAFC"/>
          </a:solidFill>
          <a:ln/>
          <a:effectLst>
            <a:outerShdw blurRad="76200" dist="25400" dir="8100000" algn="bl" rotWithShape="0">
              <a:srgbClr val="000000">
                <a:alpha val="8000"/>
              </a:srgbClr>
            </a:outerShdw>
          </a:effectLst>
        </p:spPr>
        <p:txBody>
          <a:bodyPr/>
          <a:lstStyle/>
          <a:p>
            <a:endParaRPr lang="en-AE"/>
          </a:p>
        </p:txBody>
      </p:sp>
      <p:sp>
        <p:nvSpPr>
          <p:cNvPr id="14" name="Shape 12"/>
          <p:cNvSpPr/>
          <p:nvPr/>
        </p:nvSpPr>
        <p:spPr>
          <a:xfrm>
            <a:off x="4206240" y="2103120"/>
            <a:ext cx="91440" cy="1755648"/>
          </a:xfrm>
          <a:prstGeom prst="rect">
            <a:avLst/>
          </a:prstGeom>
          <a:solidFill>
            <a:srgbClr val="14B8A6"/>
          </a:solidFill>
          <a:ln/>
        </p:spPr>
        <p:txBody>
          <a:bodyPr/>
          <a:lstStyle/>
          <a:p>
            <a:endParaRPr lang="en-AE"/>
          </a:p>
        </p:txBody>
      </p:sp>
      <p:sp>
        <p:nvSpPr>
          <p:cNvPr id="15" name="Text 13"/>
          <p:cNvSpPr/>
          <p:nvPr/>
        </p:nvSpPr>
        <p:spPr>
          <a:xfrm>
            <a:off x="4434840" y="2212848"/>
            <a:ext cx="3291840" cy="36576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Analytics Engineer</a:t>
            </a:r>
            <a:endParaRPr lang="en-US" sz="1700" dirty="0"/>
          </a:p>
        </p:txBody>
      </p:sp>
      <p:sp>
        <p:nvSpPr>
          <p:cNvPr id="16" name="Text 14"/>
          <p:cNvSpPr/>
          <p:nvPr/>
        </p:nvSpPr>
        <p:spPr>
          <a:xfrm>
            <a:off x="4434840" y="2560320"/>
            <a:ext cx="3291840" cy="274320"/>
          </a:xfrm>
          <a:prstGeom prst="rect">
            <a:avLst/>
          </a:prstGeom>
          <a:noFill/>
          <a:ln/>
        </p:spPr>
        <p:txBody>
          <a:bodyPr wrap="square" lIns="0" tIns="0" rIns="0" bIns="0" rtlCol="0" anchor="ctr"/>
          <a:lstStyle/>
          <a:p>
            <a:pPr marL="0" indent="0">
              <a:buNone/>
            </a:pPr>
            <a:r>
              <a:rPr lang="en-US" sz="1000" i="1" dirty="0">
                <a:solidFill>
                  <a:srgbClr val="14B8A6"/>
                </a:solidFill>
                <a:latin typeface="Calibri" pitchFamily="34" charset="0"/>
                <a:ea typeface="Calibri" pitchFamily="34" charset="-122"/>
                <a:cs typeface="Calibri" pitchFamily="34" charset="-120"/>
              </a:rPr>
              <a:t>"the translator"</a:t>
            </a:r>
            <a:endParaRPr lang="en-US" sz="1000" dirty="0"/>
          </a:p>
        </p:txBody>
      </p:sp>
      <p:sp>
        <p:nvSpPr>
          <p:cNvPr id="17" name="Text 15"/>
          <p:cNvSpPr/>
          <p:nvPr/>
        </p:nvSpPr>
        <p:spPr>
          <a:xfrm>
            <a:off x="4434840" y="2880360"/>
            <a:ext cx="3291840" cy="54864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Turns raw data into trusted business metrics.</a:t>
            </a:r>
            <a:endParaRPr lang="en-US" sz="1100" dirty="0"/>
          </a:p>
        </p:txBody>
      </p:sp>
      <p:sp>
        <p:nvSpPr>
          <p:cNvPr id="18" name="Text 16"/>
          <p:cNvSpPr/>
          <p:nvPr/>
        </p:nvSpPr>
        <p:spPr>
          <a:xfrm>
            <a:off x="4434840" y="3474720"/>
            <a:ext cx="3291840" cy="274320"/>
          </a:xfrm>
          <a:prstGeom prst="rect">
            <a:avLst/>
          </a:prstGeom>
          <a:noFill/>
          <a:ln/>
        </p:spPr>
        <p:txBody>
          <a:bodyPr wrap="square" lIns="0" tIns="0" rIns="0" bIns="0" rtlCol="0" anchor="ctr"/>
          <a:lstStyle/>
          <a:p>
            <a:pPr marL="0" indent="0">
              <a:buNone/>
            </a:pPr>
            <a:r>
              <a:rPr lang="en-US" sz="1100" b="1" dirty="0">
                <a:solidFill>
                  <a:srgbClr val="14B8A6"/>
                </a:solidFill>
                <a:latin typeface="Calibri" pitchFamily="34" charset="0"/>
                <a:ea typeface="Calibri" pitchFamily="34" charset="-122"/>
                <a:cs typeface="Calibri" pitchFamily="34" charset="-120"/>
              </a:rPr>
              <a:t>₹10–28 L · $30–90K</a:t>
            </a:r>
            <a:endParaRPr lang="en-US" sz="1100" dirty="0"/>
          </a:p>
        </p:txBody>
      </p:sp>
      <p:sp>
        <p:nvSpPr>
          <p:cNvPr id="19" name="Shape 17"/>
          <p:cNvSpPr/>
          <p:nvPr/>
        </p:nvSpPr>
        <p:spPr>
          <a:xfrm>
            <a:off x="7955280" y="2103120"/>
            <a:ext cx="3657600" cy="1755648"/>
          </a:xfrm>
          <a:prstGeom prst="rect">
            <a:avLst/>
          </a:prstGeom>
          <a:solidFill>
            <a:srgbClr val="F8FAFC"/>
          </a:solidFill>
          <a:ln/>
          <a:effectLst>
            <a:outerShdw blurRad="76200" dist="25400" dir="8100000" algn="bl" rotWithShape="0">
              <a:srgbClr val="000000">
                <a:alpha val="8000"/>
              </a:srgbClr>
            </a:outerShdw>
          </a:effectLst>
        </p:spPr>
        <p:txBody>
          <a:bodyPr/>
          <a:lstStyle/>
          <a:p>
            <a:endParaRPr lang="en-AE"/>
          </a:p>
        </p:txBody>
      </p:sp>
      <p:sp>
        <p:nvSpPr>
          <p:cNvPr id="20" name="Shape 18"/>
          <p:cNvSpPr/>
          <p:nvPr/>
        </p:nvSpPr>
        <p:spPr>
          <a:xfrm>
            <a:off x="7955280" y="2103120"/>
            <a:ext cx="91440" cy="1755648"/>
          </a:xfrm>
          <a:prstGeom prst="rect">
            <a:avLst/>
          </a:prstGeom>
          <a:solidFill>
            <a:srgbClr val="F59E0B"/>
          </a:solidFill>
          <a:ln/>
        </p:spPr>
        <p:txBody>
          <a:bodyPr/>
          <a:lstStyle/>
          <a:p>
            <a:endParaRPr lang="en-AE"/>
          </a:p>
        </p:txBody>
      </p:sp>
      <p:sp>
        <p:nvSpPr>
          <p:cNvPr id="21" name="Text 19"/>
          <p:cNvSpPr/>
          <p:nvPr/>
        </p:nvSpPr>
        <p:spPr>
          <a:xfrm>
            <a:off x="8183880" y="2212848"/>
            <a:ext cx="3291840" cy="36576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Data Analyst / BI</a:t>
            </a:r>
            <a:endParaRPr lang="en-US" sz="1700" dirty="0"/>
          </a:p>
        </p:txBody>
      </p:sp>
      <p:sp>
        <p:nvSpPr>
          <p:cNvPr id="22" name="Text 20"/>
          <p:cNvSpPr/>
          <p:nvPr/>
        </p:nvSpPr>
        <p:spPr>
          <a:xfrm>
            <a:off x="8183880" y="2560320"/>
            <a:ext cx="3291840" cy="274320"/>
          </a:xfrm>
          <a:prstGeom prst="rect">
            <a:avLst/>
          </a:prstGeom>
          <a:noFill/>
          <a:ln/>
        </p:spPr>
        <p:txBody>
          <a:bodyPr wrap="square" lIns="0" tIns="0" rIns="0" bIns="0" rtlCol="0" anchor="ctr"/>
          <a:lstStyle/>
          <a:p>
            <a:pPr marL="0" indent="0">
              <a:buNone/>
            </a:pPr>
            <a:r>
              <a:rPr lang="en-US" sz="1000" i="1" dirty="0">
                <a:solidFill>
                  <a:srgbClr val="F59E0B"/>
                </a:solidFill>
                <a:latin typeface="Calibri" pitchFamily="34" charset="0"/>
                <a:ea typeface="Calibri" pitchFamily="34" charset="-122"/>
                <a:cs typeface="Calibri" pitchFamily="34" charset="-120"/>
              </a:rPr>
              <a:t>"the storyteller"</a:t>
            </a:r>
            <a:endParaRPr lang="en-US" sz="1000" dirty="0"/>
          </a:p>
        </p:txBody>
      </p:sp>
      <p:sp>
        <p:nvSpPr>
          <p:cNvPr id="23" name="Text 21"/>
          <p:cNvSpPr/>
          <p:nvPr/>
        </p:nvSpPr>
        <p:spPr>
          <a:xfrm>
            <a:off x="8183880" y="2880360"/>
            <a:ext cx="3291840" cy="54864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Talks to the business. Builds dashboards. Asks 'why'.</a:t>
            </a:r>
            <a:endParaRPr lang="en-US" sz="1100" dirty="0"/>
          </a:p>
        </p:txBody>
      </p:sp>
      <p:sp>
        <p:nvSpPr>
          <p:cNvPr id="24" name="Text 22"/>
          <p:cNvSpPr/>
          <p:nvPr/>
        </p:nvSpPr>
        <p:spPr>
          <a:xfrm>
            <a:off x="8183880" y="3474720"/>
            <a:ext cx="3291840" cy="274320"/>
          </a:xfrm>
          <a:prstGeom prst="rect">
            <a:avLst/>
          </a:prstGeom>
          <a:noFill/>
          <a:ln/>
        </p:spPr>
        <p:txBody>
          <a:bodyPr wrap="square" lIns="0" tIns="0" rIns="0" bIns="0"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₹6–18 L · $20–60K</a:t>
            </a:r>
            <a:endParaRPr lang="en-US" sz="1100" dirty="0"/>
          </a:p>
        </p:txBody>
      </p:sp>
      <p:sp>
        <p:nvSpPr>
          <p:cNvPr id="25" name="Shape 23"/>
          <p:cNvSpPr/>
          <p:nvPr/>
        </p:nvSpPr>
        <p:spPr>
          <a:xfrm>
            <a:off x="457200" y="4023360"/>
            <a:ext cx="3657600" cy="1755648"/>
          </a:xfrm>
          <a:prstGeom prst="rect">
            <a:avLst/>
          </a:prstGeom>
          <a:solidFill>
            <a:srgbClr val="F8FAFC"/>
          </a:solidFill>
          <a:ln/>
          <a:effectLst>
            <a:outerShdw blurRad="76200" dist="25400" dir="8100000" algn="bl" rotWithShape="0">
              <a:srgbClr val="000000">
                <a:alpha val="8000"/>
              </a:srgbClr>
            </a:outerShdw>
          </a:effectLst>
        </p:spPr>
        <p:txBody>
          <a:bodyPr/>
          <a:lstStyle/>
          <a:p>
            <a:endParaRPr lang="en-AE"/>
          </a:p>
        </p:txBody>
      </p:sp>
      <p:sp>
        <p:nvSpPr>
          <p:cNvPr id="26" name="Shape 24"/>
          <p:cNvSpPr/>
          <p:nvPr/>
        </p:nvSpPr>
        <p:spPr>
          <a:xfrm>
            <a:off x="457200" y="4023360"/>
            <a:ext cx="91440" cy="1755648"/>
          </a:xfrm>
          <a:prstGeom prst="rect">
            <a:avLst/>
          </a:prstGeom>
          <a:solidFill>
            <a:srgbClr val="FF6B35"/>
          </a:solidFill>
          <a:ln/>
        </p:spPr>
        <p:txBody>
          <a:bodyPr/>
          <a:lstStyle/>
          <a:p>
            <a:endParaRPr lang="en-AE"/>
          </a:p>
        </p:txBody>
      </p:sp>
      <p:sp>
        <p:nvSpPr>
          <p:cNvPr id="27" name="Text 25"/>
          <p:cNvSpPr/>
          <p:nvPr/>
        </p:nvSpPr>
        <p:spPr>
          <a:xfrm>
            <a:off x="685800" y="4133088"/>
            <a:ext cx="3291840" cy="36576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Data Scientist</a:t>
            </a:r>
            <a:endParaRPr lang="en-US" sz="1700" dirty="0"/>
          </a:p>
        </p:txBody>
      </p:sp>
      <p:sp>
        <p:nvSpPr>
          <p:cNvPr id="28" name="Text 26"/>
          <p:cNvSpPr/>
          <p:nvPr/>
        </p:nvSpPr>
        <p:spPr>
          <a:xfrm>
            <a:off x="685800" y="4480560"/>
            <a:ext cx="3291840" cy="274320"/>
          </a:xfrm>
          <a:prstGeom prst="rect">
            <a:avLst/>
          </a:prstGeom>
          <a:noFill/>
          <a:ln/>
        </p:spPr>
        <p:txBody>
          <a:bodyPr wrap="square" lIns="0" tIns="0" rIns="0" bIns="0" rtlCol="0" anchor="ctr"/>
          <a:lstStyle/>
          <a:p>
            <a:pPr marL="0" indent="0">
              <a:buNone/>
            </a:pPr>
            <a:r>
              <a:rPr lang="en-US" sz="1000" i="1" dirty="0">
                <a:solidFill>
                  <a:srgbClr val="FF6B35"/>
                </a:solidFill>
                <a:latin typeface="Calibri" pitchFamily="34" charset="0"/>
                <a:ea typeface="Calibri" pitchFamily="34" charset="-122"/>
                <a:cs typeface="Calibri" pitchFamily="34" charset="-120"/>
              </a:rPr>
              <a:t>"the detective"</a:t>
            </a:r>
            <a:endParaRPr lang="en-US" sz="1000" dirty="0"/>
          </a:p>
        </p:txBody>
      </p:sp>
      <p:sp>
        <p:nvSpPr>
          <p:cNvPr id="29" name="Text 27"/>
          <p:cNvSpPr/>
          <p:nvPr/>
        </p:nvSpPr>
        <p:spPr>
          <a:xfrm>
            <a:off x="685800" y="4800600"/>
            <a:ext cx="3291840" cy="54864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Statistical models, A/B tests, forecasting.</a:t>
            </a:r>
            <a:endParaRPr lang="en-US" sz="1100" dirty="0"/>
          </a:p>
        </p:txBody>
      </p:sp>
      <p:sp>
        <p:nvSpPr>
          <p:cNvPr id="30" name="Text 28"/>
          <p:cNvSpPr/>
          <p:nvPr/>
        </p:nvSpPr>
        <p:spPr>
          <a:xfrm>
            <a:off x="685800" y="5394960"/>
            <a:ext cx="3291840" cy="274320"/>
          </a:xfrm>
          <a:prstGeom prst="rect">
            <a:avLst/>
          </a:prstGeom>
          <a:noFill/>
          <a:ln/>
        </p:spPr>
        <p:txBody>
          <a:bodyPr wrap="square" lIns="0" tIns="0" rIns="0" bIns="0" rtlCol="0" anchor="ctr"/>
          <a:lstStyle/>
          <a:p>
            <a:pPr marL="0" indent="0">
              <a:buNone/>
            </a:pPr>
            <a:r>
              <a:rPr lang="en-US" sz="1100" b="1" dirty="0">
                <a:solidFill>
                  <a:srgbClr val="FF6B35"/>
                </a:solidFill>
                <a:latin typeface="Calibri" pitchFamily="34" charset="0"/>
                <a:ea typeface="Calibri" pitchFamily="34" charset="-122"/>
                <a:cs typeface="Calibri" pitchFamily="34" charset="-120"/>
              </a:rPr>
              <a:t>₹12–35 L · $40–110K</a:t>
            </a:r>
            <a:endParaRPr lang="en-US" sz="1100" dirty="0"/>
          </a:p>
        </p:txBody>
      </p:sp>
      <p:sp>
        <p:nvSpPr>
          <p:cNvPr id="31" name="Shape 29"/>
          <p:cNvSpPr/>
          <p:nvPr/>
        </p:nvSpPr>
        <p:spPr>
          <a:xfrm>
            <a:off x="4206240" y="4023360"/>
            <a:ext cx="3657600" cy="1755648"/>
          </a:xfrm>
          <a:prstGeom prst="rect">
            <a:avLst/>
          </a:prstGeom>
          <a:solidFill>
            <a:srgbClr val="F8FAFC"/>
          </a:solidFill>
          <a:ln/>
          <a:effectLst>
            <a:outerShdw blurRad="76200" dist="25400" dir="8100000" algn="bl" rotWithShape="0">
              <a:srgbClr val="000000">
                <a:alpha val="8000"/>
              </a:srgbClr>
            </a:outerShdw>
          </a:effectLst>
        </p:spPr>
        <p:txBody>
          <a:bodyPr/>
          <a:lstStyle/>
          <a:p>
            <a:endParaRPr lang="en-AE"/>
          </a:p>
        </p:txBody>
      </p:sp>
      <p:sp>
        <p:nvSpPr>
          <p:cNvPr id="32" name="Shape 30"/>
          <p:cNvSpPr/>
          <p:nvPr/>
        </p:nvSpPr>
        <p:spPr>
          <a:xfrm>
            <a:off x="4206240" y="4023360"/>
            <a:ext cx="91440" cy="1755648"/>
          </a:xfrm>
          <a:prstGeom prst="rect">
            <a:avLst/>
          </a:prstGeom>
          <a:solidFill>
            <a:srgbClr val="DB2777"/>
          </a:solidFill>
          <a:ln/>
        </p:spPr>
        <p:txBody>
          <a:bodyPr/>
          <a:lstStyle/>
          <a:p>
            <a:endParaRPr lang="en-AE"/>
          </a:p>
        </p:txBody>
      </p:sp>
      <p:sp>
        <p:nvSpPr>
          <p:cNvPr id="33" name="Text 31"/>
          <p:cNvSpPr/>
          <p:nvPr/>
        </p:nvSpPr>
        <p:spPr>
          <a:xfrm>
            <a:off x="4434840" y="4133088"/>
            <a:ext cx="3291840" cy="36576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ML / AI Engineer</a:t>
            </a:r>
            <a:endParaRPr lang="en-US" sz="1700" dirty="0"/>
          </a:p>
        </p:txBody>
      </p:sp>
      <p:sp>
        <p:nvSpPr>
          <p:cNvPr id="34" name="Text 32"/>
          <p:cNvSpPr/>
          <p:nvPr/>
        </p:nvSpPr>
        <p:spPr>
          <a:xfrm>
            <a:off x="4434840" y="4480560"/>
            <a:ext cx="3291840" cy="274320"/>
          </a:xfrm>
          <a:prstGeom prst="rect">
            <a:avLst/>
          </a:prstGeom>
          <a:noFill/>
          <a:ln/>
        </p:spPr>
        <p:txBody>
          <a:bodyPr wrap="square" lIns="0" tIns="0" rIns="0" bIns="0" rtlCol="0" anchor="ctr"/>
          <a:lstStyle/>
          <a:p>
            <a:pPr marL="0" indent="0">
              <a:buNone/>
            </a:pPr>
            <a:r>
              <a:rPr lang="en-US" sz="1000" i="1" dirty="0">
                <a:solidFill>
                  <a:srgbClr val="DB2777"/>
                </a:solidFill>
                <a:latin typeface="Calibri" pitchFamily="34" charset="0"/>
                <a:ea typeface="Calibri" pitchFamily="34" charset="-122"/>
                <a:cs typeface="Calibri" pitchFamily="34" charset="-120"/>
              </a:rPr>
              <a:t>"the operator"</a:t>
            </a:r>
            <a:endParaRPr lang="en-US" sz="1000" dirty="0"/>
          </a:p>
        </p:txBody>
      </p:sp>
      <p:sp>
        <p:nvSpPr>
          <p:cNvPr id="35" name="Text 33"/>
          <p:cNvSpPr/>
          <p:nvPr/>
        </p:nvSpPr>
        <p:spPr>
          <a:xfrm>
            <a:off x="4434840" y="4800600"/>
            <a:ext cx="3291840" cy="54864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Ships models to prod. Tunes LLMs. Fights drift.</a:t>
            </a:r>
            <a:endParaRPr lang="en-US" sz="1100" dirty="0"/>
          </a:p>
        </p:txBody>
      </p:sp>
      <p:sp>
        <p:nvSpPr>
          <p:cNvPr id="36" name="Text 34"/>
          <p:cNvSpPr/>
          <p:nvPr/>
        </p:nvSpPr>
        <p:spPr>
          <a:xfrm>
            <a:off x="4434840" y="5394960"/>
            <a:ext cx="3291840" cy="274320"/>
          </a:xfrm>
          <a:prstGeom prst="rect">
            <a:avLst/>
          </a:prstGeom>
          <a:noFill/>
          <a:ln/>
        </p:spPr>
        <p:txBody>
          <a:bodyPr wrap="square" lIns="0" tIns="0" rIns="0" bIns="0" rtlCol="0" anchor="ctr"/>
          <a:lstStyle/>
          <a:p>
            <a:pPr marL="0" indent="0">
              <a:buNone/>
            </a:pPr>
            <a:r>
              <a:rPr lang="en-US" sz="1100" b="1" dirty="0">
                <a:solidFill>
                  <a:srgbClr val="DB2777"/>
                </a:solidFill>
                <a:latin typeface="Calibri" pitchFamily="34" charset="0"/>
                <a:ea typeface="Calibri" pitchFamily="34" charset="-122"/>
                <a:cs typeface="Calibri" pitchFamily="34" charset="-120"/>
              </a:rPr>
              <a:t>₹15–50 L · $60–180K</a:t>
            </a:r>
            <a:endParaRPr lang="en-US" sz="1100" dirty="0"/>
          </a:p>
        </p:txBody>
      </p:sp>
      <p:sp>
        <p:nvSpPr>
          <p:cNvPr id="37" name="Shape 35"/>
          <p:cNvSpPr/>
          <p:nvPr/>
        </p:nvSpPr>
        <p:spPr>
          <a:xfrm>
            <a:off x="7955280" y="4023360"/>
            <a:ext cx="3657600" cy="1755648"/>
          </a:xfrm>
          <a:prstGeom prst="rect">
            <a:avLst/>
          </a:prstGeom>
          <a:solidFill>
            <a:srgbClr val="F8FAFC"/>
          </a:solidFill>
          <a:ln/>
          <a:effectLst>
            <a:outerShdw blurRad="76200" dist="25400" dir="8100000" algn="bl" rotWithShape="0">
              <a:srgbClr val="000000">
                <a:alpha val="8000"/>
              </a:srgbClr>
            </a:outerShdw>
          </a:effectLst>
        </p:spPr>
        <p:txBody>
          <a:bodyPr/>
          <a:lstStyle/>
          <a:p>
            <a:endParaRPr lang="en-AE"/>
          </a:p>
        </p:txBody>
      </p:sp>
      <p:sp>
        <p:nvSpPr>
          <p:cNvPr id="38" name="Shape 36"/>
          <p:cNvSpPr/>
          <p:nvPr/>
        </p:nvSpPr>
        <p:spPr>
          <a:xfrm>
            <a:off x="7955280" y="4023360"/>
            <a:ext cx="91440" cy="1755648"/>
          </a:xfrm>
          <a:prstGeom prst="rect">
            <a:avLst/>
          </a:prstGeom>
          <a:solidFill>
            <a:srgbClr val="0B1437"/>
          </a:solidFill>
          <a:ln/>
        </p:spPr>
        <p:txBody>
          <a:bodyPr/>
          <a:lstStyle/>
          <a:p>
            <a:endParaRPr lang="en-AE"/>
          </a:p>
        </p:txBody>
      </p:sp>
      <p:sp>
        <p:nvSpPr>
          <p:cNvPr id="39" name="Text 37"/>
          <p:cNvSpPr/>
          <p:nvPr/>
        </p:nvSpPr>
        <p:spPr>
          <a:xfrm>
            <a:off x="8183880" y="4133088"/>
            <a:ext cx="3291840" cy="36576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Data Architect</a:t>
            </a:r>
            <a:endParaRPr lang="en-US" sz="1700" dirty="0"/>
          </a:p>
        </p:txBody>
      </p:sp>
      <p:sp>
        <p:nvSpPr>
          <p:cNvPr id="40" name="Text 38"/>
          <p:cNvSpPr/>
          <p:nvPr/>
        </p:nvSpPr>
        <p:spPr>
          <a:xfrm>
            <a:off x="8183880" y="4480560"/>
            <a:ext cx="3291840" cy="274320"/>
          </a:xfrm>
          <a:prstGeom prst="rect">
            <a:avLst/>
          </a:prstGeom>
          <a:noFill/>
          <a:ln/>
        </p:spPr>
        <p:txBody>
          <a:bodyPr wrap="square" lIns="0" tIns="0" rIns="0" bIns="0" rtlCol="0" anchor="ctr"/>
          <a:lstStyle/>
          <a:p>
            <a:pPr marL="0" indent="0">
              <a:buNone/>
            </a:pPr>
            <a:r>
              <a:rPr lang="en-US" sz="1000" i="1" dirty="0">
                <a:solidFill>
                  <a:srgbClr val="0B1437"/>
                </a:solidFill>
                <a:latin typeface="Calibri" pitchFamily="34" charset="0"/>
                <a:ea typeface="Calibri" pitchFamily="34" charset="-122"/>
                <a:cs typeface="Calibri" pitchFamily="34" charset="-120"/>
              </a:rPr>
              <a:t>"the CTO's CTO"</a:t>
            </a:r>
            <a:endParaRPr lang="en-US" sz="1000" dirty="0"/>
          </a:p>
        </p:txBody>
      </p:sp>
      <p:sp>
        <p:nvSpPr>
          <p:cNvPr id="41" name="Text 39"/>
          <p:cNvSpPr/>
          <p:nvPr/>
        </p:nvSpPr>
        <p:spPr>
          <a:xfrm>
            <a:off x="8183880" y="4800600"/>
            <a:ext cx="3291840" cy="54864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Designs the whole house. The one the CTO calls.</a:t>
            </a:r>
            <a:endParaRPr lang="en-US" sz="1100" dirty="0"/>
          </a:p>
        </p:txBody>
      </p:sp>
      <p:sp>
        <p:nvSpPr>
          <p:cNvPr id="42" name="Text 40"/>
          <p:cNvSpPr/>
          <p:nvPr/>
        </p:nvSpPr>
        <p:spPr>
          <a:xfrm>
            <a:off x="8183880" y="5394960"/>
            <a:ext cx="3291840" cy="274320"/>
          </a:xfrm>
          <a:prstGeom prst="rect">
            <a:avLst/>
          </a:prstGeom>
          <a:noFill/>
          <a:ln/>
        </p:spPr>
        <p:txBody>
          <a:bodyPr wrap="square" lIns="0" tIns="0" rIns="0" bIns="0" rtlCol="0" anchor="ctr"/>
          <a:lstStyle/>
          <a:p>
            <a:pPr marL="0" indent="0">
              <a:buNone/>
            </a:pPr>
            <a:r>
              <a:rPr lang="en-US" sz="1100" b="1" dirty="0">
                <a:solidFill>
                  <a:srgbClr val="0B1437"/>
                </a:solidFill>
                <a:latin typeface="Calibri" pitchFamily="34" charset="0"/>
                <a:ea typeface="Calibri" pitchFamily="34" charset="-122"/>
                <a:cs typeface="Calibri" pitchFamily="34" charset="-120"/>
              </a:rPr>
              <a:t>₹25–70 L · $100–250K</a:t>
            </a:r>
            <a:endParaRPr lang="en-US" sz="1100" dirty="0"/>
          </a:p>
        </p:txBody>
      </p:sp>
      <p:sp>
        <p:nvSpPr>
          <p:cNvPr id="43" name="Text 41"/>
          <p:cNvSpPr/>
          <p:nvPr/>
        </p:nvSpPr>
        <p:spPr>
          <a:xfrm>
            <a:off x="457200" y="6217920"/>
            <a:ext cx="11247120" cy="27432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Early-career ranges · India (INR lakhs/yr) and global (USD/yr). Blend of Glassdoor, LinkedIn, community data.</a:t>
            </a:r>
            <a:endParaRPr lang="en-US" sz="900" dirty="0"/>
          </a:p>
        </p:txBody>
      </p:sp>
      <p:sp>
        <p:nvSpPr>
          <p:cNvPr id="44" name="Text 42"/>
          <p:cNvSpPr/>
          <p:nvPr/>
        </p:nvSpPr>
        <p:spPr>
          <a:xfrm>
            <a:off x="10332720" y="6510528"/>
            <a:ext cx="173736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06 / 32  ·  DATA &amp; AI</a:t>
            </a:r>
            <a:endParaRPr lang="en-US" sz="900" dirty="0"/>
          </a:p>
        </p:txBody>
      </p:sp>
      <p:sp>
        <p:nvSpPr>
          <p:cNvPr id="45" name="Text 43"/>
          <p:cNvSpPr/>
          <p:nvPr/>
        </p:nvSpPr>
        <p:spPr>
          <a:xfrm>
            <a:off x="457200" y="6510528"/>
            <a:ext cx="5486400" cy="256032"/>
          </a:xfrm>
          <a:prstGeom prst="rect">
            <a:avLst/>
          </a:prstGeom>
          <a:noFill/>
          <a:ln/>
        </p:spPr>
        <p:txBody>
          <a:bodyPr wrap="square" lIns="0" tIns="0" rIns="0" bIns="0" rtlCol="0" anchor="ctr"/>
          <a:lstStyle/>
          <a:p>
            <a:pPr marL="0" indent="0">
              <a:buNone/>
            </a:pPr>
            <a:r>
              <a:rPr lang="en-US" sz="900" b="1" kern="0" spc="200" dirty="0">
                <a:solidFill>
                  <a:srgbClr val="94A3B8"/>
                </a:solidFill>
                <a:latin typeface="Calibri" pitchFamily="34" charset="0"/>
                <a:ea typeface="Calibri" pitchFamily="34" charset="-122"/>
                <a:cs typeface="Calibri" pitchFamily="34" charset="-120"/>
              </a:rPr>
              <a:t>THE LANDSCAPE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437"/>
        </a:solidFill>
        <a:effectLst/>
      </p:bgPr>
    </p:bg>
    <p:spTree>
      <p:nvGrpSpPr>
        <p:cNvPr id="1" name=""/>
        <p:cNvGrpSpPr/>
        <p:nvPr/>
      </p:nvGrpSpPr>
      <p:grpSpPr>
        <a:xfrm>
          <a:off x="0" y="0"/>
          <a:ext cx="0" cy="0"/>
          <a:chOff x="0" y="0"/>
          <a:chExt cx="0" cy="0"/>
        </a:xfrm>
      </p:grpSpPr>
      <p:sp>
        <p:nvSpPr>
          <p:cNvPr id="2" name="Text 0"/>
          <p:cNvSpPr/>
          <p:nvPr/>
        </p:nvSpPr>
        <p:spPr>
          <a:xfrm>
            <a:off x="457200" y="1828800"/>
            <a:ext cx="4572000" cy="3200400"/>
          </a:xfrm>
          <a:prstGeom prst="rect">
            <a:avLst/>
          </a:prstGeom>
          <a:noFill/>
          <a:ln/>
        </p:spPr>
        <p:txBody>
          <a:bodyPr wrap="square" lIns="0" tIns="0" rIns="0" bIns="0" rtlCol="0" anchor="ctr"/>
          <a:lstStyle/>
          <a:p>
            <a:pPr marL="0" indent="0" algn="l">
              <a:buNone/>
            </a:pPr>
            <a:r>
              <a:rPr lang="en-US" sz="18000" b="1" dirty="0">
                <a:solidFill>
                  <a:srgbClr val="FF6B35"/>
                </a:solidFill>
                <a:latin typeface="Arial Black" pitchFamily="34" charset="0"/>
                <a:ea typeface="Arial Black" pitchFamily="34" charset="-122"/>
                <a:cs typeface="Arial Black" pitchFamily="34" charset="-120"/>
              </a:rPr>
              <a:t>02</a:t>
            </a:r>
            <a:endParaRPr lang="en-US" sz="18000" dirty="0"/>
          </a:p>
        </p:txBody>
      </p:sp>
      <p:sp>
        <p:nvSpPr>
          <p:cNvPr id="3" name="Text 1"/>
          <p:cNvSpPr/>
          <p:nvPr/>
        </p:nvSpPr>
        <p:spPr>
          <a:xfrm>
            <a:off x="5303520" y="2377440"/>
            <a:ext cx="6400800" cy="365760"/>
          </a:xfrm>
          <a:prstGeom prst="rect">
            <a:avLst/>
          </a:prstGeom>
          <a:noFill/>
          <a:ln/>
        </p:spPr>
        <p:txBody>
          <a:bodyPr wrap="square" lIns="0" tIns="0" rIns="0" bIns="0" rtlCol="0" anchor="ctr"/>
          <a:lstStyle/>
          <a:p>
            <a:pPr marL="0" indent="0">
              <a:buNone/>
            </a:pPr>
            <a:r>
              <a:rPr lang="en-US" sz="1300" b="1" kern="0" spc="400" dirty="0">
                <a:solidFill>
                  <a:srgbClr val="22D3EE"/>
                </a:solidFill>
                <a:latin typeface="Calibri" pitchFamily="34" charset="0"/>
                <a:ea typeface="Calibri" pitchFamily="34" charset="-122"/>
                <a:cs typeface="Calibri" pitchFamily="34" charset="-120"/>
              </a:rPr>
              <a:t>WAREHOUSE 101</a:t>
            </a:r>
            <a:endParaRPr lang="en-US" sz="1300" dirty="0"/>
          </a:p>
        </p:txBody>
      </p:sp>
      <p:sp>
        <p:nvSpPr>
          <p:cNvPr id="4" name="Shape 2"/>
          <p:cNvSpPr/>
          <p:nvPr/>
        </p:nvSpPr>
        <p:spPr>
          <a:xfrm>
            <a:off x="5303520" y="2834640"/>
            <a:ext cx="457200" cy="73152"/>
          </a:xfrm>
          <a:prstGeom prst="rect">
            <a:avLst/>
          </a:prstGeom>
          <a:solidFill>
            <a:srgbClr val="FF6B35"/>
          </a:solidFill>
          <a:ln/>
        </p:spPr>
        <p:txBody>
          <a:bodyPr/>
          <a:lstStyle/>
          <a:p>
            <a:endParaRPr lang="en-AE"/>
          </a:p>
        </p:txBody>
      </p:sp>
      <p:sp>
        <p:nvSpPr>
          <p:cNvPr id="5" name="Text 3"/>
          <p:cNvSpPr/>
          <p:nvPr/>
        </p:nvSpPr>
        <p:spPr>
          <a:xfrm>
            <a:off x="5303520" y="3017520"/>
            <a:ext cx="6400800" cy="1828800"/>
          </a:xfrm>
          <a:prstGeom prst="rect">
            <a:avLst/>
          </a:prstGeom>
          <a:noFill/>
          <a:ln/>
        </p:spPr>
        <p:txBody>
          <a:bodyPr wrap="square" lIns="0" tIns="0" rIns="0" bIns="0" rtlCol="0" anchor="ctr"/>
          <a:lstStyle/>
          <a:p>
            <a:pPr marL="0" indent="0">
              <a:buNone/>
            </a:pPr>
            <a:r>
              <a:rPr lang="en-US" sz="4000" b="1" dirty="0">
                <a:solidFill>
                  <a:srgbClr val="FFFFFF"/>
                </a:solidFill>
                <a:latin typeface="Arial Black" pitchFamily="34" charset="0"/>
                <a:ea typeface="Arial Black" pitchFamily="34" charset="-122"/>
                <a:cs typeface="Arial Black" pitchFamily="34" charset="-120"/>
              </a:rPr>
              <a:t>Why OLTP can't do</a:t>
            </a:r>
            <a:endParaRPr lang="en-US" sz="4000" dirty="0"/>
          </a:p>
          <a:p>
            <a:pPr marL="0" indent="0">
              <a:buNone/>
            </a:pPr>
            <a:r>
              <a:rPr lang="en-US" sz="4000" b="1" dirty="0">
                <a:solidFill>
                  <a:srgbClr val="FFFFFF"/>
                </a:solidFill>
                <a:latin typeface="Arial Black" pitchFamily="34" charset="0"/>
                <a:ea typeface="Arial Black" pitchFamily="34" charset="-122"/>
                <a:cs typeface="Arial Black" pitchFamily="34" charset="-120"/>
              </a:rPr>
              <a:t>what OLAP does.</a:t>
            </a:r>
            <a:endParaRPr lang="en-US" sz="4000" dirty="0"/>
          </a:p>
        </p:txBody>
      </p:sp>
      <p:sp>
        <p:nvSpPr>
          <p:cNvPr id="6" name="Text 4"/>
          <p:cNvSpPr/>
          <p:nvPr/>
        </p:nvSpPr>
        <p:spPr>
          <a:xfrm>
            <a:off x="5303520" y="5120640"/>
            <a:ext cx="6400800" cy="45720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Module I · syllabus deep-dive starts here.</a:t>
            </a:r>
            <a:endParaRPr lang="en-US" sz="1400" dirty="0"/>
          </a:p>
        </p:txBody>
      </p:sp>
      <p:sp>
        <p:nvSpPr>
          <p:cNvPr id="7" name="Text 5"/>
          <p:cNvSpPr/>
          <p:nvPr/>
        </p:nvSpPr>
        <p:spPr>
          <a:xfrm>
            <a:off x="10332720" y="6510528"/>
            <a:ext cx="173736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07 / 32  ·  DATA &amp; AI</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22D3EE"/>
          </a:solidFill>
          <a:ln/>
        </p:spPr>
        <p:txBody>
          <a:bodyPr/>
          <a:lstStyle/>
          <a:p>
            <a:endParaRPr lang="en-AE"/>
          </a:p>
        </p:txBody>
      </p:sp>
      <p:sp>
        <p:nvSpPr>
          <p:cNvPr id="3" name="Shape 1"/>
          <p:cNvSpPr/>
          <p:nvPr/>
        </p:nvSpPr>
        <p:spPr>
          <a:xfrm>
            <a:off x="621792" y="457200"/>
            <a:ext cx="54864" cy="128016"/>
          </a:xfrm>
          <a:prstGeom prst="rect">
            <a:avLst/>
          </a:prstGeom>
          <a:solidFill>
            <a:srgbClr val="0B1437"/>
          </a:solidFill>
          <a:ln/>
        </p:spPr>
        <p:txBody>
          <a:bodyPr/>
          <a:lstStyle/>
          <a:p>
            <a:endParaRPr lang="en-AE"/>
          </a:p>
        </p:txBody>
      </p:sp>
      <p:sp>
        <p:nvSpPr>
          <p:cNvPr id="4" name="Text 2"/>
          <p:cNvSpPr/>
          <p:nvPr/>
        </p:nvSpPr>
        <p:spPr>
          <a:xfrm>
            <a:off x="457200" y="685800"/>
            <a:ext cx="11247120" cy="274320"/>
          </a:xfrm>
          <a:prstGeom prst="rect">
            <a:avLst/>
          </a:prstGeom>
          <a:noFill/>
          <a:ln/>
        </p:spPr>
        <p:txBody>
          <a:bodyPr wrap="square" lIns="0" tIns="0" rIns="0" bIns="0" rtlCol="0" anchor="ctr"/>
          <a:lstStyle/>
          <a:p>
            <a:pPr marL="0" indent="0">
              <a:buNone/>
            </a:pPr>
            <a:r>
              <a:rPr lang="en-US" sz="1100" b="1" kern="0" spc="400" dirty="0">
                <a:solidFill>
                  <a:srgbClr val="0891B2"/>
                </a:solidFill>
                <a:latin typeface="Calibri" pitchFamily="34" charset="0"/>
                <a:ea typeface="Calibri" pitchFamily="34" charset="-122"/>
                <a:cs typeface="Calibri" pitchFamily="34" charset="-120"/>
              </a:rPr>
              <a:t>WAREHOUSE 101</a:t>
            </a:r>
            <a:endParaRPr lang="en-US" sz="1100" dirty="0"/>
          </a:p>
        </p:txBody>
      </p:sp>
      <p:sp>
        <p:nvSpPr>
          <p:cNvPr id="5" name="Text 3"/>
          <p:cNvSpPr/>
          <p:nvPr/>
        </p:nvSpPr>
        <p:spPr>
          <a:xfrm>
            <a:off x="457200" y="932688"/>
            <a:ext cx="1124712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OLTP vs OLAP same SQL, completely different brains.</a:t>
            </a:r>
            <a:endParaRPr lang="en-US" sz="3000" dirty="0"/>
          </a:p>
        </p:txBody>
      </p:sp>
      <p:sp>
        <p:nvSpPr>
          <p:cNvPr id="6" name="Text 4"/>
          <p:cNvSpPr/>
          <p:nvPr/>
        </p:nvSpPr>
        <p:spPr>
          <a:xfrm>
            <a:off x="457200" y="1572768"/>
            <a:ext cx="11247120" cy="45720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One runs the business. One understands it. Mix them up → your bank crashes at 11 a.m.</a:t>
            </a:r>
            <a:endParaRPr lang="en-US" sz="1300" dirty="0"/>
          </a:p>
        </p:txBody>
      </p:sp>
      <p:pic>
        <p:nvPicPr>
          <p:cNvPr id="7" name="Image 0" descr="images/oltpOlap.png"/>
          <p:cNvPicPr>
            <a:picLocks noChangeAspect="1"/>
          </p:cNvPicPr>
          <p:nvPr/>
        </p:nvPicPr>
        <p:blipFill>
          <a:blip r:embed="rId3"/>
          <a:srcRect/>
          <a:stretch/>
        </p:blipFill>
        <p:spPr>
          <a:xfrm>
            <a:off x="457200" y="2011680"/>
            <a:ext cx="11247120" cy="4023360"/>
          </a:xfrm>
          <a:prstGeom prst="rect">
            <a:avLst/>
          </a:prstGeom>
        </p:spPr>
      </p:pic>
      <p:sp>
        <p:nvSpPr>
          <p:cNvPr id="8" name="Shape 5"/>
          <p:cNvSpPr/>
          <p:nvPr/>
        </p:nvSpPr>
        <p:spPr>
          <a:xfrm>
            <a:off x="457200" y="6126480"/>
            <a:ext cx="11247120" cy="365760"/>
          </a:xfrm>
          <a:prstGeom prst="rect">
            <a:avLst/>
          </a:prstGeom>
          <a:solidFill>
            <a:srgbClr val="F1F5F9"/>
          </a:solidFill>
          <a:ln/>
        </p:spPr>
        <p:txBody>
          <a:bodyPr/>
          <a:lstStyle/>
          <a:p>
            <a:endParaRPr lang="en-AE"/>
          </a:p>
        </p:txBody>
      </p:sp>
      <p:sp>
        <p:nvSpPr>
          <p:cNvPr id="9" name="Text 6"/>
          <p:cNvSpPr/>
          <p:nvPr/>
        </p:nvSpPr>
        <p:spPr>
          <a:xfrm>
            <a:off x="640080" y="6144768"/>
            <a:ext cx="11064240" cy="347472"/>
          </a:xfrm>
          <a:prstGeom prst="rect">
            <a:avLst/>
          </a:prstGeom>
          <a:noFill/>
          <a:ln/>
        </p:spPr>
        <p:txBody>
          <a:bodyPr wrap="square" lIns="0" tIns="0" rIns="0" bIns="0" rtlCol="0" anchor="ctr"/>
          <a:lstStyle/>
          <a:p>
            <a:pPr marL="0" indent="0">
              <a:buNone/>
            </a:pPr>
            <a:r>
              <a:rPr lang="en-US" sz="1100" b="1" i="1" dirty="0">
                <a:solidFill>
                  <a:srgbClr val="EF4444"/>
                </a:solidFill>
                <a:latin typeface="Calibri" pitchFamily="34" charset="0"/>
                <a:ea typeface="Calibri" pitchFamily="34" charset="-122"/>
                <a:cs typeface="Calibri" pitchFamily="34" charset="-120"/>
              </a:rPr>
              <a:t>WAR STORY  ·  </a:t>
            </a:r>
            <a:r>
              <a:rPr lang="en-US" sz="1100" i="1" dirty="0">
                <a:solidFill>
                  <a:srgbClr val="1E293B"/>
                </a:solidFill>
                <a:latin typeface="Calibri" pitchFamily="34" charset="0"/>
                <a:ea typeface="Calibri" pitchFamily="34" charset="-122"/>
                <a:cs typeface="Calibri" pitchFamily="34" charset="-120"/>
              </a:rPr>
              <a:t>the intern ran SELECT SUM(amount) FROM transactions on prod and crashed the bank at 11 a.m. Every senior has lived this.</a:t>
            </a:r>
            <a:endParaRPr lang="en-US" sz="1100" dirty="0"/>
          </a:p>
        </p:txBody>
      </p:sp>
      <p:sp>
        <p:nvSpPr>
          <p:cNvPr id="10" name="Text 7"/>
          <p:cNvSpPr/>
          <p:nvPr/>
        </p:nvSpPr>
        <p:spPr>
          <a:xfrm>
            <a:off x="10332720" y="6510528"/>
            <a:ext cx="173736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08 / 32  ·  DATA &amp; AI</a:t>
            </a:r>
            <a:endParaRPr lang="en-US" sz="900" dirty="0"/>
          </a:p>
        </p:txBody>
      </p:sp>
      <p:sp>
        <p:nvSpPr>
          <p:cNvPr id="11" name="Text 8"/>
          <p:cNvSpPr/>
          <p:nvPr/>
        </p:nvSpPr>
        <p:spPr>
          <a:xfrm>
            <a:off x="457200" y="6510528"/>
            <a:ext cx="5486400" cy="256032"/>
          </a:xfrm>
          <a:prstGeom prst="rect">
            <a:avLst/>
          </a:prstGeom>
          <a:noFill/>
          <a:ln/>
        </p:spPr>
        <p:txBody>
          <a:bodyPr wrap="square" lIns="0" tIns="0" rIns="0" bIns="0" rtlCol="0" anchor="ctr"/>
          <a:lstStyle/>
          <a:p>
            <a:pPr marL="0" indent="0">
              <a:buNone/>
            </a:pPr>
            <a:r>
              <a:rPr lang="en-US" sz="900" b="1" kern="0" spc="200" dirty="0">
                <a:solidFill>
                  <a:srgbClr val="94A3B8"/>
                </a:solidFill>
                <a:latin typeface="Calibri" pitchFamily="34" charset="0"/>
                <a:ea typeface="Calibri" pitchFamily="34" charset="-122"/>
                <a:cs typeface="Calibri" pitchFamily="34" charset="-120"/>
              </a:rPr>
              <a:t>WAREHOUSE 101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22D3EE"/>
          </a:solidFill>
          <a:ln/>
        </p:spPr>
        <p:txBody>
          <a:bodyPr/>
          <a:lstStyle/>
          <a:p>
            <a:endParaRPr lang="en-AE"/>
          </a:p>
        </p:txBody>
      </p:sp>
      <p:sp>
        <p:nvSpPr>
          <p:cNvPr id="3" name="Shape 1"/>
          <p:cNvSpPr/>
          <p:nvPr/>
        </p:nvSpPr>
        <p:spPr>
          <a:xfrm>
            <a:off x="621792" y="457200"/>
            <a:ext cx="54864" cy="128016"/>
          </a:xfrm>
          <a:prstGeom prst="rect">
            <a:avLst/>
          </a:prstGeom>
          <a:solidFill>
            <a:srgbClr val="0B1437"/>
          </a:solidFill>
          <a:ln/>
        </p:spPr>
        <p:txBody>
          <a:bodyPr/>
          <a:lstStyle/>
          <a:p>
            <a:endParaRPr lang="en-AE"/>
          </a:p>
        </p:txBody>
      </p:sp>
      <p:sp>
        <p:nvSpPr>
          <p:cNvPr id="4" name="Text 2"/>
          <p:cNvSpPr/>
          <p:nvPr/>
        </p:nvSpPr>
        <p:spPr>
          <a:xfrm>
            <a:off x="457200" y="685800"/>
            <a:ext cx="11247120" cy="274320"/>
          </a:xfrm>
          <a:prstGeom prst="rect">
            <a:avLst/>
          </a:prstGeom>
          <a:noFill/>
          <a:ln/>
        </p:spPr>
        <p:txBody>
          <a:bodyPr wrap="square" lIns="0" tIns="0" rIns="0" bIns="0" rtlCol="0" anchor="ctr"/>
          <a:lstStyle/>
          <a:p>
            <a:pPr marL="0" indent="0">
              <a:buNone/>
            </a:pPr>
            <a:r>
              <a:rPr lang="en-US" sz="1100" b="1" kern="0" spc="400" dirty="0">
                <a:solidFill>
                  <a:srgbClr val="0891B2"/>
                </a:solidFill>
                <a:latin typeface="Calibri" pitchFamily="34" charset="0"/>
                <a:ea typeface="Calibri" pitchFamily="34" charset="-122"/>
                <a:cs typeface="Calibri" pitchFamily="34" charset="-120"/>
              </a:rPr>
              <a:t>MULTIDIMENSIONAL THINKING</a:t>
            </a:r>
            <a:endParaRPr lang="en-US" sz="1100" dirty="0"/>
          </a:p>
        </p:txBody>
      </p:sp>
      <p:sp>
        <p:nvSpPr>
          <p:cNvPr id="5" name="Text 3"/>
          <p:cNvSpPr/>
          <p:nvPr/>
        </p:nvSpPr>
        <p:spPr>
          <a:xfrm>
            <a:off x="457200" y="932688"/>
            <a:ext cx="1124712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The Data Cube reality is 3D+.</a:t>
            </a:r>
            <a:endParaRPr lang="en-US" sz="3000" dirty="0"/>
          </a:p>
        </p:txBody>
      </p:sp>
      <p:sp>
        <p:nvSpPr>
          <p:cNvPr id="6" name="Text 4"/>
          <p:cNvSpPr/>
          <p:nvPr/>
        </p:nvSpPr>
        <p:spPr>
          <a:xfrm>
            <a:off x="457200" y="1572768"/>
            <a:ext cx="11247120" cy="45720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Rows &amp; columns are 2D. Business questions aren't. That's the whole idea.</a:t>
            </a:r>
            <a:endParaRPr lang="en-US" sz="1300" dirty="0"/>
          </a:p>
        </p:txBody>
      </p:sp>
      <p:pic>
        <p:nvPicPr>
          <p:cNvPr id="7" name="Image 0" descr="images/cube.png"/>
          <p:cNvPicPr>
            <a:picLocks noChangeAspect="1"/>
          </p:cNvPicPr>
          <p:nvPr/>
        </p:nvPicPr>
        <p:blipFill>
          <a:blip r:embed="rId3"/>
          <a:srcRect/>
          <a:stretch/>
        </p:blipFill>
        <p:spPr>
          <a:xfrm>
            <a:off x="0" y="2057400"/>
            <a:ext cx="6949440" cy="4434840"/>
          </a:xfrm>
          <a:prstGeom prst="rect">
            <a:avLst/>
          </a:prstGeom>
        </p:spPr>
      </p:pic>
      <p:sp>
        <p:nvSpPr>
          <p:cNvPr id="8" name="Text 5"/>
          <p:cNvSpPr/>
          <p:nvPr/>
        </p:nvSpPr>
        <p:spPr>
          <a:xfrm>
            <a:off x="7132320" y="1920240"/>
            <a:ext cx="4754880" cy="274320"/>
          </a:xfrm>
          <a:prstGeom prst="rect">
            <a:avLst/>
          </a:prstGeom>
          <a:noFill/>
          <a:ln/>
        </p:spPr>
        <p:txBody>
          <a:bodyPr wrap="square" lIns="0" tIns="0" rIns="0" bIns="0" rtlCol="0" anchor="ctr"/>
          <a:lstStyle/>
          <a:p>
            <a:pPr marL="0" indent="0">
              <a:buNone/>
            </a:pPr>
            <a:r>
              <a:rPr lang="en-US" sz="1100" b="1" kern="0" spc="300" dirty="0">
                <a:solidFill>
                  <a:srgbClr val="64748B"/>
                </a:solidFill>
                <a:latin typeface="Calibri" pitchFamily="34" charset="0"/>
                <a:ea typeface="Calibri" pitchFamily="34" charset="-122"/>
                <a:cs typeface="Calibri" pitchFamily="34" charset="-120"/>
              </a:rPr>
              <a:t>THE 5 MOVES ON A CUBE</a:t>
            </a:r>
            <a:endParaRPr lang="en-US" sz="1100" dirty="0"/>
          </a:p>
        </p:txBody>
      </p:sp>
      <p:sp>
        <p:nvSpPr>
          <p:cNvPr id="9" name="Shape 6"/>
          <p:cNvSpPr/>
          <p:nvPr/>
        </p:nvSpPr>
        <p:spPr>
          <a:xfrm>
            <a:off x="7132320" y="2286000"/>
            <a:ext cx="73152" cy="457200"/>
          </a:xfrm>
          <a:prstGeom prst="rect">
            <a:avLst/>
          </a:prstGeom>
          <a:solidFill>
            <a:srgbClr val="DB2777"/>
          </a:solidFill>
          <a:ln/>
        </p:spPr>
        <p:txBody>
          <a:bodyPr/>
          <a:lstStyle/>
          <a:p>
            <a:endParaRPr lang="en-AE"/>
          </a:p>
        </p:txBody>
      </p:sp>
      <p:sp>
        <p:nvSpPr>
          <p:cNvPr id="10" name="Text 7"/>
          <p:cNvSpPr/>
          <p:nvPr/>
        </p:nvSpPr>
        <p:spPr>
          <a:xfrm>
            <a:off x="7315200" y="2304288"/>
            <a:ext cx="1828800" cy="274320"/>
          </a:xfrm>
          <a:prstGeom prst="rect">
            <a:avLst/>
          </a:prstGeom>
          <a:noFill/>
          <a:ln/>
        </p:spPr>
        <p:txBody>
          <a:bodyPr wrap="square" lIns="0" tIns="0" rIns="0" bIns="0" rtlCol="0" anchor="ctr"/>
          <a:lstStyle/>
          <a:p>
            <a:pPr marL="0" indent="0">
              <a:buNone/>
            </a:pPr>
            <a:r>
              <a:rPr lang="en-US" sz="1500" b="1" dirty="0">
                <a:solidFill>
                  <a:srgbClr val="DB2777"/>
                </a:solidFill>
                <a:latin typeface="Arial Black" pitchFamily="34" charset="0"/>
                <a:ea typeface="Arial Black" pitchFamily="34" charset="-122"/>
                <a:cs typeface="Arial Black" pitchFamily="34" charset="-120"/>
              </a:rPr>
              <a:t>SLICE</a:t>
            </a:r>
            <a:endParaRPr lang="en-US" sz="1500" dirty="0"/>
          </a:p>
        </p:txBody>
      </p:sp>
      <p:sp>
        <p:nvSpPr>
          <p:cNvPr id="11" name="Text 8"/>
          <p:cNvSpPr/>
          <p:nvPr/>
        </p:nvSpPr>
        <p:spPr>
          <a:xfrm>
            <a:off x="7315200" y="2542032"/>
            <a:ext cx="4572000" cy="2743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Fix one dim → 'Sales in Q3'</a:t>
            </a:r>
            <a:endParaRPr lang="en-US" sz="1100" dirty="0"/>
          </a:p>
        </p:txBody>
      </p:sp>
      <p:sp>
        <p:nvSpPr>
          <p:cNvPr id="12" name="Shape 9"/>
          <p:cNvSpPr/>
          <p:nvPr/>
        </p:nvSpPr>
        <p:spPr>
          <a:xfrm>
            <a:off x="7132320" y="2852928"/>
            <a:ext cx="73152" cy="457200"/>
          </a:xfrm>
          <a:prstGeom prst="rect">
            <a:avLst/>
          </a:prstGeom>
          <a:solidFill>
            <a:srgbClr val="0891B2"/>
          </a:solidFill>
          <a:ln/>
        </p:spPr>
        <p:txBody>
          <a:bodyPr/>
          <a:lstStyle/>
          <a:p>
            <a:endParaRPr lang="en-AE"/>
          </a:p>
        </p:txBody>
      </p:sp>
      <p:sp>
        <p:nvSpPr>
          <p:cNvPr id="13" name="Text 10"/>
          <p:cNvSpPr/>
          <p:nvPr/>
        </p:nvSpPr>
        <p:spPr>
          <a:xfrm>
            <a:off x="7315200" y="2871216"/>
            <a:ext cx="1828800" cy="274320"/>
          </a:xfrm>
          <a:prstGeom prst="rect">
            <a:avLst/>
          </a:prstGeom>
          <a:noFill/>
          <a:ln/>
        </p:spPr>
        <p:txBody>
          <a:bodyPr wrap="square" lIns="0" tIns="0" rIns="0" bIns="0" rtlCol="0" anchor="ctr"/>
          <a:lstStyle/>
          <a:p>
            <a:pPr marL="0" indent="0">
              <a:buNone/>
            </a:pPr>
            <a:r>
              <a:rPr lang="en-US" sz="1500" b="1" dirty="0">
                <a:solidFill>
                  <a:srgbClr val="0891B2"/>
                </a:solidFill>
                <a:latin typeface="Arial Black" pitchFamily="34" charset="0"/>
                <a:ea typeface="Arial Black" pitchFamily="34" charset="-122"/>
                <a:cs typeface="Arial Black" pitchFamily="34" charset="-120"/>
              </a:rPr>
              <a:t>DICE</a:t>
            </a:r>
            <a:endParaRPr lang="en-US" sz="1500" dirty="0"/>
          </a:p>
        </p:txBody>
      </p:sp>
      <p:sp>
        <p:nvSpPr>
          <p:cNvPr id="14" name="Text 11"/>
          <p:cNvSpPr/>
          <p:nvPr/>
        </p:nvSpPr>
        <p:spPr>
          <a:xfrm>
            <a:off x="7315200" y="3108960"/>
            <a:ext cx="4572000" cy="2743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Fix many dims → 'Q3, India, Mobile'</a:t>
            </a:r>
            <a:endParaRPr lang="en-US" sz="1100" dirty="0"/>
          </a:p>
        </p:txBody>
      </p:sp>
      <p:sp>
        <p:nvSpPr>
          <p:cNvPr id="15" name="Shape 12"/>
          <p:cNvSpPr/>
          <p:nvPr/>
        </p:nvSpPr>
        <p:spPr>
          <a:xfrm>
            <a:off x="7132320" y="3419856"/>
            <a:ext cx="73152" cy="457200"/>
          </a:xfrm>
          <a:prstGeom prst="rect">
            <a:avLst/>
          </a:prstGeom>
          <a:solidFill>
            <a:srgbClr val="14B8A6"/>
          </a:solidFill>
          <a:ln/>
        </p:spPr>
        <p:txBody>
          <a:bodyPr/>
          <a:lstStyle/>
          <a:p>
            <a:endParaRPr lang="en-AE"/>
          </a:p>
        </p:txBody>
      </p:sp>
      <p:sp>
        <p:nvSpPr>
          <p:cNvPr id="16" name="Text 13"/>
          <p:cNvSpPr/>
          <p:nvPr/>
        </p:nvSpPr>
        <p:spPr>
          <a:xfrm>
            <a:off x="7315200" y="3438144"/>
            <a:ext cx="1828800" cy="274320"/>
          </a:xfrm>
          <a:prstGeom prst="rect">
            <a:avLst/>
          </a:prstGeom>
          <a:noFill/>
          <a:ln/>
        </p:spPr>
        <p:txBody>
          <a:bodyPr wrap="square" lIns="0" tIns="0" rIns="0" bIns="0" rtlCol="0" anchor="ctr"/>
          <a:lstStyle/>
          <a:p>
            <a:pPr marL="0" indent="0">
              <a:buNone/>
            </a:pPr>
            <a:r>
              <a:rPr lang="en-US" sz="1500" b="1" dirty="0">
                <a:solidFill>
                  <a:srgbClr val="14B8A6"/>
                </a:solidFill>
                <a:latin typeface="Arial Black" pitchFamily="34" charset="0"/>
                <a:ea typeface="Arial Black" pitchFamily="34" charset="-122"/>
                <a:cs typeface="Arial Black" pitchFamily="34" charset="-120"/>
              </a:rPr>
              <a:t>DRILL-DOWN</a:t>
            </a:r>
            <a:endParaRPr lang="en-US" sz="1500" dirty="0"/>
          </a:p>
        </p:txBody>
      </p:sp>
      <p:sp>
        <p:nvSpPr>
          <p:cNvPr id="17" name="Text 14"/>
          <p:cNvSpPr/>
          <p:nvPr/>
        </p:nvSpPr>
        <p:spPr>
          <a:xfrm>
            <a:off x="7315200" y="3675888"/>
            <a:ext cx="4572000" cy="2743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Go deeper → Year → Month → Day</a:t>
            </a:r>
            <a:endParaRPr lang="en-US" sz="1100" dirty="0"/>
          </a:p>
        </p:txBody>
      </p:sp>
      <p:sp>
        <p:nvSpPr>
          <p:cNvPr id="18" name="Shape 15"/>
          <p:cNvSpPr/>
          <p:nvPr/>
        </p:nvSpPr>
        <p:spPr>
          <a:xfrm>
            <a:off x="7132320" y="3986784"/>
            <a:ext cx="73152" cy="457200"/>
          </a:xfrm>
          <a:prstGeom prst="rect">
            <a:avLst/>
          </a:prstGeom>
          <a:solidFill>
            <a:srgbClr val="F59E0B"/>
          </a:solidFill>
          <a:ln/>
        </p:spPr>
        <p:txBody>
          <a:bodyPr/>
          <a:lstStyle/>
          <a:p>
            <a:endParaRPr lang="en-AE"/>
          </a:p>
        </p:txBody>
      </p:sp>
      <p:sp>
        <p:nvSpPr>
          <p:cNvPr id="19" name="Text 16"/>
          <p:cNvSpPr/>
          <p:nvPr/>
        </p:nvSpPr>
        <p:spPr>
          <a:xfrm>
            <a:off x="7315200" y="4005072"/>
            <a:ext cx="1828800" cy="274320"/>
          </a:xfrm>
          <a:prstGeom prst="rect">
            <a:avLst/>
          </a:prstGeom>
          <a:noFill/>
          <a:ln/>
        </p:spPr>
        <p:txBody>
          <a:bodyPr wrap="square" lIns="0" tIns="0" rIns="0" bIns="0" rtlCol="0" anchor="ctr"/>
          <a:lstStyle/>
          <a:p>
            <a:pPr marL="0" indent="0">
              <a:buNone/>
            </a:pPr>
            <a:r>
              <a:rPr lang="en-US" sz="1500" b="1" dirty="0">
                <a:solidFill>
                  <a:srgbClr val="F59E0B"/>
                </a:solidFill>
                <a:latin typeface="Arial Black" pitchFamily="34" charset="0"/>
                <a:ea typeface="Arial Black" pitchFamily="34" charset="-122"/>
                <a:cs typeface="Arial Black" pitchFamily="34" charset="-120"/>
              </a:rPr>
              <a:t>ROLL-UP</a:t>
            </a:r>
            <a:endParaRPr lang="en-US" sz="1500" dirty="0"/>
          </a:p>
        </p:txBody>
      </p:sp>
      <p:sp>
        <p:nvSpPr>
          <p:cNvPr id="20" name="Text 17"/>
          <p:cNvSpPr/>
          <p:nvPr/>
        </p:nvSpPr>
        <p:spPr>
          <a:xfrm>
            <a:off x="7315200" y="4242816"/>
            <a:ext cx="4572000" cy="2743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Go higher → Day → Month → Year</a:t>
            </a:r>
            <a:endParaRPr lang="en-US" sz="1100" dirty="0"/>
          </a:p>
        </p:txBody>
      </p:sp>
      <p:sp>
        <p:nvSpPr>
          <p:cNvPr id="21" name="Shape 18"/>
          <p:cNvSpPr/>
          <p:nvPr/>
        </p:nvSpPr>
        <p:spPr>
          <a:xfrm>
            <a:off x="7132320" y="4553712"/>
            <a:ext cx="73152" cy="457200"/>
          </a:xfrm>
          <a:prstGeom prst="rect">
            <a:avLst/>
          </a:prstGeom>
          <a:solidFill>
            <a:srgbClr val="FF6B35"/>
          </a:solidFill>
          <a:ln/>
        </p:spPr>
        <p:txBody>
          <a:bodyPr/>
          <a:lstStyle/>
          <a:p>
            <a:endParaRPr lang="en-AE"/>
          </a:p>
        </p:txBody>
      </p:sp>
      <p:sp>
        <p:nvSpPr>
          <p:cNvPr id="22" name="Text 19"/>
          <p:cNvSpPr/>
          <p:nvPr/>
        </p:nvSpPr>
        <p:spPr>
          <a:xfrm>
            <a:off x="7315200" y="4572000"/>
            <a:ext cx="1828800" cy="274320"/>
          </a:xfrm>
          <a:prstGeom prst="rect">
            <a:avLst/>
          </a:prstGeom>
          <a:noFill/>
          <a:ln/>
        </p:spPr>
        <p:txBody>
          <a:bodyPr wrap="square" lIns="0" tIns="0" rIns="0" bIns="0" rtlCol="0" anchor="ctr"/>
          <a:lstStyle/>
          <a:p>
            <a:pPr marL="0" indent="0">
              <a:buNone/>
            </a:pPr>
            <a:r>
              <a:rPr lang="en-US" sz="1500" b="1" dirty="0">
                <a:solidFill>
                  <a:srgbClr val="FF6B35"/>
                </a:solidFill>
                <a:latin typeface="Arial Black" pitchFamily="34" charset="0"/>
                <a:ea typeface="Arial Black" pitchFamily="34" charset="-122"/>
                <a:cs typeface="Arial Black" pitchFamily="34" charset="-120"/>
              </a:rPr>
              <a:t>PIVOT</a:t>
            </a:r>
            <a:endParaRPr lang="en-US" sz="1500" dirty="0"/>
          </a:p>
        </p:txBody>
      </p:sp>
      <p:sp>
        <p:nvSpPr>
          <p:cNvPr id="23" name="Text 20"/>
          <p:cNvSpPr/>
          <p:nvPr/>
        </p:nvSpPr>
        <p:spPr>
          <a:xfrm>
            <a:off x="7315200" y="4809744"/>
            <a:ext cx="4572000" cy="2743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Rotate the cube → swap axes</a:t>
            </a:r>
            <a:endParaRPr lang="en-US" sz="1100" dirty="0"/>
          </a:p>
        </p:txBody>
      </p:sp>
      <p:sp>
        <p:nvSpPr>
          <p:cNvPr id="24" name="Shape 21"/>
          <p:cNvSpPr/>
          <p:nvPr/>
        </p:nvSpPr>
        <p:spPr>
          <a:xfrm>
            <a:off x="7132320" y="5349240"/>
            <a:ext cx="4754880" cy="1051560"/>
          </a:xfrm>
          <a:prstGeom prst="rect">
            <a:avLst/>
          </a:prstGeom>
          <a:solidFill>
            <a:srgbClr val="0B1437"/>
          </a:solidFill>
          <a:ln/>
        </p:spPr>
        <p:txBody>
          <a:bodyPr/>
          <a:lstStyle/>
          <a:p>
            <a:endParaRPr lang="en-AE"/>
          </a:p>
        </p:txBody>
      </p:sp>
      <p:sp>
        <p:nvSpPr>
          <p:cNvPr id="25" name="Text 22"/>
          <p:cNvSpPr/>
          <p:nvPr/>
        </p:nvSpPr>
        <p:spPr>
          <a:xfrm>
            <a:off x="7315200" y="5440680"/>
            <a:ext cx="4480560" cy="914400"/>
          </a:xfrm>
          <a:prstGeom prst="rect">
            <a:avLst/>
          </a:prstGeom>
          <a:noFill/>
          <a:ln/>
        </p:spPr>
        <p:txBody>
          <a:bodyPr wrap="square" lIns="0" tIns="0" rIns="0" bIns="0" rtlCol="0" anchor="t"/>
          <a:lstStyle/>
          <a:p>
            <a:pPr marL="0" indent="0">
              <a:buNone/>
            </a:pPr>
            <a:r>
              <a:rPr lang="en-US" sz="1100" b="1" dirty="0">
                <a:solidFill>
                  <a:srgbClr val="FF6B35"/>
                </a:solidFill>
                <a:latin typeface="Calibri" pitchFamily="34" charset="0"/>
                <a:ea typeface="Calibri" pitchFamily="34" charset="-122"/>
                <a:cs typeface="Calibri" pitchFamily="34" charset="-120"/>
              </a:rPr>
              <a:t>MODERN ANGLE  ·  </a:t>
            </a:r>
            <a:endParaRPr lang="en-US" sz="1100" dirty="0"/>
          </a:p>
          <a:p>
            <a:pPr marL="0" indent="0">
              <a:buNone/>
            </a:pPr>
            <a:r>
              <a:rPr lang="en-US" sz="1100" i="1" dirty="0">
                <a:solidFill>
                  <a:srgbClr val="FFFFFF"/>
                </a:solidFill>
                <a:latin typeface="Calibri" pitchFamily="34" charset="0"/>
                <a:ea typeface="Calibri" pitchFamily="34" charset="-122"/>
                <a:cs typeface="Calibri" pitchFamily="34" charset="-120"/>
              </a:rPr>
              <a:t>You won't build a literal cube in 2026. But every PivotTable, every Looker dashboard, every 'Slice by region' button is the cube in disguise.</a:t>
            </a:r>
            <a:endParaRPr lang="en-US" sz="1100" dirty="0"/>
          </a:p>
        </p:txBody>
      </p:sp>
      <p:sp>
        <p:nvSpPr>
          <p:cNvPr id="26" name="Text 23"/>
          <p:cNvSpPr/>
          <p:nvPr/>
        </p:nvSpPr>
        <p:spPr>
          <a:xfrm>
            <a:off x="10332720" y="6510528"/>
            <a:ext cx="173736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09 / 32  ·  DATA &amp; AI</a:t>
            </a:r>
            <a:endParaRPr lang="en-US" sz="900" dirty="0"/>
          </a:p>
        </p:txBody>
      </p:sp>
      <p:sp>
        <p:nvSpPr>
          <p:cNvPr id="27" name="Text 24"/>
          <p:cNvSpPr/>
          <p:nvPr/>
        </p:nvSpPr>
        <p:spPr>
          <a:xfrm>
            <a:off x="457200" y="6510528"/>
            <a:ext cx="5486400" cy="256032"/>
          </a:xfrm>
          <a:prstGeom prst="rect">
            <a:avLst/>
          </a:prstGeom>
          <a:noFill/>
          <a:ln/>
        </p:spPr>
        <p:txBody>
          <a:bodyPr wrap="square" lIns="0" tIns="0" rIns="0" bIns="0" rtlCol="0" anchor="ctr"/>
          <a:lstStyle/>
          <a:p>
            <a:pPr marL="0" indent="0">
              <a:buNone/>
            </a:pPr>
            <a:r>
              <a:rPr lang="en-US" sz="900" b="1" kern="0" spc="200" dirty="0">
                <a:solidFill>
                  <a:srgbClr val="94A3B8"/>
                </a:solidFill>
                <a:latin typeface="Calibri" pitchFamily="34" charset="0"/>
                <a:ea typeface="Calibri" pitchFamily="34" charset="-122"/>
                <a:cs typeface="Calibri" pitchFamily="34" charset="-120"/>
              </a:rPr>
              <a:t>WAREHOUSE 101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437"/>
        </a:solidFill>
        <a:effectLst/>
      </p:bgPr>
    </p:bg>
    <p:spTree>
      <p:nvGrpSpPr>
        <p:cNvPr id="1" name=""/>
        <p:cNvGrpSpPr/>
        <p:nvPr/>
      </p:nvGrpSpPr>
      <p:grpSpPr>
        <a:xfrm>
          <a:off x="0" y="0"/>
          <a:ext cx="0" cy="0"/>
          <a:chOff x="0" y="0"/>
          <a:chExt cx="0" cy="0"/>
        </a:xfrm>
      </p:grpSpPr>
      <p:sp>
        <p:nvSpPr>
          <p:cNvPr id="2" name="Text 0"/>
          <p:cNvSpPr/>
          <p:nvPr/>
        </p:nvSpPr>
        <p:spPr>
          <a:xfrm>
            <a:off x="457200" y="1828800"/>
            <a:ext cx="4572000" cy="3200400"/>
          </a:xfrm>
          <a:prstGeom prst="rect">
            <a:avLst/>
          </a:prstGeom>
          <a:noFill/>
          <a:ln/>
        </p:spPr>
        <p:txBody>
          <a:bodyPr wrap="square" lIns="0" tIns="0" rIns="0" bIns="0" rtlCol="0" anchor="ctr"/>
          <a:lstStyle/>
          <a:p>
            <a:pPr marL="0" indent="0" algn="l">
              <a:buNone/>
            </a:pPr>
            <a:r>
              <a:rPr lang="en-US" sz="18000" b="1" dirty="0">
                <a:solidFill>
                  <a:srgbClr val="FF6B35"/>
                </a:solidFill>
                <a:latin typeface="Arial Black" pitchFamily="34" charset="0"/>
                <a:ea typeface="Arial Black" pitchFamily="34" charset="-122"/>
                <a:cs typeface="Arial Black" pitchFamily="34" charset="-120"/>
              </a:rPr>
              <a:t>03</a:t>
            </a:r>
            <a:endParaRPr lang="en-US" sz="18000" dirty="0"/>
          </a:p>
        </p:txBody>
      </p:sp>
      <p:sp>
        <p:nvSpPr>
          <p:cNvPr id="3" name="Text 1"/>
          <p:cNvSpPr/>
          <p:nvPr/>
        </p:nvSpPr>
        <p:spPr>
          <a:xfrm>
            <a:off x="5303520" y="2377440"/>
            <a:ext cx="6400800" cy="365760"/>
          </a:xfrm>
          <a:prstGeom prst="rect">
            <a:avLst/>
          </a:prstGeom>
          <a:noFill/>
          <a:ln/>
        </p:spPr>
        <p:txBody>
          <a:bodyPr wrap="square" lIns="0" tIns="0" rIns="0" bIns="0" rtlCol="0" anchor="ctr"/>
          <a:lstStyle/>
          <a:p>
            <a:pPr marL="0" indent="0">
              <a:buNone/>
            </a:pPr>
            <a:r>
              <a:rPr lang="en-US" sz="1300" b="1" kern="0" spc="400" dirty="0">
                <a:solidFill>
                  <a:srgbClr val="22D3EE"/>
                </a:solidFill>
                <a:latin typeface="Calibri" pitchFamily="34" charset="0"/>
                <a:ea typeface="Calibri" pitchFamily="34" charset="-122"/>
                <a:cs typeface="Calibri" pitchFamily="34" charset="-120"/>
              </a:rPr>
              <a:t>DIMENSIONAL MODELING</a:t>
            </a:r>
            <a:endParaRPr lang="en-US" sz="1300" dirty="0"/>
          </a:p>
        </p:txBody>
      </p:sp>
      <p:sp>
        <p:nvSpPr>
          <p:cNvPr id="4" name="Shape 2"/>
          <p:cNvSpPr/>
          <p:nvPr/>
        </p:nvSpPr>
        <p:spPr>
          <a:xfrm>
            <a:off x="5303520" y="2834640"/>
            <a:ext cx="457200" cy="73152"/>
          </a:xfrm>
          <a:prstGeom prst="rect">
            <a:avLst/>
          </a:prstGeom>
          <a:solidFill>
            <a:srgbClr val="FF6B35"/>
          </a:solidFill>
          <a:ln/>
        </p:spPr>
        <p:txBody>
          <a:bodyPr/>
          <a:lstStyle/>
          <a:p>
            <a:endParaRPr lang="en-AE"/>
          </a:p>
        </p:txBody>
      </p:sp>
      <p:sp>
        <p:nvSpPr>
          <p:cNvPr id="5" name="Text 3"/>
          <p:cNvSpPr/>
          <p:nvPr/>
        </p:nvSpPr>
        <p:spPr>
          <a:xfrm>
            <a:off x="5303520" y="3017520"/>
            <a:ext cx="6400800" cy="1828800"/>
          </a:xfrm>
          <a:prstGeom prst="rect">
            <a:avLst/>
          </a:prstGeom>
          <a:noFill/>
          <a:ln/>
        </p:spPr>
        <p:txBody>
          <a:bodyPr wrap="square" lIns="0" tIns="0" rIns="0" bIns="0" rtlCol="0" anchor="ctr"/>
          <a:lstStyle/>
          <a:p>
            <a:pPr marL="0" indent="0">
              <a:buNone/>
            </a:pPr>
            <a:r>
              <a:rPr lang="en-US" sz="4000" b="1" dirty="0">
                <a:solidFill>
                  <a:srgbClr val="FFFFFF"/>
                </a:solidFill>
                <a:latin typeface="Arial Black" pitchFamily="34" charset="0"/>
                <a:ea typeface="Arial Black" pitchFamily="34" charset="-122"/>
                <a:cs typeface="Arial Black" pitchFamily="34" charset="-120"/>
              </a:rPr>
              <a:t>How to shape data</a:t>
            </a:r>
            <a:endParaRPr lang="en-US" sz="4000" dirty="0"/>
          </a:p>
          <a:p>
            <a:pPr marL="0" indent="0">
              <a:buNone/>
            </a:pPr>
            <a:r>
              <a:rPr lang="en-US" sz="4000" b="1" dirty="0">
                <a:solidFill>
                  <a:srgbClr val="FFFFFF"/>
                </a:solidFill>
                <a:latin typeface="Arial Black" pitchFamily="34" charset="0"/>
                <a:ea typeface="Arial Black" pitchFamily="34" charset="-122"/>
                <a:cs typeface="Arial Black" pitchFamily="34" charset="-120"/>
              </a:rPr>
              <a:t>so humans can ask it questions.</a:t>
            </a:r>
            <a:endParaRPr lang="en-US" sz="4000" dirty="0"/>
          </a:p>
        </p:txBody>
      </p:sp>
      <p:sp>
        <p:nvSpPr>
          <p:cNvPr id="6" name="Text 4"/>
          <p:cNvSpPr/>
          <p:nvPr/>
        </p:nvSpPr>
        <p:spPr>
          <a:xfrm>
            <a:off x="5303520" y="5120640"/>
            <a:ext cx="6400800" cy="45720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Module II · the part that makes or breaks a warehouse.</a:t>
            </a:r>
            <a:endParaRPr lang="en-US" sz="1400" dirty="0"/>
          </a:p>
        </p:txBody>
      </p:sp>
      <p:sp>
        <p:nvSpPr>
          <p:cNvPr id="7" name="Text 5"/>
          <p:cNvSpPr/>
          <p:nvPr/>
        </p:nvSpPr>
        <p:spPr>
          <a:xfrm>
            <a:off x="10332720" y="6510528"/>
            <a:ext cx="173736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10 / 32  ·  DATA &amp; AI</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DB2777"/>
          </a:solidFill>
          <a:ln/>
        </p:spPr>
        <p:txBody>
          <a:bodyPr/>
          <a:lstStyle/>
          <a:p>
            <a:endParaRPr lang="en-AE"/>
          </a:p>
        </p:txBody>
      </p:sp>
      <p:sp>
        <p:nvSpPr>
          <p:cNvPr id="3" name="Shape 1"/>
          <p:cNvSpPr/>
          <p:nvPr/>
        </p:nvSpPr>
        <p:spPr>
          <a:xfrm>
            <a:off x="621792" y="457200"/>
            <a:ext cx="54864" cy="128016"/>
          </a:xfrm>
          <a:prstGeom prst="rect">
            <a:avLst/>
          </a:prstGeom>
          <a:solidFill>
            <a:srgbClr val="0B1437"/>
          </a:solidFill>
          <a:ln/>
        </p:spPr>
        <p:txBody>
          <a:bodyPr/>
          <a:lstStyle/>
          <a:p>
            <a:endParaRPr lang="en-AE"/>
          </a:p>
        </p:txBody>
      </p:sp>
      <p:sp>
        <p:nvSpPr>
          <p:cNvPr id="4" name="Text 2"/>
          <p:cNvSpPr/>
          <p:nvPr/>
        </p:nvSpPr>
        <p:spPr>
          <a:xfrm>
            <a:off x="457200" y="685800"/>
            <a:ext cx="11247120" cy="274320"/>
          </a:xfrm>
          <a:prstGeom prst="rect">
            <a:avLst/>
          </a:prstGeom>
          <a:noFill/>
          <a:ln/>
        </p:spPr>
        <p:txBody>
          <a:bodyPr wrap="square" lIns="0" tIns="0" rIns="0" bIns="0" rtlCol="0" anchor="ctr"/>
          <a:lstStyle/>
          <a:p>
            <a:pPr marL="0" indent="0">
              <a:buNone/>
            </a:pPr>
            <a:r>
              <a:rPr lang="en-US" sz="1100" b="1" kern="0" spc="400" dirty="0">
                <a:solidFill>
                  <a:srgbClr val="DB2777"/>
                </a:solidFill>
                <a:latin typeface="Calibri" pitchFamily="34" charset="0"/>
                <a:ea typeface="Calibri" pitchFamily="34" charset="-122"/>
                <a:cs typeface="Calibri" pitchFamily="34" charset="-120"/>
              </a:rPr>
              <a:t>DIMENSIONAL MODELING</a:t>
            </a:r>
            <a:endParaRPr lang="en-US" sz="1100" dirty="0"/>
          </a:p>
        </p:txBody>
      </p:sp>
      <p:sp>
        <p:nvSpPr>
          <p:cNvPr id="5" name="Text 3"/>
          <p:cNvSpPr/>
          <p:nvPr/>
        </p:nvSpPr>
        <p:spPr>
          <a:xfrm>
            <a:off x="457200" y="932688"/>
            <a:ext cx="1124712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Facts vs Dimensions the mental model.</a:t>
            </a:r>
            <a:endParaRPr lang="en-US" sz="3000" dirty="0"/>
          </a:p>
        </p:txBody>
      </p:sp>
      <p:sp>
        <p:nvSpPr>
          <p:cNvPr id="6" name="Text 4"/>
          <p:cNvSpPr/>
          <p:nvPr/>
        </p:nvSpPr>
        <p:spPr>
          <a:xfrm>
            <a:off x="457200" y="1572768"/>
            <a:ext cx="11247120" cy="45720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A fact is something that happened. A dimension is the context around it.</a:t>
            </a:r>
            <a:endParaRPr lang="en-US" sz="1300" dirty="0"/>
          </a:p>
        </p:txBody>
      </p:sp>
      <p:sp>
        <p:nvSpPr>
          <p:cNvPr id="7" name="Shape 5"/>
          <p:cNvSpPr/>
          <p:nvPr/>
        </p:nvSpPr>
        <p:spPr>
          <a:xfrm>
            <a:off x="457200" y="1965960"/>
            <a:ext cx="11247120" cy="777240"/>
          </a:xfrm>
          <a:prstGeom prst="rect">
            <a:avLst/>
          </a:prstGeom>
          <a:solidFill>
            <a:srgbClr val="F8FAFC"/>
          </a:solidFill>
          <a:ln/>
        </p:spPr>
        <p:txBody>
          <a:bodyPr/>
          <a:lstStyle/>
          <a:p>
            <a:endParaRPr lang="en-AE"/>
          </a:p>
        </p:txBody>
      </p:sp>
      <p:sp>
        <p:nvSpPr>
          <p:cNvPr id="8" name="Shape 6"/>
          <p:cNvSpPr/>
          <p:nvPr/>
        </p:nvSpPr>
        <p:spPr>
          <a:xfrm>
            <a:off x="457200" y="1965960"/>
            <a:ext cx="91440" cy="777240"/>
          </a:xfrm>
          <a:prstGeom prst="rect">
            <a:avLst/>
          </a:prstGeom>
          <a:solidFill>
            <a:srgbClr val="FF6B35"/>
          </a:solidFill>
          <a:ln/>
        </p:spPr>
        <p:txBody>
          <a:bodyPr/>
          <a:lstStyle/>
          <a:p>
            <a:endParaRPr lang="en-AE"/>
          </a:p>
        </p:txBody>
      </p:sp>
      <p:sp>
        <p:nvSpPr>
          <p:cNvPr id="9" name="Text 7"/>
          <p:cNvSpPr/>
          <p:nvPr/>
        </p:nvSpPr>
        <p:spPr>
          <a:xfrm>
            <a:off x="731520" y="2011680"/>
            <a:ext cx="10972800" cy="704088"/>
          </a:xfrm>
          <a:prstGeom prst="rect">
            <a:avLst/>
          </a:prstGeom>
          <a:noFill/>
          <a:ln/>
        </p:spPr>
        <p:txBody>
          <a:bodyPr wrap="square" lIns="0" tIns="0" rIns="0" bIns="0" rtlCol="0" anchor="ctr"/>
          <a:lstStyle/>
          <a:p>
            <a:pPr marL="0" indent="0">
              <a:buNone/>
            </a:pPr>
            <a:r>
              <a:rPr lang="en-US" sz="1900" b="1" dirty="0">
                <a:solidFill>
                  <a:srgbClr val="FF6B35"/>
                </a:solidFill>
                <a:latin typeface="Calibri" pitchFamily="34" charset="0"/>
                <a:ea typeface="Calibri" pitchFamily="34" charset="-122"/>
                <a:cs typeface="Calibri" pitchFamily="34" charset="-120"/>
              </a:rPr>
              <a:t>Ravi</a:t>
            </a:r>
            <a:r>
              <a:rPr lang="en-US" sz="1900" dirty="0">
                <a:solidFill>
                  <a:srgbClr val="0F172A"/>
                </a:solidFill>
                <a:latin typeface="Calibri" pitchFamily="34" charset="0"/>
                <a:ea typeface="Calibri" pitchFamily="34" charset="-122"/>
                <a:cs typeface="Calibri" pitchFamily="34" charset="-120"/>
              </a:rPr>
              <a:t> bought </a:t>
            </a:r>
            <a:r>
              <a:rPr lang="en-US" sz="1900" b="1" dirty="0">
                <a:solidFill>
                  <a:srgbClr val="DB2777"/>
                </a:solidFill>
                <a:latin typeface="Calibri" pitchFamily="34" charset="0"/>
                <a:ea typeface="Calibri" pitchFamily="34" charset="-122"/>
                <a:cs typeface="Calibri" pitchFamily="34" charset="-120"/>
              </a:rPr>
              <a:t>2 iPhones</a:t>
            </a:r>
            <a:r>
              <a:rPr lang="en-US" sz="1900" dirty="0">
                <a:solidFill>
                  <a:srgbClr val="0F172A"/>
                </a:solidFill>
                <a:latin typeface="Calibri" pitchFamily="34" charset="0"/>
                <a:ea typeface="Calibri" pitchFamily="34" charset="-122"/>
                <a:cs typeface="Calibri" pitchFamily="34" charset="-120"/>
              </a:rPr>
              <a:t> on </a:t>
            </a:r>
            <a:r>
              <a:rPr lang="en-US" sz="1900" b="1" dirty="0">
                <a:solidFill>
                  <a:srgbClr val="0891B2"/>
                </a:solidFill>
                <a:latin typeface="Calibri" pitchFamily="34" charset="0"/>
                <a:ea typeface="Calibri" pitchFamily="34" charset="-122"/>
                <a:cs typeface="Calibri" pitchFamily="34" charset="-120"/>
              </a:rPr>
              <a:t>Tuesday</a:t>
            </a:r>
            <a:r>
              <a:rPr lang="en-US" sz="1900" dirty="0">
                <a:solidFill>
                  <a:srgbClr val="0F172A"/>
                </a:solidFill>
                <a:latin typeface="Calibri" pitchFamily="34" charset="0"/>
                <a:ea typeface="Calibri" pitchFamily="34" charset="-122"/>
                <a:cs typeface="Calibri" pitchFamily="34" charset="-120"/>
              </a:rPr>
              <a:t> at the </a:t>
            </a:r>
            <a:r>
              <a:rPr lang="en-US" sz="1900" b="1" dirty="0">
                <a:solidFill>
                  <a:srgbClr val="14B8A6"/>
                </a:solidFill>
                <a:latin typeface="Calibri" pitchFamily="34" charset="0"/>
                <a:ea typeface="Calibri" pitchFamily="34" charset="-122"/>
                <a:cs typeface="Calibri" pitchFamily="34" charset="-120"/>
              </a:rPr>
              <a:t>Dubai Mall</a:t>
            </a:r>
            <a:r>
              <a:rPr lang="en-US" sz="1900" dirty="0">
                <a:solidFill>
                  <a:srgbClr val="0F172A"/>
                </a:solidFill>
                <a:latin typeface="Calibri" pitchFamily="34" charset="0"/>
                <a:ea typeface="Calibri" pitchFamily="34" charset="-122"/>
                <a:cs typeface="Calibri" pitchFamily="34" charset="-120"/>
              </a:rPr>
              <a:t> for </a:t>
            </a:r>
            <a:r>
              <a:rPr lang="en-US" sz="1900" b="1" dirty="0">
                <a:solidFill>
                  <a:srgbClr val="F59E0B"/>
                </a:solidFill>
                <a:latin typeface="Calibri" pitchFamily="34" charset="0"/>
                <a:ea typeface="Calibri" pitchFamily="34" charset="-122"/>
                <a:cs typeface="Calibri" pitchFamily="34" charset="-120"/>
              </a:rPr>
              <a:t>AED 7,400</a:t>
            </a:r>
            <a:r>
              <a:rPr lang="en-US" sz="1900" dirty="0">
                <a:solidFill>
                  <a:srgbClr val="0F172A"/>
                </a:solidFill>
                <a:latin typeface="Calibri" pitchFamily="34" charset="0"/>
                <a:ea typeface="Calibri" pitchFamily="34" charset="-122"/>
                <a:cs typeface="Calibri" pitchFamily="34" charset="-120"/>
              </a:rPr>
              <a:t>.</a:t>
            </a:r>
            <a:endParaRPr lang="en-US" sz="1900" dirty="0"/>
          </a:p>
        </p:txBody>
      </p:sp>
      <p:sp>
        <p:nvSpPr>
          <p:cNvPr id="10" name="Shape 8"/>
          <p:cNvSpPr/>
          <p:nvPr/>
        </p:nvSpPr>
        <p:spPr>
          <a:xfrm>
            <a:off x="548640" y="2880360"/>
            <a:ext cx="164592" cy="164592"/>
          </a:xfrm>
          <a:prstGeom prst="ellipse">
            <a:avLst/>
          </a:prstGeom>
          <a:solidFill>
            <a:srgbClr val="FF6B35"/>
          </a:solidFill>
          <a:ln/>
        </p:spPr>
        <p:txBody>
          <a:bodyPr/>
          <a:lstStyle/>
          <a:p>
            <a:endParaRPr lang="en-AE"/>
          </a:p>
        </p:txBody>
      </p:sp>
      <p:sp>
        <p:nvSpPr>
          <p:cNvPr id="11" name="Text 9"/>
          <p:cNvSpPr/>
          <p:nvPr/>
        </p:nvSpPr>
        <p:spPr>
          <a:xfrm>
            <a:off x="777240" y="2834640"/>
            <a:ext cx="2286000" cy="256032"/>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CUSTOMER (dim)</a:t>
            </a:r>
            <a:endParaRPr lang="en-US" sz="1000" dirty="0"/>
          </a:p>
        </p:txBody>
      </p:sp>
      <p:sp>
        <p:nvSpPr>
          <p:cNvPr id="12" name="Shape 10"/>
          <p:cNvSpPr/>
          <p:nvPr/>
        </p:nvSpPr>
        <p:spPr>
          <a:xfrm>
            <a:off x="2834640" y="2880360"/>
            <a:ext cx="164592" cy="164592"/>
          </a:xfrm>
          <a:prstGeom prst="ellipse">
            <a:avLst/>
          </a:prstGeom>
          <a:solidFill>
            <a:srgbClr val="DB2777"/>
          </a:solidFill>
          <a:ln/>
        </p:spPr>
        <p:txBody>
          <a:bodyPr/>
          <a:lstStyle/>
          <a:p>
            <a:endParaRPr lang="en-AE"/>
          </a:p>
        </p:txBody>
      </p:sp>
      <p:sp>
        <p:nvSpPr>
          <p:cNvPr id="13" name="Text 11"/>
          <p:cNvSpPr/>
          <p:nvPr/>
        </p:nvSpPr>
        <p:spPr>
          <a:xfrm>
            <a:off x="3063240" y="2834640"/>
            <a:ext cx="2286000" cy="256032"/>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QTY (fact)</a:t>
            </a:r>
            <a:endParaRPr lang="en-US" sz="1000" dirty="0"/>
          </a:p>
        </p:txBody>
      </p:sp>
      <p:sp>
        <p:nvSpPr>
          <p:cNvPr id="14" name="Shape 12"/>
          <p:cNvSpPr/>
          <p:nvPr/>
        </p:nvSpPr>
        <p:spPr>
          <a:xfrm>
            <a:off x="4754880" y="2880360"/>
            <a:ext cx="164592" cy="164592"/>
          </a:xfrm>
          <a:prstGeom prst="ellipse">
            <a:avLst/>
          </a:prstGeom>
          <a:solidFill>
            <a:srgbClr val="0891B2"/>
          </a:solidFill>
          <a:ln/>
        </p:spPr>
        <p:txBody>
          <a:bodyPr/>
          <a:lstStyle/>
          <a:p>
            <a:endParaRPr lang="en-AE"/>
          </a:p>
        </p:txBody>
      </p:sp>
      <p:sp>
        <p:nvSpPr>
          <p:cNvPr id="15" name="Text 13"/>
          <p:cNvSpPr/>
          <p:nvPr/>
        </p:nvSpPr>
        <p:spPr>
          <a:xfrm>
            <a:off x="4983480" y="2834640"/>
            <a:ext cx="2286000" cy="256032"/>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DATE (dim)</a:t>
            </a:r>
            <a:endParaRPr lang="en-US" sz="1000" dirty="0"/>
          </a:p>
        </p:txBody>
      </p:sp>
      <p:sp>
        <p:nvSpPr>
          <p:cNvPr id="16" name="Shape 14"/>
          <p:cNvSpPr/>
          <p:nvPr/>
        </p:nvSpPr>
        <p:spPr>
          <a:xfrm>
            <a:off x="6766560" y="2880360"/>
            <a:ext cx="164592" cy="164592"/>
          </a:xfrm>
          <a:prstGeom prst="ellipse">
            <a:avLst/>
          </a:prstGeom>
          <a:solidFill>
            <a:srgbClr val="14B8A6"/>
          </a:solidFill>
          <a:ln/>
        </p:spPr>
        <p:txBody>
          <a:bodyPr/>
          <a:lstStyle/>
          <a:p>
            <a:endParaRPr lang="en-AE"/>
          </a:p>
        </p:txBody>
      </p:sp>
      <p:sp>
        <p:nvSpPr>
          <p:cNvPr id="17" name="Text 15"/>
          <p:cNvSpPr/>
          <p:nvPr/>
        </p:nvSpPr>
        <p:spPr>
          <a:xfrm>
            <a:off x="6995160" y="2834640"/>
            <a:ext cx="2286000" cy="256032"/>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STORE (dim)</a:t>
            </a:r>
            <a:endParaRPr lang="en-US" sz="1000" dirty="0"/>
          </a:p>
        </p:txBody>
      </p:sp>
      <p:sp>
        <p:nvSpPr>
          <p:cNvPr id="18" name="Shape 16"/>
          <p:cNvSpPr/>
          <p:nvPr/>
        </p:nvSpPr>
        <p:spPr>
          <a:xfrm>
            <a:off x="8961120" y="2880360"/>
            <a:ext cx="164592" cy="164592"/>
          </a:xfrm>
          <a:prstGeom prst="ellipse">
            <a:avLst/>
          </a:prstGeom>
          <a:solidFill>
            <a:srgbClr val="F59E0B"/>
          </a:solidFill>
          <a:ln/>
        </p:spPr>
        <p:txBody>
          <a:bodyPr/>
          <a:lstStyle/>
          <a:p>
            <a:endParaRPr lang="en-AE"/>
          </a:p>
        </p:txBody>
      </p:sp>
      <p:sp>
        <p:nvSpPr>
          <p:cNvPr id="19" name="Text 17"/>
          <p:cNvSpPr/>
          <p:nvPr/>
        </p:nvSpPr>
        <p:spPr>
          <a:xfrm>
            <a:off x="9189720" y="2834640"/>
            <a:ext cx="2286000" cy="256032"/>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AMOUNT (fact)</a:t>
            </a:r>
            <a:endParaRPr lang="en-US" sz="1000" dirty="0"/>
          </a:p>
        </p:txBody>
      </p:sp>
      <p:sp>
        <p:nvSpPr>
          <p:cNvPr id="20" name="Shape 18"/>
          <p:cNvSpPr/>
          <p:nvPr/>
        </p:nvSpPr>
        <p:spPr>
          <a:xfrm>
            <a:off x="457200" y="3337560"/>
            <a:ext cx="2651760" cy="457200"/>
          </a:xfrm>
          <a:prstGeom prst="rect">
            <a:avLst/>
          </a:prstGeom>
          <a:solidFill>
            <a:srgbClr val="FF6B35"/>
          </a:solidFill>
          <a:ln/>
        </p:spPr>
        <p:txBody>
          <a:bodyPr/>
          <a:lstStyle/>
          <a:p>
            <a:endParaRPr lang="en-AE"/>
          </a:p>
        </p:txBody>
      </p:sp>
      <p:sp>
        <p:nvSpPr>
          <p:cNvPr id="21" name="Text 19"/>
          <p:cNvSpPr/>
          <p:nvPr/>
        </p:nvSpPr>
        <p:spPr>
          <a:xfrm>
            <a:off x="457200" y="3337560"/>
            <a:ext cx="265176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FACT_SALES</a:t>
            </a:r>
            <a:endParaRPr lang="en-US" sz="1400" dirty="0"/>
          </a:p>
        </p:txBody>
      </p:sp>
      <p:sp>
        <p:nvSpPr>
          <p:cNvPr id="22" name="Shape 20"/>
          <p:cNvSpPr/>
          <p:nvPr/>
        </p:nvSpPr>
        <p:spPr>
          <a:xfrm>
            <a:off x="457200" y="3794760"/>
            <a:ext cx="2651760" cy="2377440"/>
          </a:xfrm>
          <a:prstGeom prst="rect">
            <a:avLst/>
          </a:prstGeom>
          <a:solidFill>
            <a:srgbClr val="F8FAFC"/>
          </a:solidFill>
          <a:ln w="12700">
            <a:solidFill>
              <a:srgbClr val="E2E8F0"/>
            </a:solidFill>
            <a:prstDash val="solid"/>
          </a:ln>
        </p:spPr>
        <p:txBody>
          <a:bodyPr/>
          <a:lstStyle/>
          <a:p>
            <a:endParaRPr lang="en-AE"/>
          </a:p>
        </p:txBody>
      </p:sp>
      <p:sp>
        <p:nvSpPr>
          <p:cNvPr id="23" name="Text 21"/>
          <p:cNvSpPr/>
          <p:nvPr/>
        </p:nvSpPr>
        <p:spPr>
          <a:xfrm>
            <a:off x="594360" y="3886200"/>
            <a:ext cx="2377440" cy="256032"/>
          </a:xfrm>
          <a:prstGeom prst="rect">
            <a:avLst/>
          </a:prstGeom>
          <a:noFill/>
          <a:ln/>
        </p:spPr>
        <p:txBody>
          <a:bodyPr wrap="square" lIns="0" tIns="0" rIns="0" bIns="0" rtlCol="0" anchor="ctr"/>
          <a:lstStyle/>
          <a:p>
            <a:pPr marL="0" indent="0">
              <a:buNone/>
            </a:pPr>
            <a:r>
              <a:rPr lang="en-US" sz="1000" dirty="0">
                <a:solidFill>
                  <a:srgbClr val="1E293B"/>
                </a:solidFill>
                <a:latin typeface="Consolas" pitchFamily="34" charset="0"/>
                <a:ea typeface="Consolas" pitchFamily="34" charset="-122"/>
                <a:cs typeface="Consolas" pitchFamily="34" charset="-120"/>
              </a:rPr>
              <a:t>sale_id (PK)</a:t>
            </a:r>
            <a:endParaRPr lang="en-US" sz="1000" dirty="0"/>
          </a:p>
        </p:txBody>
      </p:sp>
      <p:sp>
        <p:nvSpPr>
          <p:cNvPr id="24" name="Text 22"/>
          <p:cNvSpPr/>
          <p:nvPr/>
        </p:nvSpPr>
        <p:spPr>
          <a:xfrm>
            <a:off x="594360" y="4160520"/>
            <a:ext cx="2377440" cy="256032"/>
          </a:xfrm>
          <a:prstGeom prst="rect">
            <a:avLst/>
          </a:prstGeom>
          <a:noFill/>
          <a:ln/>
        </p:spPr>
        <p:txBody>
          <a:bodyPr wrap="square" lIns="0" tIns="0" rIns="0" bIns="0" rtlCol="0" anchor="ctr"/>
          <a:lstStyle/>
          <a:p>
            <a:pPr marL="0" indent="0">
              <a:buNone/>
            </a:pPr>
            <a:r>
              <a:rPr lang="en-US" sz="1000" dirty="0">
                <a:solidFill>
                  <a:srgbClr val="1E293B"/>
                </a:solidFill>
                <a:latin typeface="Consolas" pitchFamily="34" charset="0"/>
                <a:ea typeface="Consolas" pitchFamily="34" charset="-122"/>
                <a:cs typeface="Consolas" pitchFamily="34" charset="-120"/>
              </a:rPr>
              <a:t>customer_id (FK)</a:t>
            </a:r>
            <a:endParaRPr lang="en-US" sz="1000" dirty="0"/>
          </a:p>
        </p:txBody>
      </p:sp>
      <p:sp>
        <p:nvSpPr>
          <p:cNvPr id="25" name="Text 23"/>
          <p:cNvSpPr/>
          <p:nvPr/>
        </p:nvSpPr>
        <p:spPr>
          <a:xfrm>
            <a:off x="594360" y="4434840"/>
            <a:ext cx="2377440" cy="256032"/>
          </a:xfrm>
          <a:prstGeom prst="rect">
            <a:avLst/>
          </a:prstGeom>
          <a:noFill/>
          <a:ln/>
        </p:spPr>
        <p:txBody>
          <a:bodyPr wrap="square" lIns="0" tIns="0" rIns="0" bIns="0" rtlCol="0" anchor="ctr"/>
          <a:lstStyle/>
          <a:p>
            <a:pPr marL="0" indent="0">
              <a:buNone/>
            </a:pPr>
            <a:r>
              <a:rPr lang="en-US" sz="1000" dirty="0">
                <a:solidFill>
                  <a:srgbClr val="1E293B"/>
                </a:solidFill>
                <a:latin typeface="Consolas" pitchFamily="34" charset="0"/>
                <a:ea typeface="Consolas" pitchFamily="34" charset="-122"/>
                <a:cs typeface="Consolas" pitchFamily="34" charset="-120"/>
              </a:rPr>
              <a:t>product_id (FK)</a:t>
            </a:r>
            <a:endParaRPr lang="en-US" sz="1000" dirty="0"/>
          </a:p>
        </p:txBody>
      </p:sp>
      <p:sp>
        <p:nvSpPr>
          <p:cNvPr id="26" name="Text 24"/>
          <p:cNvSpPr/>
          <p:nvPr/>
        </p:nvSpPr>
        <p:spPr>
          <a:xfrm>
            <a:off x="594360" y="4709160"/>
            <a:ext cx="2377440" cy="256032"/>
          </a:xfrm>
          <a:prstGeom prst="rect">
            <a:avLst/>
          </a:prstGeom>
          <a:noFill/>
          <a:ln/>
        </p:spPr>
        <p:txBody>
          <a:bodyPr wrap="square" lIns="0" tIns="0" rIns="0" bIns="0" rtlCol="0" anchor="ctr"/>
          <a:lstStyle/>
          <a:p>
            <a:pPr marL="0" indent="0">
              <a:buNone/>
            </a:pPr>
            <a:r>
              <a:rPr lang="en-US" sz="1000" dirty="0">
                <a:solidFill>
                  <a:srgbClr val="1E293B"/>
                </a:solidFill>
                <a:latin typeface="Consolas" pitchFamily="34" charset="0"/>
                <a:ea typeface="Consolas" pitchFamily="34" charset="-122"/>
                <a:cs typeface="Consolas" pitchFamily="34" charset="-120"/>
              </a:rPr>
              <a:t>date_id (FK)</a:t>
            </a:r>
            <a:endParaRPr lang="en-US" sz="1000" dirty="0"/>
          </a:p>
        </p:txBody>
      </p:sp>
      <p:sp>
        <p:nvSpPr>
          <p:cNvPr id="27" name="Text 25"/>
          <p:cNvSpPr/>
          <p:nvPr/>
        </p:nvSpPr>
        <p:spPr>
          <a:xfrm>
            <a:off x="594360" y="4983480"/>
            <a:ext cx="2377440" cy="256032"/>
          </a:xfrm>
          <a:prstGeom prst="rect">
            <a:avLst/>
          </a:prstGeom>
          <a:noFill/>
          <a:ln/>
        </p:spPr>
        <p:txBody>
          <a:bodyPr wrap="square" lIns="0" tIns="0" rIns="0" bIns="0" rtlCol="0" anchor="ctr"/>
          <a:lstStyle/>
          <a:p>
            <a:pPr marL="0" indent="0">
              <a:buNone/>
            </a:pPr>
            <a:r>
              <a:rPr lang="en-US" sz="1000" dirty="0">
                <a:solidFill>
                  <a:srgbClr val="1E293B"/>
                </a:solidFill>
                <a:latin typeface="Consolas" pitchFamily="34" charset="0"/>
                <a:ea typeface="Consolas" pitchFamily="34" charset="-122"/>
                <a:cs typeface="Consolas" pitchFamily="34" charset="-120"/>
              </a:rPr>
              <a:t>store_id (FK)</a:t>
            </a:r>
            <a:endParaRPr lang="en-US" sz="1000" dirty="0"/>
          </a:p>
        </p:txBody>
      </p:sp>
      <p:sp>
        <p:nvSpPr>
          <p:cNvPr id="28" name="Text 26"/>
          <p:cNvSpPr/>
          <p:nvPr/>
        </p:nvSpPr>
        <p:spPr>
          <a:xfrm>
            <a:off x="594360" y="5532120"/>
            <a:ext cx="2377440" cy="256032"/>
          </a:xfrm>
          <a:prstGeom prst="rect">
            <a:avLst/>
          </a:prstGeom>
          <a:noFill/>
          <a:ln/>
        </p:spPr>
        <p:txBody>
          <a:bodyPr wrap="square" lIns="0" tIns="0" rIns="0" bIns="0" rtlCol="0" anchor="ctr"/>
          <a:lstStyle/>
          <a:p>
            <a:pPr marL="0" indent="0">
              <a:buNone/>
            </a:pPr>
            <a:r>
              <a:rPr lang="en-US" sz="1000" dirty="0">
                <a:solidFill>
                  <a:srgbClr val="1E293B"/>
                </a:solidFill>
                <a:latin typeface="Consolas" pitchFamily="34" charset="0"/>
                <a:ea typeface="Consolas" pitchFamily="34" charset="-122"/>
                <a:cs typeface="Consolas" pitchFamily="34" charset="-120"/>
              </a:rPr>
              <a:t>quantity → MEASURE</a:t>
            </a:r>
            <a:endParaRPr lang="en-US" sz="1000" dirty="0"/>
          </a:p>
        </p:txBody>
      </p:sp>
      <p:sp>
        <p:nvSpPr>
          <p:cNvPr id="29" name="Text 27"/>
          <p:cNvSpPr/>
          <p:nvPr/>
        </p:nvSpPr>
        <p:spPr>
          <a:xfrm>
            <a:off x="594360" y="5806440"/>
            <a:ext cx="2377440" cy="256032"/>
          </a:xfrm>
          <a:prstGeom prst="rect">
            <a:avLst/>
          </a:prstGeom>
          <a:noFill/>
          <a:ln/>
        </p:spPr>
        <p:txBody>
          <a:bodyPr wrap="square" lIns="0" tIns="0" rIns="0" bIns="0" rtlCol="0" anchor="ctr"/>
          <a:lstStyle/>
          <a:p>
            <a:pPr marL="0" indent="0">
              <a:buNone/>
            </a:pPr>
            <a:r>
              <a:rPr lang="en-US" sz="1000" dirty="0">
                <a:solidFill>
                  <a:srgbClr val="1E293B"/>
                </a:solidFill>
                <a:latin typeface="Consolas" pitchFamily="34" charset="0"/>
                <a:ea typeface="Consolas" pitchFamily="34" charset="-122"/>
                <a:cs typeface="Consolas" pitchFamily="34" charset="-120"/>
              </a:rPr>
              <a:t>amount → MEASURE</a:t>
            </a:r>
            <a:endParaRPr lang="en-US" sz="1000" dirty="0"/>
          </a:p>
        </p:txBody>
      </p:sp>
      <p:sp>
        <p:nvSpPr>
          <p:cNvPr id="30" name="Shape 28"/>
          <p:cNvSpPr/>
          <p:nvPr/>
        </p:nvSpPr>
        <p:spPr>
          <a:xfrm>
            <a:off x="3291840" y="3337560"/>
            <a:ext cx="2651760" cy="457200"/>
          </a:xfrm>
          <a:prstGeom prst="rect">
            <a:avLst/>
          </a:prstGeom>
          <a:solidFill>
            <a:srgbClr val="DB2777"/>
          </a:solidFill>
          <a:ln/>
        </p:spPr>
        <p:txBody>
          <a:bodyPr/>
          <a:lstStyle/>
          <a:p>
            <a:endParaRPr lang="en-AE"/>
          </a:p>
        </p:txBody>
      </p:sp>
      <p:sp>
        <p:nvSpPr>
          <p:cNvPr id="31" name="Text 29"/>
          <p:cNvSpPr/>
          <p:nvPr/>
        </p:nvSpPr>
        <p:spPr>
          <a:xfrm>
            <a:off x="3291840" y="3337560"/>
            <a:ext cx="265176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DIM_CUSTOMER</a:t>
            </a:r>
            <a:endParaRPr lang="en-US" sz="1400" dirty="0"/>
          </a:p>
        </p:txBody>
      </p:sp>
      <p:sp>
        <p:nvSpPr>
          <p:cNvPr id="32" name="Shape 30"/>
          <p:cNvSpPr/>
          <p:nvPr/>
        </p:nvSpPr>
        <p:spPr>
          <a:xfrm>
            <a:off x="3291840" y="3794760"/>
            <a:ext cx="2651760" cy="2377440"/>
          </a:xfrm>
          <a:prstGeom prst="rect">
            <a:avLst/>
          </a:prstGeom>
          <a:solidFill>
            <a:srgbClr val="F8FAFC"/>
          </a:solidFill>
          <a:ln w="12700">
            <a:solidFill>
              <a:srgbClr val="E2E8F0"/>
            </a:solidFill>
            <a:prstDash val="solid"/>
          </a:ln>
        </p:spPr>
        <p:txBody>
          <a:bodyPr/>
          <a:lstStyle/>
          <a:p>
            <a:endParaRPr lang="en-AE"/>
          </a:p>
        </p:txBody>
      </p:sp>
      <p:sp>
        <p:nvSpPr>
          <p:cNvPr id="33" name="Text 31"/>
          <p:cNvSpPr/>
          <p:nvPr/>
        </p:nvSpPr>
        <p:spPr>
          <a:xfrm>
            <a:off x="3429000" y="3886200"/>
            <a:ext cx="2377440" cy="256032"/>
          </a:xfrm>
          <a:prstGeom prst="rect">
            <a:avLst/>
          </a:prstGeom>
          <a:noFill/>
          <a:ln/>
        </p:spPr>
        <p:txBody>
          <a:bodyPr wrap="square" lIns="0" tIns="0" rIns="0" bIns="0" rtlCol="0" anchor="ctr"/>
          <a:lstStyle/>
          <a:p>
            <a:pPr marL="0" indent="0">
              <a:buNone/>
            </a:pPr>
            <a:r>
              <a:rPr lang="en-US" sz="1000" dirty="0">
                <a:solidFill>
                  <a:srgbClr val="1E293B"/>
                </a:solidFill>
                <a:latin typeface="Consolas" pitchFamily="34" charset="0"/>
                <a:ea typeface="Consolas" pitchFamily="34" charset="-122"/>
                <a:cs typeface="Consolas" pitchFamily="34" charset="-120"/>
              </a:rPr>
              <a:t>customer_id (PK)</a:t>
            </a:r>
            <a:endParaRPr lang="en-US" sz="1000" dirty="0"/>
          </a:p>
        </p:txBody>
      </p:sp>
      <p:sp>
        <p:nvSpPr>
          <p:cNvPr id="34" name="Text 32"/>
          <p:cNvSpPr/>
          <p:nvPr/>
        </p:nvSpPr>
        <p:spPr>
          <a:xfrm>
            <a:off x="3429000" y="4160520"/>
            <a:ext cx="2377440" cy="256032"/>
          </a:xfrm>
          <a:prstGeom prst="rect">
            <a:avLst/>
          </a:prstGeom>
          <a:noFill/>
          <a:ln/>
        </p:spPr>
        <p:txBody>
          <a:bodyPr wrap="square" lIns="0" tIns="0" rIns="0" bIns="0" rtlCol="0" anchor="ctr"/>
          <a:lstStyle/>
          <a:p>
            <a:pPr marL="0" indent="0">
              <a:buNone/>
            </a:pPr>
            <a:r>
              <a:rPr lang="en-US" sz="1000" dirty="0">
                <a:solidFill>
                  <a:srgbClr val="1E293B"/>
                </a:solidFill>
                <a:latin typeface="Consolas" pitchFamily="34" charset="0"/>
                <a:ea typeface="Consolas" pitchFamily="34" charset="-122"/>
                <a:cs typeface="Consolas" pitchFamily="34" charset="-120"/>
              </a:rPr>
              <a:t>name</a:t>
            </a:r>
            <a:endParaRPr lang="en-US" sz="1000" dirty="0"/>
          </a:p>
        </p:txBody>
      </p:sp>
      <p:sp>
        <p:nvSpPr>
          <p:cNvPr id="35" name="Text 33"/>
          <p:cNvSpPr/>
          <p:nvPr/>
        </p:nvSpPr>
        <p:spPr>
          <a:xfrm>
            <a:off x="3429000" y="4434840"/>
            <a:ext cx="2377440" cy="256032"/>
          </a:xfrm>
          <a:prstGeom prst="rect">
            <a:avLst/>
          </a:prstGeom>
          <a:noFill/>
          <a:ln/>
        </p:spPr>
        <p:txBody>
          <a:bodyPr wrap="square" lIns="0" tIns="0" rIns="0" bIns="0" rtlCol="0" anchor="ctr"/>
          <a:lstStyle/>
          <a:p>
            <a:pPr marL="0" indent="0">
              <a:buNone/>
            </a:pPr>
            <a:r>
              <a:rPr lang="en-US" sz="1000" dirty="0">
                <a:solidFill>
                  <a:srgbClr val="1E293B"/>
                </a:solidFill>
                <a:latin typeface="Consolas" pitchFamily="34" charset="0"/>
                <a:ea typeface="Consolas" pitchFamily="34" charset="-122"/>
                <a:cs typeface="Consolas" pitchFamily="34" charset="-120"/>
              </a:rPr>
              <a:t>age</a:t>
            </a:r>
            <a:endParaRPr lang="en-US" sz="1000" dirty="0"/>
          </a:p>
        </p:txBody>
      </p:sp>
      <p:sp>
        <p:nvSpPr>
          <p:cNvPr id="36" name="Text 34"/>
          <p:cNvSpPr/>
          <p:nvPr/>
        </p:nvSpPr>
        <p:spPr>
          <a:xfrm>
            <a:off x="3429000" y="4709160"/>
            <a:ext cx="2377440" cy="256032"/>
          </a:xfrm>
          <a:prstGeom prst="rect">
            <a:avLst/>
          </a:prstGeom>
          <a:noFill/>
          <a:ln/>
        </p:spPr>
        <p:txBody>
          <a:bodyPr wrap="square" lIns="0" tIns="0" rIns="0" bIns="0" rtlCol="0" anchor="ctr"/>
          <a:lstStyle/>
          <a:p>
            <a:pPr marL="0" indent="0">
              <a:buNone/>
            </a:pPr>
            <a:r>
              <a:rPr lang="en-US" sz="1000" dirty="0">
                <a:solidFill>
                  <a:srgbClr val="1E293B"/>
                </a:solidFill>
                <a:latin typeface="Consolas" pitchFamily="34" charset="0"/>
                <a:ea typeface="Consolas" pitchFamily="34" charset="-122"/>
                <a:cs typeface="Consolas" pitchFamily="34" charset="-120"/>
              </a:rPr>
              <a:t>tier</a:t>
            </a:r>
            <a:endParaRPr lang="en-US" sz="1000" dirty="0"/>
          </a:p>
        </p:txBody>
      </p:sp>
      <p:sp>
        <p:nvSpPr>
          <p:cNvPr id="37" name="Text 35"/>
          <p:cNvSpPr/>
          <p:nvPr/>
        </p:nvSpPr>
        <p:spPr>
          <a:xfrm>
            <a:off x="3429000" y="4983480"/>
            <a:ext cx="2377440" cy="256032"/>
          </a:xfrm>
          <a:prstGeom prst="rect">
            <a:avLst/>
          </a:prstGeom>
          <a:noFill/>
          <a:ln/>
        </p:spPr>
        <p:txBody>
          <a:bodyPr wrap="square" lIns="0" tIns="0" rIns="0" bIns="0" rtlCol="0" anchor="ctr"/>
          <a:lstStyle/>
          <a:p>
            <a:pPr marL="0" indent="0">
              <a:buNone/>
            </a:pPr>
            <a:r>
              <a:rPr lang="en-US" sz="1000" dirty="0">
                <a:solidFill>
                  <a:srgbClr val="1E293B"/>
                </a:solidFill>
                <a:latin typeface="Consolas" pitchFamily="34" charset="0"/>
                <a:ea typeface="Consolas" pitchFamily="34" charset="-122"/>
                <a:cs typeface="Consolas" pitchFamily="34" charset="-120"/>
              </a:rPr>
              <a:t>city</a:t>
            </a:r>
            <a:endParaRPr lang="en-US" sz="1000" dirty="0"/>
          </a:p>
        </p:txBody>
      </p:sp>
      <p:sp>
        <p:nvSpPr>
          <p:cNvPr id="38" name="Text 36"/>
          <p:cNvSpPr/>
          <p:nvPr/>
        </p:nvSpPr>
        <p:spPr>
          <a:xfrm>
            <a:off x="3429000" y="5257800"/>
            <a:ext cx="2377440" cy="256032"/>
          </a:xfrm>
          <a:prstGeom prst="rect">
            <a:avLst/>
          </a:prstGeom>
          <a:noFill/>
          <a:ln/>
        </p:spPr>
        <p:txBody>
          <a:bodyPr wrap="square" lIns="0" tIns="0" rIns="0" bIns="0" rtlCol="0" anchor="ctr"/>
          <a:lstStyle/>
          <a:p>
            <a:pPr marL="0" indent="0">
              <a:buNone/>
            </a:pPr>
            <a:r>
              <a:rPr lang="en-US" sz="1000" dirty="0">
                <a:solidFill>
                  <a:srgbClr val="1E293B"/>
                </a:solidFill>
                <a:latin typeface="Consolas" pitchFamily="34" charset="0"/>
                <a:ea typeface="Consolas" pitchFamily="34" charset="-122"/>
                <a:cs typeface="Consolas" pitchFamily="34" charset="-120"/>
              </a:rPr>
              <a:t>country</a:t>
            </a:r>
            <a:endParaRPr lang="en-US" sz="1000" dirty="0"/>
          </a:p>
        </p:txBody>
      </p:sp>
      <p:sp>
        <p:nvSpPr>
          <p:cNvPr id="39" name="Shape 37"/>
          <p:cNvSpPr/>
          <p:nvPr/>
        </p:nvSpPr>
        <p:spPr>
          <a:xfrm>
            <a:off x="6126480" y="3337560"/>
            <a:ext cx="2651760" cy="457200"/>
          </a:xfrm>
          <a:prstGeom prst="rect">
            <a:avLst/>
          </a:prstGeom>
          <a:solidFill>
            <a:srgbClr val="14B8A6"/>
          </a:solidFill>
          <a:ln/>
        </p:spPr>
        <p:txBody>
          <a:bodyPr/>
          <a:lstStyle/>
          <a:p>
            <a:endParaRPr lang="en-AE"/>
          </a:p>
        </p:txBody>
      </p:sp>
      <p:sp>
        <p:nvSpPr>
          <p:cNvPr id="40" name="Text 38"/>
          <p:cNvSpPr/>
          <p:nvPr/>
        </p:nvSpPr>
        <p:spPr>
          <a:xfrm>
            <a:off x="6126480" y="3337560"/>
            <a:ext cx="265176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DIM_PRODUCT</a:t>
            </a:r>
            <a:endParaRPr lang="en-US" sz="1400" dirty="0"/>
          </a:p>
        </p:txBody>
      </p:sp>
      <p:sp>
        <p:nvSpPr>
          <p:cNvPr id="41" name="Shape 39"/>
          <p:cNvSpPr/>
          <p:nvPr/>
        </p:nvSpPr>
        <p:spPr>
          <a:xfrm>
            <a:off x="6126480" y="3794760"/>
            <a:ext cx="2651760" cy="2377440"/>
          </a:xfrm>
          <a:prstGeom prst="rect">
            <a:avLst/>
          </a:prstGeom>
          <a:solidFill>
            <a:srgbClr val="F8FAFC"/>
          </a:solidFill>
          <a:ln w="12700">
            <a:solidFill>
              <a:srgbClr val="E2E8F0"/>
            </a:solidFill>
            <a:prstDash val="solid"/>
          </a:ln>
        </p:spPr>
        <p:txBody>
          <a:bodyPr/>
          <a:lstStyle/>
          <a:p>
            <a:endParaRPr lang="en-AE"/>
          </a:p>
        </p:txBody>
      </p:sp>
      <p:sp>
        <p:nvSpPr>
          <p:cNvPr id="42" name="Text 40"/>
          <p:cNvSpPr/>
          <p:nvPr/>
        </p:nvSpPr>
        <p:spPr>
          <a:xfrm>
            <a:off x="6263640" y="3886200"/>
            <a:ext cx="2377440" cy="256032"/>
          </a:xfrm>
          <a:prstGeom prst="rect">
            <a:avLst/>
          </a:prstGeom>
          <a:noFill/>
          <a:ln/>
        </p:spPr>
        <p:txBody>
          <a:bodyPr wrap="square" lIns="0" tIns="0" rIns="0" bIns="0" rtlCol="0" anchor="ctr"/>
          <a:lstStyle/>
          <a:p>
            <a:pPr marL="0" indent="0">
              <a:buNone/>
            </a:pPr>
            <a:r>
              <a:rPr lang="en-US" sz="1000" dirty="0">
                <a:solidFill>
                  <a:srgbClr val="1E293B"/>
                </a:solidFill>
                <a:latin typeface="Consolas" pitchFamily="34" charset="0"/>
                <a:ea typeface="Consolas" pitchFamily="34" charset="-122"/>
                <a:cs typeface="Consolas" pitchFamily="34" charset="-120"/>
              </a:rPr>
              <a:t>product_id (PK)</a:t>
            </a:r>
            <a:endParaRPr lang="en-US" sz="1000" dirty="0"/>
          </a:p>
        </p:txBody>
      </p:sp>
      <p:sp>
        <p:nvSpPr>
          <p:cNvPr id="43" name="Text 41"/>
          <p:cNvSpPr/>
          <p:nvPr/>
        </p:nvSpPr>
        <p:spPr>
          <a:xfrm>
            <a:off x="6263640" y="4160520"/>
            <a:ext cx="2377440" cy="256032"/>
          </a:xfrm>
          <a:prstGeom prst="rect">
            <a:avLst/>
          </a:prstGeom>
          <a:noFill/>
          <a:ln/>
        </p:spPr>
        <p:txBody>
          <a:bodyPr wrap="square" lIns="0" tIns="0" rIns="0" bIns="0" rtlCol="0" anchor="ctr"/>
          <a:lstStyle/>
          <a:p>
            <a:pPr marL="0" indent="0">
              <a:buNone/>
            </a:pPr>
            <a:r>
              <a:rPr lang="en-US" sz="1000" dirty="0">
                <a:solidFill>
                  <a:srgbClr val="1E293B"/>
                </a:solidFill>
                <a:latin typeface="Consolas" pitchFamily="34" charset="0"/>
                <a:ea typeface="Consolas" pitchFamily="34" charset="-122"/>
                <a:cs typeface="Consolas" pitchFamily="34" charset="-120"/>
              </a:rPr>
              <a:t>name</a:t>
            </a:r>
            <a:endParaRPr lang="en-US" sz="1000" dirty="0"/>
          </a:p>
        </p:txBody>
      </p:sp>
      <p:sp>
        <p:nvSpPr>
          <p:cNvPr id="44" name="Text 42"/>
          <p:cNvSpPr/>
          <p:nvPr/>
        </p:nvSpPr>
        <p:spPr>
          <a:xfrm>
            <a:off x="6263640" y="4434840"/>
            <a:ext cx="2377440" cy="256032"/>
          </a:xfrm>
          <a:prstGeom prst="rect">
            <a:avLst/>
          </a:prstGeom>
          <a:noFill/>
          <a:ln/>
        </p:spPr>
        <p:txBody>
          <a:bodyPr wrap="square" lIns="0" tIns="0" rIns="0" bIns="0" rtlCol="0" anchor="ctr"/>
          <a:lstStyle/>
          <a:p>
            <a:pPr marL="0" indent="0">
              <a:buNone/>
            </a:pPr>
            <a:r>
              <a:rPr lang="en-US" sz="1000" dirty="0">
                <a:solidFill>
                  <a:srgbClr val="1E293B"/>
                </a:solidFill>
                <a:latin typeface="Consolas" pitchFamily="34" charset="0"/>
                <a:ea typeface="Consolas" pitchFamily="34" charset="-122"/>
                <a:cs typeface="Consolas" pitchFamily="34" charset="-120"/>
              </a:rPr>
              <a:t>category</a:t>
            </a:r>
            <a:endParaRPr lang="en-US" sz="1000" dirty="0"/>
          </a:p>
        </p:txBody>
      </p:sp>
      <p:sp>
        <p:nvSpPr>
          <p:cNvPr id="45" name="Text 43"/>
          <p:cNvSpPr/>
          <p:nvPr/>
        </p:nvSpPr>
        <p:spPr>
          <a:xfrm>
            <a:off x="6263640" y="4709160"/>
            <a:ext cx="2377440" cy="256032"/>
          </a:xfrm>
          <a:prstGeom prst="rect">
            <a:avLst/>
          </a:prstGeom>
          <a:noFill/>
          <a:ln/>
        </p:spPr>
        <p:txBody>
          <a:bodyPr wrap="square" lIns="0" tIns="0" rIns="0" bIns="0" rtlCol="0" anchor="ctr"/>
          <a:lstStyle/>
          <a:p>
            <a:pPr marL="0" indent="0">
              <a:buNone/>
            </a:pPr>
            <a:r>
              <a:rPr lang="en-US" sz="1000" dirty="0">
                <a:solidFill>
                  <a:srgbClr val="1E293B"/>
                </a:solidFill>
                <a:latin typeface="Consolas" pitchFamily="34" charset="0"/>
                <a:ea typeface="Consolas" pitchFamily="34" charset="-122"/>
                <a:cs typeface="Consolas" pitchFamily="34" charset="-120"/>
              </a:rPr>
              <a:t>brand</a:t>
            </a:r>
            <a:endParaRPr lang="en-US" sz="1000" dirty="0"/>
          </a:p>
        </p:txBody>
      </p:sp>
      <p:sp>
        <p:nvSpPr>
          <p:cNvPr id="46" name="Text 44"/>
          <p:cNvSpPr/>
          <p:nvPr/>
        </p:nvSpPr>
        <p:spPr>
          <a:xfrm>
            <a:off x="6263640" y="4983480"/>
            <a:ext cx="2377440" cy="256032"/>
          </a:xfrm>
          <a:prstGeom prst="rect">
            <a:avLst/>
          </a:prstGeom>
          <a:noFill/>
          <a:ln/>
        </p:spPr>
        <p:txBody>
          <a:bodyPr wrap="square" lIns="0" tIns="0" rIns="0" bIns="0" rtlCol="0" anchor="ctr"/>
          <a:lstStyle/>
          <a:p>
            <a:pPr marL="0" indent="0">
              <a:buNone/>
            </a:pPr>
            <a:r>
              <a:rPr lang="en-US" sz="1000" dirty="0">
                <a:solidFill>
                  <a:srgbClr val="1E293B"/>
                </a:solidFill>
                <a:latin typeface="Consolas" pitchFamily="34" charset="0"/>
                <a:ea typeface="Consolas" pitchFamily="34" charset="-122"/>
                <a:cs typeface="Consolas" pitchFamily="34" charset="-120"/>
              </a:rPr>
              <a:t>price</a:t>
            </a:r>
            <a:endParaRPr lang="en-US" sz="1000" dirty="0"/>
          </a:p>
        </p:txBody>
      </p:sp>
      <p:sp>
        <p:nvSpPr>
          <p:cNvPr id="47" name="Text 45"/>
          <p:cNvSpPr/>
          <p:nvPr/>
        </p:nvSpPr>
        <p:spPr>
          <a:xfrm>
            <a:off x="6263640" y="5257800"/>
            <a:ext cx="2377440" cy="256032"/>
          </a:xfrm>
          <a:prstGeom prst="rect">
            <a:avLst/>
          </a:prstGeom>
          <a:noFill/>
          <a:ln/>
        </p:spPr>
        <p:txBody>
          <a:bodyPr wrap="square" lIns="0" tIns="0" rIns="0" bIns="0" rtlCol="0" anchor="ctr"/>
          <a:lstStyle/>
          <a:p>
            <a:pPr marL="0" indent="0">
              <a:buNone/>
            </a:pPr>
            <a:r>
              <a:rPr lang="en-US" sz="1000" dirty="0">
                <a:solidFill>
                  <a:srgbClr val="1E293B"/>
                </a:solidFill>
                <a:latin typeface="Consolas" pitchFamily="34" charset="0"/>
                <a:ea typeface="Consolas" pitchFamily="34" charset="-122"/>
                <a:cs typeface="Consolas" pitchFamily="34" charset="-120"/>
              </a:rPr>
              <a:t>sku</a:t>
            </a:r>
            <a:endParaRPr lang="en-US" sz="1000" dirty="0"/>
          </a:p>
        </p:txBody>
      </p:sp>
      <p:sp>
        <p:nvSpPr>
          <p:cNvPr id="48" name="Shape 46"/>
          <p:cNvSpPr/>
          <p:nvPr/>
        </p:nvSpPr>
        <p:spPr>
          <a:xfrm>
            <a:off x="8961120" y="3337560"/>
            <a:ext cx="2651760" cy="457200"/>
          </a:xfrm>
          <a:prstGeom prst="rect">
            <a:avLst/>
          </a:prstGeom>
          <a:solidFill>
            <a:srgbClr val="0891B2"/>
          </a:solidFill>
          <a:ln/>
        </p:spPr>
        <p:txBody>
          <a:bodyPr/>
          <a:lstStyle/>
          <a:p>
            <a:endParaRPr lang="en-AE"/>
          </a:p>
        </p:txBody>
      </p:sp>
      <p:sp>
        <p:nvSpPr>
          <p:cNvPr id="49" name="Text 47"/>
          <p:cNvSpPr/>
          <p:nvPr/>
        </p:nvSpPr>
        <p:spPr>
          <a:xfrm>
            <a:off x="8961120" y="3337560"/>
            <a:ext cx="265176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DIM_DATE</a:t>
            </a:r>
            <a:endParaRPr lang="en-US" sz="1400" dirty="0"/>
          </a:p>
        </p:txBody>
      </p:sp>
      <p:sp>
        <p:nvSpPr>
          <p:cNvPr id="50" name="Shape 48"/>
          <p:cNvSpPr/>
          <p:nvPr/>
        </p:nvSpPr>
        <p:spPr>
          <a:xfrm>
            <a:off x="8961120" y="3794760"/>
            <a:ext cx="2651760" cy="2377440"/>
          </a:xfrm>
          <a:prstGeom prst="rect">
            <a:avLst/>
          </a:prstGeom>
          <a:solidFill>
            <a:srgbClr val="F8FAFC"/>
          </a:solidFill>
          <a:ln w="12700">
            <a:solidFill>
              <a:srgbClr val="E2E8F0"/>
            </a:solidFill>
            <a:prstDash val="solid"/>
          </a:ln>
        </p:spPr>
        <p:txBody>
          <a:bodyPr/>
          <a:lstStyle/>
          <a:p>
            <a:endParaRPr lang="en-AE"/>
          </a:p>
        </p:txBody>
      </p:sp>
      <p:sp>
        <p:nvSpPr>
          <p:cNvPr id="51" name="Text 49"/>
          <p:cNvSpPr/>
          <p:nvPr/>
        </p:nvSpPr>
        <p:spPr>
          <a:xfrm>
            <a:off x="9098280" y="3886200"/>
            <a:ext cx="2377440" cy="256032"/>
          </a:xfrm>
          <a:prstGeom prst="rect">
            <a:avLst/>
          </a:prstGeom>
          <a:noFill/>
          <a:ln/>
        </p:spPr>
        <p:txBody>
          <a:bodyPr wrap="square" lIns="0" tIns="0" rIns="0" bIns="0" rtlCol="0" anchor="ctr"/>
          <a:lstStyle/>
          <a:p>
            <a:pPr marL="0" indent="0">
              <a:buNone/>
            </a:pPr>
            <a:r>
              <a:rPr lang="en-US" sz="1000" dirty="0">
                <a:solidFill>
                  <a:srgbClr val="1E293B"/>
                </a:solidFill>
                <a:latin typeface="Consolas" pitchFamily="34" charset="0"/>
                <a:ea typeface="Consolas" pitchFamily="34" charset="-122"/>
                <a:cs typeface="Consolas" pitchFamily="34" charset="-120"/>
              </a:rPr>
              <a:t>date_id (PK)</a:t>
            </a:r>
            <a:endParaRPr lang="en-US" sz="1000" dirty="0"/>
          </a:p>
        </p:txBody>
      </p:sp>
      <p:sp>
        <p:nvSpPr>
          <p:cNvPr id="52" name="Text 50"/>
          <p:cNvSpPr/>
          <p:nvPr/>
        </p:nvSpPr>
        <p:spPr>
          <a:xfrm>
            <a:off x="9098280" y="4160520"/>
            <a:ext cx="2377440" cy="256032"/>
          </a:xfrm>
          <a:prstGeom prst="rect">
            <a:avLst/>
          </a:prstGeom>
          <a:noFill/>
          <a:ln/>
        </p:spPr>
        <p:txBody>
          <a:bodyPr wrap="square" lIns="0" tIns="0" rIns="0" bIns="0" rtlCol="0" anchor="ctr"/>
          <a:lstStyle/>
          <a:p>
            <a:pPr marL="0" indent="0">
              <a:buNone/>
            </a:pPr>
            <a:r>
              <a:rPr lang="en-US" sz="1000" dirty="0">
                <a:solidFill>
                  <a:srgbClr val="1E293B"/>
                </a:solidFill>
                <a:latin typeface="Consolas" pitchFamily="34" charset="0"/>
                <a:ea typeface="Consolas" pitchFamily="34" charset="-122"/>
                <a:cs typeface="Consolas" pitchFamily="34" charset="-120"/>
              </a:rPr>
              <a:t>day</a:t>
            </a:r>
            <a:endParaRPr lang="en-US" sz="1000" dirty="0"/>
          </a:p>
        </p:txBody>
      </p:sp>
      <p:sp>
        <p:nvSpPr>
          <p:cNvPr id="53" name="Text 51"/>
          <p:cNvSpPr/>
          <p:nvPr/>
        </p:nvSpPr>
        <p:spPr>
          <a:xfrm>
            <a:off x="9098280" y="4434840"/>
            <a:ext cx="2377440" cy="256032"/>
          </a:xfrm>
          <a:prstGeom prst="rect">
            <a:avLst/>
          </a:prstGeom>
          <a:noFill/>
          <a:ln/>
        </p:spPr>
        <p:txBody>
          <a:bodyPr wrap="square" lIns="0" tIns="0" rIns="0" bIns="0" rtlCol="0" anchor="ctr"/>
          <a:lstStyle/>
          <a:p>
            <a:pPr marL="0" indent="0">
              <a:buNone/>
            </a:pPr>
            <a:r>
              <a:rPr lang="en-US" sz="1000" dirty="0">
                <a:solidFill>
                  <a:srgbClr val="1E293B"/>
                </a:solidFill>
                <a:latin typeface="Consolas" pitchFamily="34" charset="0"/>
                <a:ea typeface="Consolas" pitchFamily="34" charset="-122"/>
                <a:cs typeface="Consolas" pitchFamily="34" charset="-120"/>
              </a:rPr>
              <a:t>day_of_week</a:t>
            </a:r>
            <a:endParaRPr lang="en-US" sz="1000" dirty="0"/>
          </a:p>
        </p:txBody>
      </p:sp>
      <p:sp>
        <p:nvSpPr>
          <p:cNvPr id="54" name="Text 52"/>
          <p:cNvSpPr/>
          <p:nvPr/>
        </p:nvSpPr>
        <p:spPr>
          <a:xfrm>
            <a:off x="9098280" y="4709160"/>
            <a:ext cx="2377440" cy="256032"/>
          </a:xfrm>
          <a:prstGeom prst="rect">
            <a:avLst/>
          </a:prstGeom>
          <a:noFill/>
          <a:ln/>
        </p:spPr>
        <p:txBody>
          <a:bodyPr wrap="square" lIns="0" tIns="0" rIns="0" bIns="0" rtlCol="0" anchor="ctr"/>
          <a:lstStyle/>
          <a:p>
            <a:pPr marL="0" indent="0">
              <a:buNone/>
            </a:pPr>
            <a:r>
              <a:rPr lang="en-US" sz="1000" dirty="0">
                <a:solidFill>
                  <a:srgbClr val="1E293B"/>
                </a:solidFill>
                <a:latin typeface="Consolas" pitchFamily="34" charset="0"/>
                <a:ea typeface="Consolas" pitchFamily="34" charset="-122"/>
                <a:cs typeface="Consolas" pitchFamily="34" charset="-120"/>
              </a:rPr>
              <a:t>month</a:t>
            </a:r>
            <a:endParaRPr lang="en-US" sz="1000" dirty="0"/>
          </a:p>
        </p:txBody>
      </p:sp>
      <p:sp>
        <p:nvSpPr>
          <p:cNvPr id="55" name="Text 53"/>
          <p:cNvSpPr/>
          <p:nvPr/>
        </p:nvSpPr>
        <p:spPr>
          <a:xfrm>
            <a:off x="9098280" y="4983480"/>
            <a:ext cx="2377440" cy="256032"/>
          </a:xfrm>
          <a:prstGeom prst="rect">
            <a:avLst/>
          </a:prstGeom>
          <a:noFill/>
          <a:ln/>
        </p:spPr>
        <p:txBody>
          <a:bodyPr wrap="square" lIns="0" tIns="0" rIns="0" bIns="0" rtlCol="0" anchor="ctr"/>
          <a:lstStyle/>
          <a:p>
            <a:pPr marL="0" indent="0">
              <a:buNone/>
            </a:pPr>
            <a:r>
              <a:rPr lang="en-US" sz="1000" dirty="0">
                <a:solidFill>
                  <a:srgbClr val="1E293B"/>
                </a:solidFill>
                <a:latin typeface="Consolas" pitchFamily="34" charset="0"/>
                <a:ea typeface="Consolas" pitchFamily="34" charset="-122"/>
                <a:cs typeface="Consolas" pitchFamily="34" charset="-120"/>
              </a:rPr>
              <a:t>quarter</a:t>
            </a:r>
            <a:endParaRPr lang="en-US" sz="1000" dirty="0"/>
          </a:p>
        </p:txBody>
      </p:sp>
      <p:sp>
        <p:nvSpPr>
          <p:cNvPr id="56" name="Text 54"/>
          <p:cNvSpPr/>
          <p:nvPr/>
        </p:nvSpPr>
        <p:spPr>
          <a:xfrm>
            <a:off x="9098280" y="5257800"/>
            <a:ext cx="2377440" cy="256032"/>
          </a:xfrm>
          <a:prstGeom prst="rect">
            <a:avLst/>
          </a:prstGeom>
          <a:noFill/>
          <a:ln/>
        </p:spPr>
        <p:txBody>
          <a:bodyPr wrap="square" lIns="0" tIns="0" rIns="0" bIns="0" rtlCol="0" anchor="ctr"/>
          <a:lstStyle/>
          <a:p>
            <a:pPr marL="0" indent="0">
              <a:buNone/>
            </a:pPr>
            <a:r>
              <a:rPr lang="en-US" sz="1000" dirty="0">
                <a:solidFill>
                  <a:srgbClr val="1E293B"/>
                </a:solidFill>
                <a:latin typeface="Consolas" pitchFamily="34" charset="0"/>
                <a:ea typeface="Consolas" pitchFamily="34" charset="-122"/>
                <a:cs typeface="Consolas" pitchFamily="34" charset="-120"/>
              </a:rPr>
              <a:t>year</a:t>
            </a:r>
            <a:endParaRPr lang="en-US" sz="1000" dirty="0"/>
          </a:p>
        </p:txBody>
      </p:sp>
      <p:sp>
        <p:nvSpPr>
          <p:cNvPr id="57" name="Text 55"/>
          <p:cNvSpPr/>
          <p:nvPr/>
        </p:nvSpPr>
        <p:spPr>
          <a:xfrm>
            <a:off x="9098280" y="5532120"/>
            <a:ext cx="2377440" cy="256032"/>
          </a:xfrm>
          <a:prstGeom prst="rect">
            <a:avLst/>
          </a:prstGeom>
          <a:noFill/>
          <a:ln/>
        </p:spPr>
        <p:txBody>
          <a:bodyPr wrap="square" lIns="0" tIns="0" rIns="0" bIns="0" rtlCol="0" anchor="ctr"/>
          <a:lstStyle/>
          <a:p>
            <a:pPr marL="0" indent="0">
              <a:buNone/>
            </a:pPr>
            <a:r>
              <a:rPr lang="en-US" sz="1000" dirty="0">
                <a:solidFill>
                  <a:srgbClr val="1E293B"/>
                </a:solidFill>
                <a:latin typeface="Consolas" pitchFamily="34" charset="0"/>
                <a:ea typeface="Consolas" pitchFamily="34" charset="-122"/>
                <a:cs typeface="Consolas" pitchFamily="34" charset="-120"/>
              </a:rPr>
              <a:t>is_weekend</a:t>
            </a:r>
            <a:endParaRPr lang="en-US" sz="1000" dirty="0"/>
          </a:p>
        </p:txBody>
      </p:sp>
      <p:sp>
        <p:nvSpPr>
          <p:cNvPr id="58" name="Text 56"/>
          <p:cNvSpPr/>
          <p:nvPr/>
        </p:nvSpPr>
        <p:spPr>
          <a:xfrm>
            <a:off x="9098280" y="5806440"/>
            <a:ext cx="2377440" cy="256032"/>
          </a:xfrm>
          <a:prstGeom prst="rect">
            <a:avLst/>
          </a:prstGeom>
          <a:noFill/>
          <a:ln/>
        </p:spPr>
        <p:txBody>
          <a:bodyPr wrap="square" lIns="0" tIns="0" rIns="0" bIns="0" rtlCol="0" anchor="ctr"/>
          <a:lstStyle/>
          <a:p>
            <a:pPr marL="0" indent="0">
              <a:buNone/>
            </a:pPr>
            <a:r>
              <a:rPr lang="en-US" sz="1000" dirty="0">
                <a:solidFill>
                  <a:srgbClr val="1E293B"/>
                </a:solidFill>
                <a:latin typeface="Consolas" pitchFamily="34" charset="0"/>
                <a:ea typeface="Consolas" pitchFamily="34" charset="-122"/>
                <a:cs typeface="Consolas" pitchFamily="34" charset="-120"/>
              </a:rPr>
              <a:t>is_holiday</a:t>
            </a:r>
            <a:endParaRPr lang="en-US" sz="1000" dirty="0"/>
          </a:p>
        </p:txBody>
      </p:sp>
      <p:sp>
        <p:nvSpPr>
          <p:cNvPr id="59" name="Text 57"/>
          <p:cNvSpPr/>
          <p:nvPr/>
        </p:nvSpPr>
        <p:spPr>
          <a:xfrm>
            <a:off x="10332720" y="6510528"/>
            <a:ext cx="173736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11 / 32  ·  DATA &amp; AI</a:t>
            </a:r>
            <a:endParaRPr lang="en-US" sz="900" dirty="0"/>
          </a:p>
        </p:txBody>
      </p:sp>
      <p:sp>
        <p:nvSpPr>
          <p:cNvPr id="60" name="Text 58"/>
          <p:cNvSpPr/>
          <p:nvPr/>
        </p:nvSpPr>
        <p:spPr>
          <a:xfrm>
            <a:off x="457200" y="6510528"/>
            <a:ext cx="5486400" cy="256032"/>
          </a:xfrm>
          <a:prstGeom prst="rect">
            <a:avLst/>
          </a:prstGeom>
          <a:noFill/>
          <a:ln/>
        </p:spPr>
        <p:txBody>
          <a:bodyPr wrap="square" lIns="0" tIns="0" rIns="0" bIns="0" rtlCol="0" anchor="ctr"/>
          <a:lstStyle/>
          <a:p>
            <a:pPr marL="0" indent="0">
              <a:buNone/>
            </a:pPr>
            <a:r>
              <a:rPr lang="en-US" sz="900" b="1" kern="0" spc="200" dirty="0">
                <a:solidFill>
                  <a:srgbClr val="94A3B8"/>
                </a:solidFill>
                <a:latin typeface="Calibri" pitchFamily="34" charset="0"/>
                <a:ea typeface="Calibri" pitchFamily="34" charset="-122"/>
                <a:cs typeface="Calibri" pitchFamily="34" charset="-120"/>
              </a:rPr>
              <a:t>DIMENSIONAL MODELING</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DB2777"/>
          </a:solidFill>
          <a:ln/>
        </p:spPr>
        <p:txBody>
          <a:bodyPr/>
          <a:lstStyle/>
          <a:p>
            <a:endParaRPr lang="en-AE"/>
          </a:p>
        </p:txBody>
      </p:sp>
      <p:sp>
        <p:nvSpPr>
          <p:cNvPr id="3" name="Shape 1"/>
          <p:cNvSpPr/>
          <p:nvPr/>
        </p:nvSpPr>
        <p:spPr>
          <a:xfrm>
            <a:off x="621792" y="457200"/>
            <a:ext cx="54864" cy="128016"/>
          </a:xfrm>
          <a:prstGeom prst="rect">
            <a:avLst/>
          </a:prstGeom>
          <a:solidFill>
            <a:srgbClr val="0B1437"/>
          </a:solidFill>
          <a:ln/>
        </p:spPr>
        <p:txBody>
          <a:bodyPr/>
          <a:lstStyle/>
          <a:p>
            <a:endParaRPr lang="en-AE"/>
          </a:p>
        </p:txBody>
      </p:sp>
      <p:sp>
        <p:nvSpPr>
          <p:cNvPr id="4" name="Text 2"/>
          <p:cNvSpPr/>
          <p:nvPr/>
        </p:nvSpPr>
        <p:spPr>
          <a:xfrm>
            <a:off x="457200" y="685800"/>
            <a:ext cx="11247120" cy="274320"/>
          </a:xfrm>
          <a:prstGeom prst="rect">
            <a:avLst/>
          </a:prstGeom>
          <a:noFill/>
          <a:ln/>
        </p:spPr>
        <p:txBody>
          <a:bodyPr wrap="square" lIns="0" tIns="0" rIns="0" bIns="0" rtlCol="0" anchor="ctr"/>
          <a:lstStyle/>
          <a:p>
            <a:pPr marL="0" indent="0">
              <a:buNone/>
            </a:pPr>
            <a:r>
              <a:rPr lang="en-US" sz="1100" b="1" kern="0" spc="400" dirty="0">
                <a:solidFill>
                  <a:srgbClr val="DB2777"/>
                </a:solidFill>
                <a:latin typeface="Calibri" pitchFamily="34" charset="0"/>
                <a:ea typeface="Calibri" pitchFamily="34" charset="-122"/>
                <a:cs typeface="Calibri" pitchFamily="34" charset="-120"/>
              </a:rPr>
              <a:t>DIMENSIONAL MODELING</a:t>
            </a:r>
            <a:endParaRPr lang="en-US" sz="1100" dirty="0"/>
          </a:p>
        </p:txBody>
      </p:sp>
      <p:sp>
        <p:nvSpPr>
          <p:cNvPr id="5" name="Text 3"/>
          <p:cNvSpPr/>
          <p:nvPr/>
        </p:nvSpPr>
        <p:spPr>
          <a:xfrm>
            <a:off x="457200" y="932688"/>
            <a:ext cx="1124712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Star  ·  Snowflake  ·  Galaxy.</a:t>
            </a:r>
            <a:endParaRPr lang="en-US" sz="3000" dirty="0"/>
          </a:p>
        </p:txBody>
      </p:sp>
      <p:sp>
        <p:nvSpPr>
          <p:cNvPr id="6" name="Text 4"/>
          <p:cNvSpPr/>
          <p:nvPr/>
        </p:nvSpPr>
        <p:spPr>
          <a:xfrm>
            <a:off x="457200" y="1572768"/>
            <a:ext cx="11247120" cy="45720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Three ways to arrange facts-and-dims. Trade-offs: speed vs storage vs complexity.</a:t>
            </a:r>
            <a:endParaRPr lang="en-US" sz="1300" dirty="0"/>
          </a:p>
        </p:txBody>
      </p:sp>
      <p:pic>
        <p:nvPicPr>
          <p:cNvPr id="7" name="Image 0" descr="images/schemas.png"/>
          <p:cNvPicPr>
            <a:picLocks noChangeAspect="1"/>
          </p:cNvPicPr>
          <p:nvPr/>
        </p:nvPicPr>
        <p:blipFill>
          <a:blip r:embed="rId3"/>
          <a:srcRect/>
          <a:stretch/>
        </p:blipFill>
        <p:spPr>
          <a:xfrm>
            <a:off x="457200" y="2057400"/>
            <a:ext cx="11247120" cy="3703320"/>
          </a:xfrm>
          <a:prstGeom prst="rect">
            <a:avLst/>
          </a:prstGeom>
        </p:spPr>
      </p:pic>
      <p:sp>
        <p:nvSpPr>
          <p:cNvPr id="8" name="Shape 5"/>
          <p:cNvSpPr/>
          <p:nvPr/>
        </p:nvSpPr>
        <p:spPr>
          <a:xfrm>
            <a:off x="457200" y="5852160"/>
            <a:ext cx="11247120" cy="594360"/>
          </a:xfrm>
          <a:prstGeom prst="rect">
            <a:avLst/>
          </a:prstGeom>
          <a:solidFill>
            <a:srgbClr val="0B1437"/>
          </a:solidFill>
          <a:ln/>
        </p:spPr>
        <p:txBody>
          <a:bodyPr/>
          <a:lstStyle/>
          <a:p>
            <a:endParaRPr lang="en-AE"/>
          </a:p>
        </p:txBody>
      </p:sp>
      <p:sp>
        <p:nvSpPr>
          <p:cNvPr id="9" name="Text 6"/>
          <p:cNvSpPr/>
          <p:nvPr/>
        </p:nvSpPr>
        <p:spPr>
          <a:xfrm>
            <a:off x="731520" y="5925312"/>
            <a:ext cx="10972800" cy="457200"/>
          </a:xfrm>
          <a:prstGeom prst="rect">
            <a:avLst/>
          </a:prstGeom>
          <a:noFill/>
          <a:ln/>
        </p:spPr>
        <p:txBody>
          <a:bodyPr wrap="square" lIns="0" tIns="0" rIns="0" bIns="0" rtlCol="0" anchor="ctr"/>
          <a:lstStyle/>
          <a:p>
            <a:pPr marL="0" indent="0">
              <a:buNone/>
            </a:pPr>
            <a:r>
              <a:rPr lang="en-US" sz="1300" b="1" dirty="0">
                <a:solidFill>
                  <a:srgbClr val="FF6B35"/>
                </a:solidFill>
                <a:latin typeface="Calibri" pitchFamily="34" charset="0"/>
                <a:ea typeface="Calibri" pitchFamily="34" charset="-122"/>
                <a:cs typeface="Calibri" pitchFamily="34" charset="-120"/>
              </a:rPr>
              <a:t>INDUSTRY RULE OF THUMB  ·  </a:t>
            </a:r>
            <a:r>
              <a:rPr lang="en-US" sz="1300" b="1" dirty="0">
                <a:solidFill>
                  <a:srgbClr val="FFFFFF"/>
                </a:solidFill>
                <a:latin typeface="Calibri" pitchFamily="34" charset="0"/>
                <a:ea typeface="Calibri" pitchFamily="34" charset="-122"/>
                <a:cs typeface="Calibri" pitchFamily="34" charset="-120"/>
              </a:rPr>
              <a:t>start STAR.</a:t>
            </a:r>
            <a:r>
              <a:rPr lang="en-US" sz="1300" dirty="0">
                <a:solidFill>
                  <a:srgbClr val="FFFFFF"/>
                </a:solidFill>
                <a:latin typeface="Calibri" pitchFamily="34" charset="0"/>
                <a:ea typeface="Calibri" pitchFamily="34" charset="-122"/>
                <a:cs typeface="Calibri" pitchFamily="34" charset="-120"/>
              </a:rPr>
              <a:t> Snowflake </a:t>
            </a:r>
            <a:r>
              <a:rPr lang="en-US" sz="1300" i="1" dirty="0">
                <a:solidFill>
                  <a:srgbClr val="F59E0B"/>
                </a:solidFill>
                <a:latin typeface="Calibri" pitchFamily="34" charset="0"/>
                <a:ea typeface="Calibri" pitchFamily="34" charset="-122"/>
                <a:cs typeface="Calibri" pitchFamily="34" charset="-120"/>
              </a:rPr>
              <a:t>only</a:t>
            </a:r>
            <a:r>
              <a:rPr lang="en-US" sz="1300" dirty="0">
                <a:solidFill>
                  <a:srgbClr val="FFFFFF"/>
                </a:solidFill>
                <a:latin typeface="Calibri" pitchFamily="34" charset="0"/>
                <a:ea typeface="Calibri" pitchFamily="34" charset="-122"/>
                <a:cs typeface="Calibri" pitchFamily="34" charset="-120"/>
              </a:rPr>
              <a:t> if a dim is huge and rarely changes. Galaxy arrives on its own when the business grows.</a:t>
            </a:r>
            <a:endParaRPr lang="en-US" sz="1300" dirty="0"/>
          </a:p>
        </p:txBody>
      </p:sp>
      <p:sp>
        <p:nvSpPr>
          <p:cNvPr id="10" name="Text 7"/>
          <p:cNvSpPr/>
          <p:nvPr/>
        </p:nvSpPr>
        <p:spPr>
          <a:xfrm>
            <a:off x="10332720" y="6510528"/>
            <a:ext cx="173736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12 / 32  ·  DATA &amp; AI</a:t>
            </a:r>
            <a:endParaRPr lang="en-US" sz="900" dirty="0"/>
          </a:p>
        </p:txBody>
      </p:sp>
      <p:sp>
        <p:nvSpPr>
          <p:cNvPr id="11" name="Text 8"/>
          <p:cNvSpPr/>
          <p:nvPr/>
        </p:nvSpPr>
        <p:spPr>
          <a:xfrm>
            <a:off x="457200" y="6510528"/>
            <a:ext cx="5486400" cy="256032"/>
          </a:xfrm>
          <a:prstGeom prst="rect">
            <a:avLst/>
          </a:prstGeom>
          <a:noFill/>
          <a:ln/>
        </p:spPr>
        <p:txBody>
          <a:bodyPr wrap="square" lIns="0" tIns="0" rIns="0" bIns="0" rtlCol="0" anchor="ctr"/>
          <a:lstStyle/>
          <a:p>
            <a:pPr marL="0" indent="0">
              <a:buNone/>
            </a:pPr>
            <a:r>
              <a:rPr lang="en-US" sz="900" b="1" kern="0" spc="200" dirty="0">
                <a:solidFill>
                  <a:srgbClr val="94A3B8"/>
                </a:solidFill>
                <a:latin typeface="Calibri" pitchFamily="34" charset="0"/>
                <a:ea typeface="Calibri" pitchFamily="34" charset="-122"/>
                <a:cs typeface="Calibri" pitchFamily="34" charset="-120"/>
              </a:rPr>
              <a:t>DIMENSIONAL MODELING</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DB2777"/>
          </a:solidFill>
          <a:ln/>
        </p:spPr>
        <p:txBody>
          <a:bodyPr/>
          <a:lstStyle/>
          <a:p>
            <a:endParaRPr lang="en-AE"/>
          </a:p>
        </p:txBody>
      </p:sp>
      <p:sp>
        <p:nvSpPr>
          <p:cNvPr id="3" name="Shape 1"/>
          <p:cNvSpPr/>
          <p:nvPr/>
        </p:nvSpPr>
        <p:spPr>
          <a:xfrm>
            <a:off x="621792" y="457200"/>
            <a:ext cx="54864" cy="128016"/>
          </a:xfrm>
          <a:prstGeom prst="rect">
            <a:avLst/>
          </a:prstGeom>
          <a:solidFill>
            <a:srgbClr val="0B1437"/>
          </a:solidFill>
          <a:ln/>
        </p:spPr>
        <p:txBody>
          <a:bodyPr/>
          <a:lstStyle/>
          <a:p>
            <a:endParaRPr lang="en-AE"/>
          </a:p>
        </p:txBody>
      </p:sp>
      <p:sp>
        <p:nvSpPr>
          <p:cNvPr id="4" name="Text 2"/>
          <p:cNvSpPr/>
          <p:nvPr/>
        </p:nvSpPr>
        <p:spPr>
          <a:xfrm>
            <a:off x="457200" y="685800"/>
            <a:ext cx="11247120" cy="274320"/>
          </a:xfrm>
          <a:prstGeom prst="rect">
            <a:avLst/>
          </a:prstGeom>
          <a:noFill/>
          <a:ln/>
        </p:spPr>
        <p:txBody>
          <a:bodyPr wrap="square" lIns="0" tIns="0" rIns="0" bIns="0" rtlCol="0" anchor="ctr"/>
          <a:lstStyle/>
          <a:p>
            <a:pPr marL="0" indent="0">
              <a:buNone/>
            </a:pPr>
            <a:r>
              <a:rPr lang="en-US" sz="1100" b="1" kern="0" spc="400" dirty="0">
                <a:solidFill>
                  <a:srgbClr val="DB2777"/>
                </a:solidFill>
                <a:latin typeface="Calibri" pitchFamily="34" charset="0"/>
                <a:ea typeface="Calibri" pitchFamily="34" charset="-122"/>
                <a:cs typeface="Calibri" pitchFamily="34" charset="-120"/>
              </a:rPr>
              <a:t>OLAP STORAGE MODELS</a:t>
            </a:r>
            <a:endParaRPr lang="en-US" sz="1100" dirty="0"/>
          </a:p>
        </p:txBody>
      </p:sp>
      <p:sp>
        <p:nvSpPr>
          <p:cNvPr id="5" name="Text 3"/>
          <p:cNvSpPr/>
          <p:nvPr/>
        </p:nvSpPr>
        <p:spPr>
          <a:xfrm>
            <a:off x="457200" y="932688"/>
            <a:ext cx="1124712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ROLAP  ·  MOLAP  ·  HOLAP.</a:t>
            </a:r>
            <a:endParaRPr lang="en-US" sz="3000" dirty="0"/>
          </a:p>
        </p:txBody>
      </p:sp>
      <p:sp>
        <p:nvSpPr>
          <p:cNvPr id="6" name="Text 4"/>
          <p:cNvSpPr/>
          <p:nvPr/>
        </p:nvSpPr>
        <p:spPr>
          <a:xfrm>
            <a:off x="457200" y="1572768"/>
            <a:ext cx="11247120" cy="45720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Your textbook treats them as equals. Industry has picked a winner.</a:t>
            </a:r>
            <a:endParaRPr lang="en-US" sz="1300" dirty="0"/>
          </a:p>
        </p:txBody>
      </p:sp>
      <p:sp>
        <p:nvSpPr>
          <p:cNvPr id="7" name="Shape 5"/>
          <p:cNvSpPr/>
          <p:nvPr/>
        </p:nvSpPr>
        <p:spPr>
          <a:xfrm>
            <a:off x="457200" y="2103120"/>
            <a:ext cx="3657600" cy="4023360"/>
          </a:xfrm>
          <a:prstGeom prst="rect">
            <a:avLst/>
          </a:prstGeom>
          <a:solidFill>
            <a:srgbClr val="F8FAFC"/>
          </a:solidFill>
          <a:ln/>
          <a:effectLst>
            <a:outerShdw blurRad="101600" dist="25400" dir="8100000" algn="bl" rotWithShape="0">
              <a:srgbClr val="000000">
                <a:alpha val="10000"/>
              </a:srgbClr>
            </a:outerShdw>
          </a:effectLst>
        </p:spPr>
        <p:txBody>
          <a:bodyPr/>
          <a:lstStyle/>
          <a:p>
            <a:endParaRPr lang="en-AE"/>
          </a:p>
        </p:txBody>
      </p:sp>
      <p:sp>
        <p:nvSpPr>
          <p:cNvPr id="8" name="Shape 6"/>
          <p:cNvSpPr/>
          <p:nvPr/>
        </p:nvSpPr>
        <p:spPr>
          <a:xfrm>
            <a:off x="457200" y="2103120"/>
            <a:ext cx="3657600" cy="914400"/>
          </a:xfrm>
          <a:prstGeom prst="rect">
            <a:avLst/>
          </a:prstGeom>
          <a:solidFill>
            <a:srgbClr val="FF6B35"/>
          </a:solidFill>
          <a:ln/>
        </p:spPr>
        <p:txBody>
          <a:bodyPr/>
          <a:lstStyle/>
          <a:p>
            <a:endParaRPr lang="en-AE"/>
          </a:p>
        </p:txBody>
      </p:sp>
      <p:sp>
        <p:nvSpPr>
          <p:cNvPr id="9" name="Text 7"/>
          <p:cNvSpPr/>
          <p:nvPr/>
        </p:nvSpPr>
        <p:spPr>
          <a:xfrm>
            <a:off x="640080" y="2212848"/>
            <a:ext cx="3291840" cy="457200"/>
          </a:xfrm>
          <a:prstGeom prst="rect">
            <a:avLst/>
          </a:prstGeom>
          <a:noFill/>
          <a:ln/>
        </p:spPr>
        <p:txBody>
          <a:bodyPr wrap="square" lIns="0" tIns="0" rIns="0" bIns="0" rtlCol="0" anchor="ctr"/>
          <a:lstStyle/>
          <a:p>
            <a:pPr marL="0" indent="0">
              <a:buNone/>
            </a:pPr>
            <a:r>
              <a:rPr lang="en-US" sz="2600" b="1" dirty="0">
                <a:solidFill>
                  <a:srgbClr val="FFFFFF"/>
                </a:solidFill>
                <a:latin typeface="Arial Black" pitchFamily="34" charset="0"/>
                <a:ea typeface="Arial Black" pitchFamily="34" charset="-122"/>
                <a:cs typeface="Arial Black" pitchFamily="34" charset="-120"/>
              </a:rPr>
              <a:t>ROLAP</a:t>
            </a:r>
            <a:endParaRPr lang="en-US" sz="2600" dirty="0"/>
          </a:p>
        </p:txBody>
      </p:sp>
      <p:sp>
        <p:nvSpPr>
          <p:cNvPr id="10" name="Text 8"/>
          <p:cNvSpPr/>
          <p:nvPr/>
        </p:nvSpPr>
        <p:spPr>
          <a:xfrm>
            <a:off x="640080" y="2670048"/>
            <a:ext cx="3291840" cy="320040"/>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Relational OLAP</a:t>
            </a:r>
            <a:endParaRPr lang="en-US" sz="1100" dirty="0"/>
          </a:p>
        </p:txBody>
      </p:sp>
      <p:sp>
        <p:nvSpPr>
          <p:cNvPr id="11" name="Shape 9"/>
          <p:cNvSpPr/>
          <p:nvPr/>
        </p:nvSpPr>
        <p:spPr>
          <a:xfrm>
            <a:off x="3154680" y="2240280"/>
            <a:ext cx="822960" cy="347472"/>
          </a:xfrm>
          <a:prstGeom prst="rect">
            <a:avLst/>
          </a:prstGeom>
          <a:solidFill>
            <a:srgbClr val="0B1437"/>
          </a:solidFill>
          <a:ln/>
        </p:spPr>
        <p:txBody>
          <a:bodyPr/>
          <a:lstStyle/>
          <a:p>
            <a:endParaRPr lang="en-AE"/>
          </a:p>
        </p:txBody>
      </p:sp>
      <p:sp>
        <p:nvSpPr>
          <p:cNvPr id="12" name="Text 10"/>
          <p:cNvSpPr/>
          <p:nvPr/>
        </p:nvSpPr>
        <p:spPr>
          <a:xfrm>
            <a:off x="3154680" y="2240280"/>
            <a:ext cx="822960" cy="347472"/>
          </a:xfrm>
          <a:prstGeom prst="rect">
            <a:avLst/>
          </a:prstGeom>
          <a:noFill/>
          <a:ln/>
        </p:spPr>
        <p:txBody>
          <a:bodyPr wrap="square" lIns="0" tIns="0" rIns="0" bIns="0" rtlCol="0" anchor="ctr"/>
          <a:lstStyle/>
          <a:p>
            <a:pPr marL="0" indent="0" algn="ctr">
              <a:buNone/>
            </a:pPr>
            <a:r>
              <a:rPr lang="en-US" sz="1100" b="1" dirty="0">
                <a:solidFill>
                  <a:srgbClr val="F59E0B"/>
                </a:solidFill>
                <a:latin typeface="Arial Black" pitchFamily="34" charset="0"/>
                <a:ea typeface="Arial Black" pitchFamily="34" charset="-122"/>
                <a:cs typeface="Arial Black" pitchFamily="34" charset="-120"/>
              </a:rPr>
              <a:t>★ WON</a:t>
            </a:r>
            <a:endParaRPr lang="en-US" sz="1100" dirty="0"/>
          </a:p>
        </p:txBody>
      </p:sp>
      <p:sp>
        <p:nvSpPr>
          <p:cNvPr id="13" name="Text 11"/>
          <p:cNvSpPr/>
          <p:nvPr/>
        </p:nvSpPr>
        <p:spPr>
          <a:xfrm>
            <a:off x="640080" y="3200400"/>
            <a:ext cx="3291840" cy="228600"/>
          </a:xfrm>
          <a:prstGeom prst="rect">
            <a:avLst/>
          </a:prstGeom>
          <a:noFill/>
          <a:ln/>
        </p:spPr>
        <p:txBody>
          <a:bodyPr wrap="square" lIns="0" tIns="0" rIns="0" bIns="0" rtlCol="0" anchor="ctr"/>
          <a:lstStyle/>
          <a:p>
            <a:pPr marL="0" indent="0">
              <a:buNone/>
            </a:pPr>
            <a:r>
              <a:rPr lang="en-US" sz="950" b="1" kern="0" spc="200" dirty="0">
                <a:solidFill>
                  <a:srgbClr val="64748B"/>
                </a:solidFill>
                <a:latin typeface="Calibri" pitchFamily="34" charset="0"/>
                <a:ea typeface="Calibri" pitchFamily="34" charset="-122"/>
                <a:cs typeface="Calibri" pitchFamily="34" charset="-120"/>
              </a:rPr>
              <a:t>STORAGE</a:t>
            </a:r>
            <a:endParaRPr lang="en-US" sz="950" dirty="0"/>
          </a:p>
        </p:txBody>
      </p:sp>
      <p:sp>
        <p:nvSpPr>
          <p:cNvPr id="14" name="Text 12"/>
          <p:cNvSpPr/>
          <p:nvPr/>
        </p:nvSpPr>
        <p:spPr>
          <a:xfrm>
            <a:off x="640080" y="3438144"/>
            <a:ext cx="3291840" cy="438912"/>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Relational DB (tables)</a:t>
            </a:r>
            <a:endParaRPr lang="en-US" sz="1100" dirty="0"/>
          </a:p>
        </p:txBody>
      </p:sp>
      <p:sp>
        <p:nvSpPr>
          <p:cNvPr id="15" name="Text 13"/>
          <p:cNvSpPr/>
          <p:nvPr/>
        </p:nvSpPr>
        <p:spPr>
          <a:xfrm>
            <a:off x="640080" y="3913632"/>
            <a:ext cx="3291840" cy="228600"/>
          </a:xfrm>
          <a:prstGeom prst="rect">
            <a:avLst/>
          </a:prstGeom>
          <a:noFill/>
          <a:ln/>
        </p:spPr>
        <p:txBody>
          <a:bodyPr wrap="square" lIns="0" tIns="0" rIns="0" bIns="0" rtlCol="0" anchor="ctr"/>
          <a:lstStyle/>
          <a:p>
            <a:pPr marL="0" indent="0">
              <a:buNone/>
            </a:pPr>
            <a:r>
              <a:rPr lang="en-US" sz="950" b="1" kern="0" spc="200" dirty="0">
                <a:solidFill>
                  <a:srgbClr val="10B981"/>
                </a:solidFill>
                <a:latin typeface="Calibri" pitchFamily="34" charset="0"/>
                <a:ea typeface="Calibri" pitchFamily="34" charset="-122"/>
                <a:cs typeface="Calibri" pitchFamily="34" charset="-120"/>
              </a:rPr>
              <a:t>✓ PRO</a:t>
            </a:r>
            <a:endParaRPr lang="en-US" sz="950" dirty="0"/>
          </a:p>
        </p:txBody>
      </p:sp>
      <p:sp>
        <p:nvSpPr>
          <p:cNvPr id="16" name="Text 14"/>
          <p:cNvSpPr/>
          <p:nvPr/>
        </p:nvSpPr>
        <p:spPr>
          <a:xfrm>
            <a:off x="640080" y="4151376"/>
            <a:ext cx="3291840" cy="438912"/>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Scales to huge data</a:t>
            </a:r>
            <a:endParaRPr lang="en-US" sz="1100" dirty="0"/>
          </a:p>
        </p:txBody>
      </p:sp>
      <p:sp>
        <p:nvSpPr>
          <p:cNvPr id="17" name="Text 15"/>
          <p:cNvSpPr/>
          <p:nvPr/>
        </p:nvSpPr>
        <p:spPr>
          <a:xfrm>
            <a:off x="640080" y="4626864"/>
            <a:ext cx="3291840" cy="228600"/>
          </a:xfrm>
          <a:prstGeom prst="rect">
            <a:avLst/>
          </a:prstGeom>
          <a:noFill/>
          <a:ln/>
        </p:spPr>
        <p:txBody>
          <a:bodyPr wrap="square" lIns="0" tIns="0" rIns="0" bIns="0" rtlCol="0" anchor="ctr"/>
          <a:lstStyle/>
          <a:p>
            <a:pPr marL="0" indent="0">
              <a:buNone/>
            </a:pPr>
            <a:r>
              <a:rPr lang="en-US" sz="950" b="1" kern="0" spc="200" dirty="0">
                <a:solidFill>
                  <a:srgbClr val="EF4444"/>
                </a:solidFill>
                <a:latin typeface="Calibri" pitchFamily="34" charset="0"/>
                <a:ea typeface="Calibri" pitchFamily="34" charset="-122"/>
                <a:cs typeface="Calibri" pitchFamily="34" charset="-120"/>
              </a:rPr>
              <a:t>✗ CON</a:t>
            </a:r>
            <a:endParaRPr lang="en-US" sz="950" dirty="0"/>
          </a:p>
        </p:txBody>
      </p:sp>
      <p:sp>
        <p:nvSpPr>
          <p:cNvPr id="18" name="Text 16"/>
          <p:cNvSpPr/>
          <p:nvPr/>
        </p:nvSpPr>
        <p:spPr>
          <a:xfrm>
            <a:off x="640080" y="4864608"/>
            <a:ext cx="3291840" cy="438912"/>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Slower queries</a:t>
            </a:r>
            <a:endParaRPr lang="en-US" sz="1100" dirty="0"/>
          </a:p>
        </p:txBody>
      </p:sp>
      <p:sp>
        <p:nvSpPr>
          <p:cNvPr id="19" name="Text 17"/>
          <p:cNvSpPr/>
          <p:nvPr/>
        </p:nvSpPr>
        <p:spPr>
          <a:xfrm>
            <a:off x="640080" y="5340096"/>
            <a:ext cx="3291840" cy="228600"/>
          </a:xfrm>
          <a:prstGeom prst="rect">
            <a:avLst/>
          </a:prstGeom>
          <a:noFill/>
          <a:ln/>
        </p:spPr>
        <p:txBody>
          <a:bodyPr wrap="square" lIns="0" tIns="0" rIns="0" bIns="0" rtlCol="0" anchor="ctr"/>
          <a:lstStyle/>
          <a:p>
            <a:pPr marL="0" indent="0">
              <a:buNone/>
            </a:pPr>
            <a:r>
              <a:rPr lang="en-US" sz="950" b="1" kern="0" spc="200" dirty="0">
                <a:solidFill>
                  <a:srgbClr val="0891B2"/>
                </a:solidFill>
                <a:latin typeface="Calibri" pitchFamily="34" charset="0"/>
                <a:ea typeface="Calibri" pitchFamily="34" charset="-122"/>
                <a:cs typeface="Calibri" pitchFamily="34" charset="-120"/>
              </a:rPr>
              <a:t>TODAY</a:t>
            </a:r>
            <a:endParaRPr lang="en-US" sz="950" dirty="0"/>
          </a:p>
        </p:txBody>
      </p:sp>
      <p:sp>
        <p:nvSpPr>
          <p:cNvPr id="20" name="Text 18"/>
          <p:cNvSpPr/>
          <p:nvPr/>
        </p:nvSpPr>
        <p:spPr>
          <a:xfrm>
            <a:off x="640080" y="5577840"/>
            <a:ext cx="3291840" cy="438912"/>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Snowflake, BigQuery, Redshift, Databricks all ROLAP descendants</a:t>
            </a:r>
            <a:endParaRPr lang="en-US" sz="1100" dirty="0"/>
          </a:p>
        </p:txBody>
      </p:sp>
      <p:sp>
        <p:nvSpPr>
          <p:cNvPr id="21" name="Shape 19"/>
          <p:cNvSpPr/>
          <p:nvPr/>
        </p:nvSpPr>
        <p:spPr>
          <a:xfrm>
            <a:off x="4251960" y="2103120"/>
            <a:ext cx="3657600" cy="4023360"/>
          </a:xfrm>
          <a:prstGeom prst="rect">
            <a:avLst/>
          </a:prstGeom>
          <a:solidFill>
            <a:srgbClr val="F8FAFC"/>
          </a:solidFill>
          <a:ln/>
          <a:effectLst>
            <a:outerShdw blurRad="101600" dist="25400" dir="8100000" algn="bl" rotWithShape="0">
              <a:srgbClr val="000000">
                <a:alpha val="10000"/>
              </a:srgbClr>
            </a:outerShdw>
          </a:effectLst>
        </p:spPr>
        <p:txBody>
          <a:bodyPr/>
          <a:lstStyle/>
          <a:p>
            <a:endParaRPr lang="en-AE"/>
          </a:p>
        </p:txBody>
      </p:sp>
      <p:sp>
        <p:nvSpPr>
          <p:cNvPr id="22" name="Shape 20"/>
          <p:cNvSpPr/>
          <p:nvPr/>
        </p:nvSpPr>
        <p:spPr>
          <a:xfrm>
            <a:off x="4251960" y="2103120"/>
            <a:ext cx="3657600" cy="914400"/>
          </a:xfrm>
          <a:prstGeom prst="rect">
            <a:avLst/>
          </a:prstGeom>
          <a:solidFill>
            <a:srgbClr val="0891B2"/>
          </a:solidFill>
          <a:ln/>
        </p:spPr>
        <p:txBody>
          <a:bodyPr/>
          <a:lstStyle/>
          <a:p>
            <a:endParaRPr lang="en-AE"/>
          </a:p>
        </p:txBody>
      </p:sp>
      <p:sp>
        <p:nvSpPr>
          <p:cNvPr id="23" name="Text 21"/>
          <p:cNvSpPr/>
          <p:nvPr/>
        </p:nvSpPr>
        <p:spPr>
          <a:xfrm>
            <a:off x="4434840" y="2212848"/>
            <a:ext cx="3291840" cy="457200"/>
          </a:xfrm>
          <a:prstGeom prst="rect">
            <a:avLst/>
          </a:prstGeom>
          <a:noFill/>
          <a:ln/>
        </p:spPr>
        <p:txBody>
          <a:bodyPr wrap="square" lIns="0" tIns="0" rIns="0" bIns="0" rtlCol="0" anchor="ctr"/>
          <a:lstStyle/>
          <a:p>
            <a:pPr marL="0" indent="0">
              <a:buNone/>
            </a:pPr>
            <a:r>
              <a:rPr lang="en-US" sz="2600" b="1" dirty="0">
                <a:solidFill>
                  <a:srgbClr val="FFFFFF"/>
                </a:solidFill>
                <a:latin typeface="Arial Black" pitchFamily="34" charset="0"/>
                <a:ea typeface="Arial Black" pitchFamily="34" charset="-122"/>
                <a:cs typeface="Arial Black" pitchFamily="34" charset="-120"/>
              </a:rPr>
              <a:t>MOLAP</a:t>
            </a:r>
            <a:endParaRPr lang="en-US" sz="2600" dirty="0"/>
          </a:p>
        </p:txBody>
      </p:sp>
      <p:sp>
        <p:nvSpPr>
          <p:cNvPr id="24" name="Text 22"/>
          <p:cNvSpPr/>
          <p:nvPr/>
        </p:nvSpPr>
        <p:spPr>
          <a:xfrm>
            <a:off x="4434840" y="2670048"/>
            <a:ext cx="3291840" cy="320040"/>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Multidimensional OLAP</a:t>
            </a:r>
            <a:endParaRPr lang="en-US" sz="1100" dirty="0"/>
          </a:p>
        </p:txBody>
      </p:sp>
      <p:sp>
        <p:nvSpPr>
          <p:cNvPr id="25" name="Text 23"/>
          <p:cNvSpPr/>
          <p:nvPr/>
        </p:nvSpPr>
        <p:spPr>
          <a:xfrm>
            <a:off x="4434840" y="3200400"/>
            <a:ext cx="3291840" cy="228600"/>
          </a:xfrm>
          <a:prstGeom prst="rect">
            <a:avLst/>
          </a:prstGeom>
          <a:noFill/>
          <a:ln/>
        </p:spPr>
        <p:txBody>
          <a:bodyPr wrap="square" lIns="0" tIns="0" rIns="0" bIns="0" rtlCol="0" anchor="ctr"/>
          <a:lstStyle/>
          <a:p>
            <a:pPr marL="0" indent="0">
              <a:buNone/>
            </a:pPr>
            <a:r>
              <a:rPr lang="en-US" sz="950" b="1" kern="0" spc="200" dirty="0">
                <a:solidFill>
                  <a:srgbClr val="64748B"/>
                </a:solidFill>
                <a:latin typeface="Calibri" pitchFamily="34" charset="0"/>
                <a:ea typeface="Calibri" pitchFamily="34" charset="-122"/>
                <a:cs typeface="Calibri" pitchFamily="34" charset="-120"/>
              </a:rPr>
              <a:t>STORAGE</a:t>
            </a:r>
            <a:endParaRPr lang="en-US" sz="950" dirty="0"/>
          </a:p>
        </p:txBody>
      </p:sp>
      <p:sp>
        <p:nvSpPr>
          <p:cNvPr id="26" name="Text 24"/>
          <p:cNvSpPr/>
          <p:nvPr/>
        </p:nvSpPr>
        <p:spPr>
          <a:xfrm>
            <a:off x="4434840" y="3438144"/>
            <a:ext cx="3291840" cy="438912"/>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Proprietary cube files</a:t>
            </a:r>
            <a:endParaRPr lang="en-US" sz="1100" dirty="0"/>
          </a:p>
        </p:txBody>
      </p:sp>
      <p:sp>
        <p:nvSpPr>
          <p:cNvPr id="27" name="Text 25"/>
          <p:cNvSpPr/>
          <p:nvPr/>
        </p:nvSpPr>
        <p:spPr>
          <a:xfrm>
            <a:off x="4434840" y="3913632"/>
            <a:ext cx="3291840" cy="228600"/>
          </a:xfrm>
          <a:prstGeom prst="rect">
            <a:avLst/>
          </a:prstGeom>
          <a:noFill/>
          <a:ln/>
        </p:spPr>
        <p:txBody>
          <a:bodyPr wrap="square" lIns="0" tIns="0" rIns="0" bIns="0" rtlCol="0" anchor="ctr"/>
          <a:lstStyle/>
          <a:p>
            <a:pPr marL="0" indent="0">
              <a:buNone/>
            </a:pPr>
            <a:r>
              <a:rPr lang="en-US" sz="950" b="1" kern="0" spc="200" dirty="0">
                <a:solidFill>
                  <a:srgbClr val="10B981"/>
                </a:solidFill>
                <a:latin typeface="Calibri" pitchFamily="34" charset="0"/>
                <a:ea typeface="Calibri" pitchFamily="34" charset="-122"/>
                <a:cs typeface="Calibri" pitchFamily="34" charset="-120"/>
              </a:rPr>
              <a:t>✓ PRO</a:t>
            </a:r>
            <a:endParaRPr lang="en-US" sz="950" dirty="0"/>
          </a:p>
        </p:txBody>
      </p:sp>
      <p:sp>
        <p:nvSpPr>
          <p:cNvPr id="28" name="Text 26"/>
          <p:cNvSpPr/>
          <p:nvPr/>
        </p:nvSpPr>
        <p:spPr>
          <a:xfrm>
            <a:off x="4434840" y="4151376"/>
            <a:ext cx="3291840" cy="438912"/>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Blazing-fast reads</a:t>
            </a:r>
            <a:endParaRPr lang="en-US" sz="1100" dirty="0"/>
          </a:p>
        </p:txBody>
      </p:sp>
      <p:sp>
        <p:nvSpPr>
          <p:cNvPr id="29" name="Text 27"/>
          <p:cNvSpPr/>
          <p:nvPr/>
        </p:nvSpPr>
        <p:spPr>
          <a:xfrm>
            <a:off x="4434840" y="4626864"/>
            <a:ext cx="3291840" cy="228600"/>
          </a:xfrm>
          <a:prstGeom prst="rect">
            <a:avLst/>
          </a:prstGeom>
          <a:noFill/>
          <a:ln/>
        </p:spPr>
        <p:txBody>
          <a:bodyPr wrap="square" lIns="0" tIns="0" rIns="0" bIns="0" rtlCol="0" anchor="ctr"/>
          <a:lstStyle/>
          <a:p>
            <a:pPr marL="0" indent="0">
              <a:buNone/>
            </a:pPr>
            <a:r>
              <a:rPr lang="en-US" sz="950" b="1" kern="0" spc="200" dirty="0">
                <a:solidFill>
                  <a:srgbClr val="EF4444"/>
                </a:solidFill>
                <a:latin typeface="Calibri" pitchFamily="34" charset="0"/>
                <a:ea typeface="Calibri" pitchFamily="34" charset="-122"/>
                <a:cs typeface="Calibri" pitchFamily="34" charset="-120"/>
              </a:rPr>
              <a:t>✗ CON</a:t>
            </a:r>
            <a:endParaRPr lang="en-US" sz="950" dirty="0"/>
          </a:p>
        </p:txBody>
      </p:sp>
      <p:sp>
        <p:nvSpPr>
          <p:cNvPr id="30" name="Text 28"/>
          <p:cNvSpPr/>
          <p:nvPr/>
        </p:nvSpPr>
        <p:spPr>
          <a:xfrm>
            <a:off x="4434840" y="4864608"/>
            <a:ext cx="3291840" cy="438912"/>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Rebuilds, storage cost</a:t>
            </a:r>
            <a:endParaRPr lang="en-US" sz="1100" dirty="0"/>
          </a:p>
        </p:txBody>
      </p:sp>
      <p:sp>
        <p:nvSpPr>
          <p:cNvPr id="31" name="Text 29"/>
          <p:cNvSpPr/>
          <p:nvPr/>
        </p:nvSpPr>
        <p:spPr>
          <a:xfrm>
            <a:off x="4434840" y="5340096"/>
            <a:ext cx="3291840" cy="228600"/>
          </a:xfrm>
          <a:prstGeom prst="rect">
            <a:avLst/>
          </a:prstGeom>
          <a:noFill/>
          <a:ln/>
        </p:spPr>
        <p:txBody>
          <a:bodyPr wrap="square" lIns="0" tIns="0" rIns="0" bIns="0" rtlCol="0" anchor="ctr"/>
          <a:lstStyle/>
          <a:p>
            <a:pPr marL="0" indent="0">
              <a:buNone/>
            </a:pPr>
            <a:r>
              <a:rPr lang="en-US" sz="950" b="1" kern="0" spc="200" dirty="0">
                <a:solidFill>
                  <a:srgbClr val="0891B2"/>
                </a:solidFill>
                <a:latin typeface="Calibri" pitchFamily="34" charset="0"/>
                <a:ea typeface="Calibri" pitchFamily="34" charset="-122"/>
                <a:cs typeface="Calibri" pitchFamily="34" charset="-120"/>
              </a:rPr>
              <a:t>TODAY</a:t>
            </a:r>
            <a:endParaRPr lang="en-US" sz="950" dirty="0"/>
          </a:p>
        </p:txBody>
      </p:sp>
      <p:sp>
        <p:nvSpPr>
          <p:cNvPr id="32" name="Text 30"/>
          <p:cNvSpPr/>
          <p:nvPr/>
        </p:nvSpPr>
        <p:spPr>
          <a:xfrm>
            <a:off x="4434840" y="5577840"/>
            <a:ext cx="3291840" cy="438912"/>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SSAS cubes, Essbase mostly legacy</a:t>
            </a:r>
            <a:endParaRPr lang="en-US" sz="1100" dirty="0"/>
          </a:p>
        </p:txBody>
      </p:sp>
      <p:sp>
        <p:nvSpPr>
          <p:cNvPr id="33" name="Shape 31"/>
          <p:cNvSpPr/>
          <p:nvPr/>
        </p:nvSpPr>
        <p:spPr>
          <a:xfrm>
            <a:off x="8046720" y="2103120"/>
            <a:ext cx="3657600" cy="4023360"/>
          </a:xfrm>
          <a:prstGeom prst="rect">
            <a:avLst/>
          </a:prstGeom>
          <a:solidFill>
            <a:srgbClr val="F8FAFC"/>
          </a:solidFill>
          <a:ln/>
          <a:effectLst>
            <a:outerShdw blurRad="101600" dist="25400" dir="8100000" algn="bl" rotWithShape="0">
              <a:srgbClr val="000000">
                <a:alpha val="10000"/>
              </a:srgbClr>
            </a:outerShdw>
          </a:effectLst>
        </p:spPr>
        <p:txBody>
          <a:bodyPr/>
          <a:lstStyle/>
          <a:p>
            <a:endParaRPr lang="en-AE"/>
          </a:p>
        </p:txBody>
      </p:sp>
      <p:sp>
        <p:nvSpPr>
          <p:cNvPr id="34" name="Shape 32"/>
          <p:cNvSpPr/>
          <p:nvPr/>
        </p:nvSpPr>
        <p:spPr>
          <a:xfrm>
            <a:off x="8046720" y="2103120"/>
            <a:ext cx="3657600" cy="914400"/>
          </a:xfrm>
          <a:prstGeom prst="rect">
            <a:avLst/>
          </a:prstGeom>
          <a:solidFill>
            <a:srgbClr val="DB2777"/>
          </a:solidFill>
          <a:ln/>
        </p:spPr>
        <p:txBody>
          <a:bodyPr/>
          <a:lstStyle/>
          <a:p>
            <a:endParaRPr lang="en-AE"/>
          </a:p>
        </p:txBody>
      </p:sp>
      <p:sp>
        <p:nvSpPr>
          <p:cNvPr id="35" name="Text 33"/>
          <p:cNvSpPr/>
          <p:nvPr/>
        </p:nvSpPr>
        <p:spPr>
          <a:xfrm>
            <a:off x="8229600" y="2212848"/>
            <a:ext cx="3291840" cy="457200"/>
          </a:xfrm>
          <a:prstGeom prst="rect">
            <a:avLst/>
          </a:prstGeom>
          <a:noFill/>
          <a:ln/>
        </p:spPr>
        <p:txBody>
          <a:bodyPr wrap="square" lIns="0" tIns="0" rIns="0" bIns="0" rtlCol="0" anchor="ctr"/>
          <a:lstStyle/>
          <a:p>
            <a:pPr marL="0" indent="0">
              <a:buNone/>
            </a:pPr>
            <a:r>
              <a:rPr lang="en-US" sz="2600" b="1" dirty="0">
                <a:solidFill>
                  <a:srgbClr val="FFFFFF"/>
                </a:solidFill>
                <a:latin typeface="Arial Black" pitchFamily="34" charset="0"/>
                <a:ea typeface="Arial Black" pitchFamily="34" charset="-122"/>
                <a:cs typeface="Arial Black" pitchFamily="34" charset="-120"/>
              </a:rPr>
              <a:t>HOLAP</a:t>
            </a:r>
            <a:endParaRPr lang="en-US" sz="2600" dirty="0"/>
          </a:p>
        </p:txBody>
      </p:sp>
      <p:sp>
        <p:nvSpPr>
          <p:cNvPr id="36" name="Text 34"/>
          <p:cNvSpPr/>
          <p:nvPr/>
        </p:nvSpPr>
        <p:spPr>
          <a:xfrm>
            <a:off x="8229600" y="2670048"/>
            <a:ext cx="3291840" cy="320040"/>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Hybrid OLAP</a:t>
            </a:r>
            <a:endParaRPr lang="en-US" sz="1100" dirty="0"/>
          </a:p>
        </p:txBody>
      </p:sp>
      <p:sp>
        <p:nvSpPr>
          <p:cNvPr id="37" name="Text 35"/>
          <p:cNvSpPr/>
          <p:nvPr/>
        </p:nvSpPr>
        <p:spPr>
          <a:xfrm>
            <a:off x="8229600" y="3200400"/>
            <a:ext cx="3291840" cy="228600"/>
          </a:xfrm>
          <a:prstGeom prst="rect">
            <a:avLst/>
          </a:prstGeom>
          <a:noFill/>
          <a:ln/>
        </p:spPr>
        <p:txBody>
          <a:bodyPr wrap="square" lIns="0" tIns="0" rIns="0" bIns="0" rtlCol="0" anchor="ctr"/>
          <a:lstStyle/>
          <a:p>
            <a:pPr marL="0" indent="0">
              <a:buNone/>
            </a:pPr>
            <a:r>
              <a:rPr lang="en-US" sz="950" b="1" kern="0" spc="200" dirty="0">
                <a:solidFill>
                  <a:srgbClr val="64748B"/>
                </a:solidFill>
                <a:latin typeface="Calibri" pitchFamily="34" charset="0"/>
                <a:ea typeface="Calibri" pitchFamily="34" charset="-122"/>
                <a:cs typeface="Calibri" pitchFamily="34" charset="-120"/>
              </a:rPr>
              <a:t>STORAGE</a:t>
            </a:r>
            <a:endParaRPr lang="en-US" sz="950" dirty="0"/>
          </a:p>
        </p:txBody>
      </p:sp>
      <p:sp>
        <p:nvSpPr>
          <p:cNvPr id="38" name="Text 36"/>
          <p:cNvSpPr/>
          <p:nvPr/>
        </p:nvSpPr>
        <p:spPr>
          <a:xfrm>
            <a:off x="8229600" y="3438144"/>
            <a:ext cx="3291840" cy="438912"/>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Cube for hot + DB for cold</a:t>
            </a:r>
            <a:endParaRPr lang="en-US" sz="1100" dirty="0"/>
          </a:p>
        </p:txBody>
      </p:sp>
      <p:sp>
        <p:nvSpPr>
          <p:cNvPr id="39" name="Text 37"/>
          <p:cNvSpPr/>
          <p:nvPr/>
        </p:nvSpPr>
        <p:spPr>
          <a:xfrm>
            <a:off x="8229600" y="3913632"/>
            <a:ext cx="3291840" cy="228600"/>
          </a:xfrm>
          <a:prstGeom prst="rect">
            <a:avLst/>
          </a:prstGeom>
          <a:noFill/>
          <a:ln/>
        </p:spPr>
        <p:txBody>
          <a:bodyPr wrap="square" lIns="0" tIns="0" rIns="0" bIns="0" rtlCol="0" anchor="ctr"/>
          <a:lstStyle/>
          <a:p>
            <a:pPr marL="0" indent="0">
              <a:buNone/>
            </a:pPr>
            <a:r>
              <a:rPr lang="en-US" sz="950" b="1" kern="0" spc="200" dirty="0">
                <a:solidFill>
                  <a:srgbClr val="10B981"/>
                </a:solidFill>
                <a:latin typeface="Calibri" pitchFamily="34" charset="0"/>
                <a:ea typeface="Calibri" pitchFamily="34" charset="-122"/>
                <a:cs typeface="Calibri" pitchFamily="34" charset="-120"/>
              </a:rPr>
              <a:t>✓ PRO</a:t>
            </a:r>
            <a:endParaRPr lang="en-US" sz="950" dirty="0"/>
          </a:p>
        </p:txBody>
      </p:sp>
      <p:sp>
        <p:nvSpPr>
          <p:cNvPr id="40" name="Text 38"/>
          <p:cNvSpPr/>
          <p:nvPr/>
        </p:nvSpPr>
        <p:spPr>
          <a:xfrm>
            <a:off x="8229600" y="4151376"/>
            <a:ext cx="3291840" cy="438912"/>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Best of both</a:t>
            </a:r>
            <a:endParaRPr lang="en-US" sz="1100" dirty="0"/>
          </a:p>
        </p:txBody>
      </p:sp>
      <p:sp>
        <p:nvSpPr>
          <p:cNvPr id="41" name="Text 39"/>
          <p:cNvSpPr/>
          <p:nvPr/>
        </p:nvSpPr>
        <p:spPr>
          <a:xfrm>
            <a:off x="8229600" y="4626864"/>
            <a:ext cx="3291840" cy="228600"/>
          </a:xfrm>
          <a:prstGeom prst="rect">
            <a:avLst/>
          </a:prstGeom>
          <a:noFill/>
          <a:ln/>
        </p:spPr>
        <p:txBody>
          <a:bodyPr wrap="square" lIns="0" tIns="0" rIns="0" bIns="0" rtlCol="0" anchor="ctr"/>
          <a:lstStyle/>
          <a:p>
            <a:pPr marL="0" indent="0">
              <a:buNone/>
            </a:pPr>
            <a:r>
              <a:rPr lang="en-US" sz="950" b="1" kern="0" spc="200" dirty="0">
                <a:solidFill>
                  <a:srgbClr val="EF4444"/>
                </a:solidFill>
                <a:latin typeface="Calibri" pitchFamily="34" charset="0"/>
                <a:ea typeface="Calibri" pitchFamily="34" charset="-122"/>
                <a:cs typeface="Calibri" pitchFamily="34" charset="-120"/>
              </a:rPr>
              <a:t>✗ CON</a:t>
            </a:r>
            <a:endParaRPr lang="en-US" sz="950" dirty="0"/>
          </a:p>
        </p:txBody>
      </p:sp>
      <p:sp>
        <p:nvSpPr>
          <p:cNvPr id="42" name="Text 40"/>
          <p:cNvSpPr/>
          <p:nvPr/>
        </p:nvSpPr>
        <p:spPr>
          <a:xfrm>
            <a:off x="8229600" y="4864608"/>
            <a:ext cx="3291840" cy="438912"/>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Complex to run</a:t>
            </a:r>
            <a:endParaRPr lang="en-US" sz="1100" dirty="0"/>
          </a:p>
        </p:txBody>
      </p:sp>
      <p:sp>
        <p:nvSpPr>
          <p:cNvPr id="43" name="Text 41"/>
          <p:cNvSpPr/>
          <p:nvPr/>
        </p:nvSpPr>
        <p:spPr>
          <a:xfrm>
            <a:off x="8229600" y="5340096"/>
            <a:ext cx="3291840" cy="228600"/>
          </a:xfrm>
          <a:prstGeom prst="rect">
            <a:avLst/>
          </a:prstGeom>
          <a:noFill/>
          <a:ln/>
        </p:spPr>
        <p:txBody>
          <a:bodyPr wrap="square" lIns="0" tIns="0" rIns="0" bIns="0" rtlCol="0" anchor="ctr"/>
          <a:lstStyle/>
          <a:p>
            <a:pPr marL="0" indent="0">
              <a:buNone/>
            </a:pPr>
            <a:r>
              <a:rPr lang="en-US" sz="950" b="1" kern="0" spc="200" dirty="0">
                <a:solidFill>
                  <a:srgbClr val="0891B2"/>
                </a:solidFill>
                <a:latin typeface="Calibri" pitchFamily="34" charset="0"/>
                <a:ea typeface="Calibri" pitchFamily="34" charset="-122"/>
                <a:cs typeface="Calibri" pitchFamily="34" charset="-120"/>
              </a:rPr>
              <a:t>TODAY</a:t>
            </a:r>
            <a:endParaRPr lang="en-US" sz="950" dirty="0"/>
          </a:p>
        </p:txBody>
      </p:sp>
      <p:sp>
        <p:nvSpPr>
          <p:cNvPr id="44" name="Text 42"/>
          <p:cNvSpPr/>
          <p:nvPr/>
        </p:nvSpPr>
        <p:spPr>
          <a:xfrm>
            <a:off x="8229600" y="5577840"/>
            <a:ext cx="3291840" cy="438912"/>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Mostly replaced by cloud warehouses with caching</a:t>
            </a:r>
            <a:endParaRPr lang="en-US" sz="1100" dirty="0"/>
          </a:p>
        </p:txBody>
      </p:sp>
      <p:sp>
        <p:nvSpPr>
          <p:cNvPr id="45" name="Shape 43"/>
          <p:cNvSpPr/>
          <p:nvPr/>
        </p:nvSpPr>
        <p:spPr>
          <a:xfrm>
            <a:off x="457200" y="6263640"/>
            <a:ext cx="11247120" cy="274320"/>
          </a:xfrm>
          <a:prstGeom prst="rect">
            <a:avLst/>
          </a:prstGeom>
          <a:solidFill>
            <a:srgbClr val="0B1437"/>
          </a:solidFill>
          <a:ln/>
        </p:spPr>
        <p:txBody>
          <a:bodyPr/>
          <a:lstStyle/>
          <a:p>
            <a:endParaRPr lang="en-AE"/>
          </a:p>
        </p:txBody>
      </p:sp>
      <p:sp>
        <p:nvSpPr>
          <p:cNvPr id="46" name="Text 44"/>
          <p:cNvSpPr/>
          <p:nvPr/>
        </p:nvSpPr>
        <p:spPr>
          <a:xfrm>
            <a:off x="640080" y="6291072"/>
            <a:ext cx="10972800" cy="228600"/>
          </a:xfrm>
          <a:prstGeom prst="rect">
            <a:avLst/>
          </a:prstGeom>
          <a:noFill/>
          <a:ln/>
        </p:spPr>
        <p:txBody>
          <a:bodyPr wrap="square" lIns="0" tIns="0" rIns="0" bIns="0" rtlCol="0" anchor="ctr"/>
          <a:lstStyle/>
          <a:p>
            <a:pPr marL="0" indent="0">
              <a:buNone/>
            </a:pPr>
            <a:r>
              <a:rPr lang="en-US" sz="1050" b="1" dirty="0">
                <a:solidFill>
                  <a:srgbClr val="F59E0B"/>
                </a:solidFill>
                <a:latin typeface="Calibri" pitchFamily="34" charset="0"/>
                <a:ea typeface="Calibri" pitchFamily="34" charset="-122"/>
                <a:cs typeface="Calibri" pitchFamily="34" charset="-120"/>
              </a:rPr>
              <a:t>REALITY  ·  </a:t>
            </a:r>
            <a:r>
              <a:rPr lang="en-US" sz="1050" i="1" dirty="0">
                <a:solidFill>
                  <a:srgbClr val="FFFFFF"/>
                </a:solidFill>
                <a:latin typeface="Calibri" pitchFamily="34" charset="0"/>
                <a:ea typeface="Calibri" pitchFamily="34" charset="-122"/>
                <a:cs typeface="Calibri" pitchFamily="34" charset="-120"/>
              </a:rPr>
              <a:t>cloud warehouses use ROLAP storage + columnar/in-memory tricks to feel like MOLAP. You get both. You pay per query. You go home.</a:t>
            </a:r>
            <a:endParaRPr lang="en-US" sz="1050" dirty="0"/>
          </a:p>
        </p:txBody>
      </p:sp>
      <p:sp>
        <p:nvSpPr>
          <p:cNvPr id="47" name="Text 45"/>
          <p:cNvSpPr/>
          <p:nvPr/>
        </p:nvSpPr>
        <p:spPr>
          <a:xfrm>
            <a:off x="10332720" y="6510528"/>
            <a:ext cx="173736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13 / 32  ·  DATA &amp; AI</a:t>
            </a:r>
            <a:endParaRPr lang="en-US" sz="900" dirty="0"/>
          </a:p>
        </p:txBody>
      </p:sp>
      <p:sp>
        <p:nvSpPr>
          <p:cNvPr id="48" name="Text 46"/>
          <p:cNvSpPr/>
          <p:nvPr/>
        </p:nvSpPr>
        <p:spPr>
          <a:xfrm>
            <a:off x="457200" y="6510528"/>
            <a:ext cx="5486400" cy="256032"/>
          </a:xfrm>
          <a:prstGeom prst="rect">
            <a:avLst/>
          </a:prstGeom>
          <a:noFill/>
          <a:ln/>
        </p:spPr>
        <p:txBody>
          <a:bodyPr wrap="square" lIns="0" tIns="0" rIns="0" bIns="0" rtlCol="0" anchor="ctr"/>
          <a:lstStyle/>
          <a:p>
            <a:pPr marL="0" indent="0">
              <a:buNone/>
            </a:pPr>
            <a:r>
              <a:rPr lang="en-US" sz="900" b="1" kern="0" spc="200" dirty="0">
                <a:solidFill>
                  <a:srgbClr val="94A3B8"/>
                </a:solidFill>
                <a:latin typeface="Calibri" pitchFamily="34" charset="0"/>
                <a:ea typeface="Calibri" pitchFamily="34" charset="-122"/>
                <a:cs typeface="Calibri" pitchFamily="34" charset="-120"/>
              </a:rPr>
              <a:t>DIMENSIONAL MODELING</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437"/>
        </a:solidFill>
        <a:effectLst/>
      </p:bgPr>
    </p:bg>
    <p:spTree>
      <p:nvGrpSpPr>
        <p:cNvPr id="1" name=""/>
        <p:cNvGrpSpPr/>
        <p:nvPr/>
      </p:nvGrpSpPr>
      <p:grpSpPr>
        <a:xfrm>
          <a:off x="0" y="0"/>
          <a:ext cx="0" cy="0"/>
          <a:chOff x="0" y="0"/>
          <a:chExt cx="0" cy="0"/>
        </a:xfrm>
      </p:grpSpPr>
      <p:sp>
        <p:nvSpPr>
          <p:cNvPr id="2" name="Text 0"/>
          <p:cNvSpPr/>
          <p:nvPr/>
        </p:nvSpPr>
        <p:spPr>
          <a:xfrm>
            <a:off x="457200" y="1828800"/>
            <a:ext cx="4572000" cy="3200400"/>
          </a:xfrm>
          <a:prstGeom prst="rect">
            <a:avLst/>
          </a:prstGeom>
          <a:noFill/>
          <a:ln/>
        </p:spPr>
        <p:txBody>
          <a:bodyPr wrap="square" lIns="0" tIns="0" rIns="0" bIns="0" rtlCol="0" anchor="ctr"/>
          <a:lstStyle/>
          <a:p>
            <a:pPr marL="0" indent="0" algn="l">
              <a:buNone/>
            </a:pPr>
            <a:r>
              <a:rPr lang="en-US" sz="18000" b="1" dirty="0">
                <a:solidFill>
                  <a:srgbClr val="FF6B35"/>
                </a:solidFill>
                <a:latin typeface="Arial Black" pitchFamily="34" charset="0"/>
                <a:ea typeface="Arial Black" pitchFamily="34" charset="-122"/>
                <a:cs typeface="Arial Black" pitchFamily="34" charset="-120"/>
              </a:rPr>
              <a:t>04</a:t>
            </a:r>
            <a:endParaRPr lang="en-US" sz="18000" dirty="0"/>
          </a:p>
        </p:txBody>
      </p:sp>
      <p:sp>
        <p:nvSpPr>
          <p:cNvPr id="3" name="Text 1"/>
          <p:cNvSpPr/>
          <p:nvPr/>
        </p:nvSpPr>
        <p:spPr>
          <a:xfrm>
            <a:off x="5303520" y="2377440"/>
            <a:ext cx="6400800" cy="365760"/>
          </a:xfrm>
          <a:prstGeom prst="rect">
            <a:avLst/>
          </a:prstGeom>
          <a:noFill/>
          <a:ln/>
        </p:spPr>
        <p:txBody>
          <a:bodyPr wrap="square" lIns="0" tIns="0" rIns="0" bIns="0" rtlCol="0" anchor="ctr"/>
          <a:lstStyle/>
          <a:p>
            <a:pPr marL="0" indent="0">
              <a:buNone/>
            </a:pPr>
            <a:r>
              <a:rPr lang="en-US" sz="1300" b="1" kern="0" spc="400" dirty="0">
                <a:solidFill>
                  <a:srgbClr val="22D3EE"/>
                </a:solidFill>
                <a:latin typeface="Calibri" pitchFamily="34" charset="0"/>
                <a:ea typeface="Calibri" pitchFamily="34" charset="-122"/>
                <a:cs typeface="Calibri" pitchFamily="34" charset="-120"/>
              </a:rPr>
              <a:t>THE MODERN STACK</a:t>
            </a:r>
            <a:endParaRPr lang="en-US" sz="1300" dirty="0"/>
          </a:p>
        </p:txBody>
      </p:sp>
      <p:sp>
        <p:nvSpPr>
          <p:cNvPr id="4" name="Shape 2"/>
          <p:cNvSpPr/>
          <p:nvPr/>
        </p:nvSpPr>
        <p:spPr>
          <a:xfrm>
            <a:off x="5303520" y="2834640"/>
            <a:ext cx="457200" cy="73152"/>
          </a:xfrm>
          <a:prstGeom prst="rect">
            <a:avLst/>
          </a:prstGeom>
          <a:solidFill>
            <a:srgbClr val="FF6B35"/>
          </a:solidFill>
          <a:ln/>
        </p:spPr>
        <p:txBody>
          <a:bodyPr/>
          <a:lstStyle/>
          <a:p>
            <a:endParaRPr lang="en-AE"/>
          </a:p>
        </p:txBody>
      </p:sp>
      <p:sp>
        <p:nvSpPr>
          <p:cNvPr id="5" name="Text 3"/>
          <p:cNvSpPr/>
          <p:nvPr/>
        </p:nvSpPr>
        <p:spPr>
          <a:xfrm>
            <a:off x="5303520" y="3017520"/>
            <a:ext cx="6400800" cy="1828800"/>
          </a:xfrm>
          <a:prstGeom prst="rect">
            <a:avLst/>
          </a:prstGeom>
          <a:noFill/>
          <a:ln/>
        </p:spPr>
        <p:txBody>
          <a:bodyPr wrap="square" lIns="0" tIns="0" rIns="0" bIns="0" rtlCol="0" anchor="ctr"/>
          <a:lstStyle/>
          <a:p>
            <a:pPr marL="0" indent="0">
              <a:buNone/>
            </a:pPr>
            <a:r>
              <a:rPr lang="en-US" sz="4000" b="1" dirty="0">
                <a:solidFill>
                  <a:srgbClr val="FFFFFF"/>
                </a:solidFill>
                <a:latin typeface="Arial Black" pitchFamily="34" charset="0"/>
                <a:ea typeface="Arial Black" pitchFamily="34" charset="-122"/>
                <a:cs typeface="Arial Black" pitchFamily="34" charset="-120"/>
              </a:rPr>
              <a:t>From ETL to Lakehouse</a:t>
            </a:r>
            <a:endParaRPr lang="en-US" sz="4000" dirty="0"/>
          </a:p>
          <a:p>
            <a:pPr marL="0" indent="0">
              <a:buNone/>
            </a:pPr>
            <a:r>
              <a:rPr lang="en-US" sz="4000" b="1" dirty="0">
                <a:solidFill>
                  <a:srgbClr val="FFFFFF"/>
                </a:solidFill>
                <a:latin typeface="Arial Black" pitchFamily="34" charset="0"/>
                <a:ea typeface="Arial Black" pitchFamily="34" charset="-122"/>
                <a:cs typeface="Arial Black" pitchFamily="34" charset="-120"/>
              </a:rPr>
              <a:t>in one evolution story.</a:t>
            </a:r>
            <a:endParaRPr lang="en-US" sz="4000" dirty="0"/>
          </a:p>
        </p:txBody>
      </p:sp>
      <p:sp>
        <p:nvSpPr>
          <p:cNvPr id="6" name="Text 4"/>
          <p:cNvSpPr/>
          <p:nvPr/>
        </p:nvSpPr>
        <p:spPr>
          <a:xfrm>
            <a:off x="5303520" y="5120640"/>
            <a:ext cx="6400800" cy="45720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The part that's NOT in your textbook but IS in every job description.</a:t>
            </a:r>
            <a:endParaRPr lang="en-US" sz="1400" dirty="0"/>
          </a:p>
        </p:txBody>
      </p:sp>
      <p:sp>
        <p:nvSpPr>
          <p:cNvPr id="7" name="Text 5"/>
          <p:cNvSpPr/>
          <p:nvPr/>
        </p:nvSpPr>
        <p:spPr>
          <a:xfrm>
            <a:off x="10332720" y="6510528"/>
            <a:ext cx="173736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14 / 32  ·  DATA &amp; AI</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14B8A6"/>
          </a:solidFill>
          <a:ln/>
        </p:spPr>
        <p:txBody>
          <a:bodyPr/>
          <a:lstStyle/>
          <a:p>
            <a:endParaRPr lang="en-AE"/>
          </a:p>
        </p:txBody>
      </p:sp>
      <p:sp>
        <p:nvSpPr>
          <p:cNvPr id="3" name="Shape 1"/>
          <p:cNvSpPr/>
          <p:nvPr/>
        </p:nvSpPr>
        <p:spPr>
          <a:xfrm>
            <a:off x="621792" y="457200"/>
            <a:ext cx="54864" cy="128016"/>
          </a:xfrm>
          <a:prstGeom prst="rect">
            <a:avLst/>
          </a:prstGeom>
          <a:solidFill>
            <a:srgbClr val="0B1437"/>
          </a:solidFill>
          <a:ln/>
        </p:spPr>
        <p:txBody>
          <a:bodyPr/>
          <a:lstStyle/>
          <a:p>
            <a:endParaRPr lang="en-AE"/>
          </a:p>
        </p:txBody>
      </p:sp>
      <p:sp>
        <p:nvSpPr>
          <p:cNvPr id="4" name="Text 2"/>
          <p:cNvSpPr/>
          <p:nvPr/>
        </p:nvSpPr>
        <p:spPr>
          <a:xfrm>
            <a:off x="457200" y="685800"/>
            <a:ext cx="11247120" cy="274320"/>
          </a:xfrm>
          <a:prstGeom prst="rect">
            <a:avLst/>
          </a:prstGeom>
          <a:noFill/>
          <a:ln/>
        </p:spPr>
        <p:txBody>
          <a:bodyPr wrap="square" lIns="0" tIns="0" rIns="0" bIns="0" rtlCol="0" anchor="ctr"/>
          <a:lstStyle/>
          <a:p>
            <a:pPr marL="0" indent="0">
              <a:buNone/>
            </a:pPr>
            <a:r>
              <a:rPr lang="en-US" sz="1100" b="1" kern="0" spc="400" dirty="0">
                <a:solidFill>
                  <a:srgbClr val="14B8A6"/>
                </a:solidFill>
                <a:latin typeface="Calibri" pitchFamily="34" charset="0"/>
                <a:ea typeface="Calibri" pitchFamily="34" charset="-122"/>
                <a:cs typeface="Calibri" pitchFamily="34" charset="-120"/>
              </a:rPr>
              <a:t>THE MODERN STACK</a:t>
            </a:r>
            <a:endParaRPr lang="en-US" sz="1100" dirty="0"/>
          </a:p>
        </p:txBody>
      </p:sp>
      <p:sp>
        <p:nvSpPr>
          <p:cNvPr id="5" name="Text 3"/>
          <p:cNvSpPr/>
          <p:nvPr/>
        </p:nvSpPr>
        <p:spPr>
          <a:xfrm>
            <a:off x="457200" y="932688"/>
            <a:ext cx="1124712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ETL vs ELT the order of operations changed everything.</a:t>
            </a:r>
            <a:endParaRPr lang="en-US" sz="3000" dirty="0"/>
          </a:p>
        </p:txBody>
      </p:sp>
      <p:sp>
        <p:nvSpPr>
          <p:cNvPr id="6" name="Text 4"/>
          <p:cNvSpPr/>
          <p:nvPr/>
        </p:nvSpPr>
        <p:spPr>
          <a:xfrm>
            <a:off x="457200" y="1572768"/>
            <a:ext cx="11247120" cy="45720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Same three letters. Different order. Billion-dollar consequence.</a:t>
            </a:r>
            <a:endParaRPr lang="en-US" sz="1300" dirty="0"/>
          </a:p>
        </p:txBody>
      </p:sp>
      <p:sp>
        <p:nvSpPr>
          <p:cNvPr id="7" name="Text 5"/>
          <p:cNvSpPr/>
          <p:nvPr/>
        </p:nvSpPr>
        <p:spPr>
          <a:xfrm>
            <a:off x="457200" y="2011680"/>
            <a:ext cx="7315200" cy="320040"/>
          </a:xfrm>
          <a:prstGeom prst="rect">
            <a:avLst/>
          </a:prstGeom>
          <a:noFill/>
          <a:ln/>
        </p:spPr>
        <p:txBody>
          <a:bodyPr wrap="square" lIns="0" tIns="0" rIns="0" bIns="0" rtlCol="0" anchor="ctr"/>
          <a:lstStyle/>
          <a:p>
            <a:pPr marL="0" indent="0">
              <a:buNone/>
            </a:pPr>
            <a:r>
              <a:rPr lang="en-US" sz="1400" b="1" kern="0" spc="200" dirty="0">
                <a:solidFill>
                  <a:srgbClr val="64748B"/>
                </a:solidFill>
                <a:latin typeface="Arial Black" pitchFamily="34" charset="0"/>
                <a:ea typeface="Arial Black" pitchFamily="34" charset="-122"/>
                <a:cs typeface="Arial Black" pitchFamily="34" charset="-120"/>
              </a:rPr>
              <a:t>ETL  ·  the old way (pre-2015)</a:t>
            </a:r>
            <a:endParaRPr lang="en-US" sz="1400" dirty="0"/>
          </a:p>
        </p:txBody>
      </p:sp>
      <p:sp>
        <p:nvSpPr>
          <p:cNvPr id="8" name="Shape 6"/>
          <p:cNvSpPr/>
          <p:nvPr/>
        </p:nvSpPr>
        <p:spPr>
          <a:xfrm>
            <a:off x="457200" y="2423160"/>
            <a:ext cx="1965960" cy="960120"/>
          </a:xfrm>
          <a:prstGeom prst="rect">
            <a:avLst/>
          </a:prstGeom>
          <a:solidFill>
            <a:srgbClr val="94A3B8"/>
          </a:solidFill>
          <a:ln/>
        </p:spPr>
        <p:txBody>
          <a:bodyPr/>
          <a:lstStyle/>
          <a:p>
            <a:endParaRPr lang="en-AE"/>
          </a:p>
        </p:txBody>
      </p:sp>
      <p:sp>
        <p:nvSpPr>
          <p:cNvPr id="9" name="Text 7"/>
          <p:cNvSpPr/>
          <p:nvPr/>
        </p:nvSpPr>
        <p:spPr>
          <a:xfrm>
            <a:off x="457200" y="2487168"/>
            <a:ext cx="19659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SOURCES</a:t>
            </a:r>
            <a:endParaRPr lang="en-US" sz="1300" dirty="0"/>
          </a:p>
        </p:txBody>
      </p:sp>
      <p:sp>
        <p:nvSpPr>
          <p:cNvPr id="10" name="Text 8"/>
          <p:cNvSpPr/>
          <p:nvPr/>
        </p:nvSpPr>
        <p:spPr>
          <a:xfrm>
            <a:off x="502920" y="2926080"/>
            <a:ext cx="1874520" cy="384048"/>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CRM, ERP, files</a:t>
            </a:r>
            <a:endParaRPr lang="en-US" sz="950" dirty="0"/>
          </a:p>
        </p:txBody>
      </p:sp>
      <p:sp>
        <p:nvSpPr>
          <p:cNvPr id="11" name="Shape 9"/>
          <p:cNvSpPr/>
          <p:nvPr/>
        </p:nvSpPr>
        <p:spPr>
          <a:xfrm>
            <a:off x="2423160" y="2907792"/>
            <a:ext cx="320040" cy="0"/>
          </a:xfrm>
          <a:prstGeom prst="line">
            <a:avLst/>
          </a:prstGeom>
          <a:noFill/>
          <a:ln w="31750">
            <a:solidFill>
              <a:srgbClr val="64748B"/>
            </a:solidFill>
            <a:prstDash val="solid"/>
            <a:tailEnd type="triangle"/>
          </a:ln>
        </p:spPr>
        <p:txBody>
          <a:bodyPr/>
          <a:lstStyle/>
          <a:p>
            <a:endParaRPr lang="en-AE"/>
          </a:p>
        </p:txBody>
      </p:sp>
      <p:sp>
        <p:nvSpPr>
          <p:cNvPr id="12" name="Shape 10"/>
          <p:cNvSpPr/>
          <p:nvPr/>
        </p:nvSpPr>
        <p:spPr>
          <a:xfrm>
            <a:off x="2743200" y="2423160"/>
            <a:ext cx="1965960" cy="960120"/>
          </a:xfrm>
          <a:prstGeom prst="rect">
            <a:avLst/>
          </a:prstGeom>
          <a:solidFill>
            <a:srgbClr val="0B1437"/>
          </a:solidFill>
          <a:ln/>
        </p:spPr>
        <p:txBody>
          <a:bodyPr/>
          <a:lstStyle/>
          <a:p>
            <a:endParaRPr lang="en-AE"/>
          </a:p>
        </p:txBody>
      </p:sp>
      <p:sp>
        <p:nvSpPr>
          <p:cNvPr id="13" name="Text 11"/>
          <p:cNvSpPr/>
          <p:nvPr/>
        </p:nvSpPr>
        <p:spPr>
          <a:xfrm>
            <a:off x="2743200" y="2487168"/>
            <a:ext cx="19659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EXTRACT</a:t>
            </a:r>
            <a:endParaRPr lang="en-US" sz="1300" dirty="0"/>
          </a:p>
        </p:txBody>
      </p:sp>
      <p:sp>
        <p:nvSpPr>
          <p:cNvPr id="14" name="Text 12"/>
          <p:cNvSpPr/>
          <p:nvPr/>
        </p:nvSpPr>
        <p:spPr>
          <a:xfrm>
            <a:off x="2788920" y="2926080"/>
            <a:ext cx="1874520" cy="384048"/>
          </a:xfrm>
          <a:prstGeom prst="rect">
            <a:avLst/>
          </a:prstGeom>
          <a:noFill/>
          <a:ln/>
        </p:spPr>
        <p:txBody>
          <a:bodyPr wrap="square" lIns="0" tIns="0" rIns="0" bIns="0" rtlCol="0" anchor="ctr"/>
          <a:lstStyle/>
          <a:p>
            <a:pPr marL="0" indent="0" algn="ctr">
              <a:buNone/>
            </a:pPr>
            <a:endParaRPr lang="en-US" sz="950" dirty="0"/>
          </a:p>
        </p:txBody>
      </p:sp>
      <p:sp>
        <p:nvSpPr>
          <p:cNvPr id="15" name="Shape 13"/>
          <p:cNvSpPr/>
          <p:nvPr/>
        </p:nvSpPr>
        <p:spPr>
          <a:xfrm>
            <a:off x="4709160" y="2907792"/>
            <a:ext cx="320040" cy="0"/>
          </a:xfrm>
          <a:prstGeom prst="line">
            <a:avLst/>
          </a:prstGeom>
          <a:noFill/>
          <a:ln w="31750">
            <a:solidFill>
              <a:srgbClr val="64748B"/>
            </a:solidFill>
            <a:prstDash val="solid"/>
            <a:tailEnd type="triangle"/>
          </a:ln>
        </p:spPr>
        <p:txBody>
          <a:bodyPr/>
          <a:lstStyle/>
          <a:p>
            <a:endParaRPr lang="en-AE"/>
          </a:p>
        </p:txBody>
      </p:sp>
      <p:sp>
        <p:nvSpPr>
          <p:cNvPr id="16" name="Shape 14"/>
          <p:cNvSpPr/>
          <p:nvPr/>
        </p:nvSpPr>
        <p:spPr>
          <a:xfrm>
            <a:off x="5029200" y="2423160"/>
            <a:ext cx="1965960" cy="960120"/>
          </a:xfrm>
          <a:prstGeom prst="rect">
            <a:avLst/>
          </a:prstGeom>
          <a:solidFill>
            <a:srgbClr val="F59E0B"/>
          </a:solidFill>
          <a:ln/>
        </p:spPr>
        <p:txBody>
          <a:bodyPr/>
          <a:lstStyle/>
          <a:p>
            <a:endParaRPr lang="en-AE"/>
          </a:p>
        </p:txBody>
      </p:sp>
      <p:sp>
        <p:nvSpPr>
          <p:cNvPr id="17" name="Text 15"/>
          <p:cNvSpPr/>
          <p:nvPr/>
        </p:nvSpPr>
        <p:spPr>
          <a:xfrm>
            <a:off x="5029200" y="2487168"/>
            <a:ext cx="19659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TRANSFORM</a:t>
            </a:r>
            <a:endParaRPr lang="en-US" sz="1300" dirty="0"/>
          </a:p>
        </p:txBody>
      </p:sp>
      <p:sp>
        <p:nvSpPr>
          <p:cNvPr id="18" name="Text 16"/>
          <p:cNvSpPr/>
          <p:nvPr/>
        </p:nvSpPr>
        <p:spPr>
          <a:xfrm>
            <a:off x="5074920" y="2926080"/>
            <a:ext cx="1874520" cy="384048"/>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on a lonely server</a:t>
            </a:r>
            <a:endParaRPr lang="en-US" sz="950" dirty="0"/>
          </a:p>
        </p:txBody>
      </p:sp>
      <p:sp>
        <p:nvSpPr>
          <p:cNvPr id="19" name="Shape 17"/>
          <p:cNvSpPr/>
          <p:nvPr/>
        </p:nvSpPr>
        <p:spPr>
          <a:xfrm>
            <a:off x="6995160" y="2907792"/>
            <a:ext cx="320040" cy="0"/>
          </a:xfrm>
          <a:prstGeom prst="line">
            <a:avLst/>
          </a:prstGeom>
          <a:noFill/>
          <a:ln w="31750">
            <a:solidFill>
              <a:srgbClr val="64748B"/>
            </a:solidFill>
            <a:prstDash val="solid"/>
            <a:tailEnd type="triangle"/>
          </a:ln>
        </p:spPr>
        <p:txBody>
          <a:bodyPr/>
          <a:lstStyle/>
          <a:p>
            <a:endParaRPr lang="en-AE"/>
          </a:p>
        </p:txBody>
      </p:sp>
      <p:sp>
        <p:nvSpPr>
          <p:cNvPr id="20" name="Shape 18"/>
          <p:cNvSpPr/>
          <p:nvPr/>
        </p:nvSpPr>
        <p:spPr>
          <a:xfrm>
            <a:off x="7315200" y="2423160"/>
            <a:ext cx="1965960" cy="960120"/>
          </a:xfrm>
          <a:prstGeom prst="rect">
            <a:avLst/>
          </a:prstGeom>
          <a:solidFill>
            <a:srgbClr val="0B1437"/>
          </a:solidFill>
          <a:ln/>
        </p:spPr>
        <p:txBody>
          <a:bodyPr/>
          <a:lstStyle/>
          <a:p>
            <a:endParaRPr lang="en-AE"/>
          </a:p>
        </p:txBody>
      </p:sp>
      <p:sp>
        <p:nvSpPr>
          <p:cNvPr id="21" name="Text 19"/>
          <p:cNvSpPr/>
          <p:nvPr/>
        </p:nvSpPr>
        <p:spPr>
          <a:xfrm>
            <a:off x="7315200" y="2487168"/>
            <a:ext cx="19659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LOAD</a:t>
            </a:r>
            <a:endParaRPr lang="en-US" sz="1300" dirty="0"/>
          </a:p>
        </p:txBody>
      </p:sp>
      <p:sp>
        <p:nvSpPr>
          <p:cNvPr id="22" name="Text 20"/>
          <p:cNvSpPr/>
          <p:nvPr/>
        </p:nvSpPr>
        <p:spPr>
          <a:xfrm>
            <a:off x="7360920" y="2926080"/>
            <a:ext cx="1874520" cy="384048"/>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into warehouse</a:t>
            </a:r>
            <a:endParaRPr lang="en-US" sz="950" dirty="0"/>
          </a:p>
        </p:txBody>
      </p:sp>
      <p:sp>
        <p:nvSpPr>
          <p:cNvPr id="23" name="Shape 21"/>
          <p:cNvSpPr/>
          <p:nvPr/>
        </p:nvSpPr>
        <p:spPr>
          <a:xfrm>
            <a:off x="9281160" y="2907792"/>
            <a:ext cx="320040" cy="0"/>
          </a:xfrm>
          <a:prstGeom prst="line">
            <a:avLst/>
          </a:prstGeom>
          <a:noFill/>
          <a:ln w="31750">
            <a:solidFill>
              <a:srgbClr val="64748B"/>
            </a:solidFill>
            <a:prstDash val="solid"/>
            <a:tailEnd type="triangle"/>
          </a:ln>
        </p:spPr>
        <p:txBody>
          <a:bodyPr/>
          <a:lstStyle/>
          <a:p>
            <a:endParaRPr lang="en-AE"/>
          </a:p>
        </p:txBody>
      </p:sp>
      <p:sp>
        <p:nvSpPr>
          <p:cNvPr id="24" name="Shape 22"/>
          <p:cNvSpPr/>
          <p:nvPr/>
        </p:nvSpPr>
        <p:spPr>
          <a:xfrm>
            <a:off x="9601200" y="2423160"/>
            <a:ext cx="1965960" cy="960120"/>
          </a:xfrm>
          <a:prstGeom prst="rect">
            <a:avLst/>
          </a:prstGeom>
          <a:solidFill>
            <a:srgbClr val="0891B2"/>
          </a:solidFill>
          <a:ln/>
        </p:spPr>
        <p:txBody>
          <a:bodyPr/>
          <a:lstStyle/>
          <a:p>
            <a:endParaRPr lang="en-AE"/>
          </a:p>
        </p:txBody>
      </p:sp>
      <p:sp>
        <p:nvSpPr>
          <p:cNvPr id="25" name="Text 23"/>
          <p:cNvSpPr/>
          <p:nvPr/>
        </p:nvSpPr>
        <p:spPr>
          <a:xfrm>
            <a:off x="9601200" y="2487168"/>
            <a:ext cx="19659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WAREHOUSE</a:t>
            </a:r>
            <a:endParaRPr lang="en-US" sz="1300" dirty="0"/>
          </a:p>
        </p:txBody>
      </p:sp>
      <p:sp>
        <p:nvSpPr>
          <p:cNvPr id="26" name="Text 24"/>
          <p:cNvSpPr/>
          <p:nvPr/>
        </p:nvSpPr>
        <p:spPr>
          <a:xfrm>
            <a:off x="9646920" y="2926080"/>
            <a:ext cx="1874520" cy="384048"/>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rigid · slow</a:t>
            </a:r>
            <a:endParaRPr lang="en-US" sz="950" dirty="0"/>
          </a:p>
        </p:txBody>
      </p:sp>
      <p:sp>
        <p:nvSpPr>
          <p:cNvPr id="27" name="Shape 25"/>
          <p:cNvSpPr/>
          <p:nvPr/>
        </p:nvSpPr>
        <p:spPr>
          <a:xfrm>
            <a:off x="457200" y="3749040"/>
            <a:ext cx="11247120" cy="0"/>
          </a:xfrm>
          <a:prstGeom prst="line">
            <a:avLst/>
          </a:prstGeom>
          <a:noFill/>
          <a:ln w="12700">
            <a:solidFill>
              <a:srgbClr val="E2E8F0"/>
            </a:solidFill>
            <a:prstDash val="solid"/>
          </a:ln>
        </p:spPr>
        <p:txBody>
          <a:bodyPr/>
          <a:lstStyle/>
          <a:p>
            <a:endParaRPr lang="en-AE"/>
          </a:p>
        </p:txBody>
      </p:sp>
      <p:sp>
        <p:nvSpPr>
          <p:cNvPr id="28" name="Text 26"/>
          <p:cNvSpPr/>
          <p:nvPr/>
        </p:nvSpPr>
        <p:spPr>
          <a:xfrm>
            <a:off x="457200" y="3886200"/>
            <a:ext cx="9144000" cy="320040"/>
          </a:xfrm>
          <a:prstGeom prst="rect">
            <a:avLst/>
          </a:prstGeom>
          <a:noFill/>
          <a:ln/>
        </p:spPr>
        <p:txBody>
          <a:bodyPr wrap="square" lIns="0" tIns="0" rIns="0" bIns="0" rtlCol="0" anchor="ctr"/>
          <a:lstStyle/>
          <a:p>
            <a:pPr marL="0" indent="0">
              <a:buNone/>
            </a:pPr>
            <a:r>
              <a:rPr lang="en-US" sz="1400" b="1" kern="0" spc="200" dirty="0">
                <a:solidFill>
                  <a:srgbClr val="14B8A6"/>
                </a:solidFill>
                <a:latin typeface="Arial Black" pitchFamily="34" charset="0"/>
                <a:ea typeface="Arial Black" pitchFamily="34" charset="-122"/>
                <a:cs typeface="Arial Black" pitchFamily="34" charset="-120"/>
              </a:rPr>
              <a:t>ELT  ·  the modern way (post-2015) </a:t>
            </a:r>
            <a:r>
              <a:rPr lang="en-US" sz="1400" b="1" i="1" kern="0" spc="200" dirty="0">
                <a:solidFill>
                  <a:srgbClr val="64748B"/>
                </a:solidFill>
                <a:latin typeface="Arial Black" pitchFamily="34" charset="0"/>
                <a:ea typeface="Arial Black" pitchFamily="34" charset="-122"/>
                <a:cs typeface="Arial Black" pitchFamily="34" charset="-120"/>
              </a:rPr>
              <a:t>after cloud compute got cheap</a:t>
            </a:r>
            <a:endParaRPr lang="en-US" sz="1400" dirty="0"/>
          </a:p>
        </p:txBody>
      </p:sp>
      <p:sp>
        <p:nvSpPr>
          <p:cNvPr id="29" name="Shape 27"/>
          <p:cNvSpPr/>
          <p:nvPr/>
        </p:nvSpPr>
        <p:spPr>
          <a:xfrm>
            <a:off x="457200" y="4297680"/>
            <a:ext cx="1965960" cy="960120"/>
          </a:xfrm>
          <a:prstGeom prst="rect">
            <a:avLst/>
          </a:prstGeom>
          <a:solidFill>
            <a:srgbClr val="94A3B8"/>
          </a:solidFill>
          <a:ln/>
        </p:spPr>
        <p:txBody>
          <a:bodyPr/>
          <a:lstStyle/>
          <a:p>
            <a:endParaRPr lang="en-AE"/>
          </a:p>
        </p:txBody>
      </p:sp>
      <p:sp>
        <p:nvSpPr>
          <p:cNvPr id="30" name="Text 28"/>
          <p:cNvSpPr/>
          <p:nvPr/>
        </p:nvSpPr>
        <p:spPr>
          <a:xfrm>
            <a:off x="457200" y="4361688"/>
            <a:ext cx="19659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SOURCES</a:t>
            </a:r>
            <a:endParaRPr lang="en-US" sz="1300" dirty="0"/>
          </a:p>
        </p:txBody>
      </p:sp>
      <p:sp>
        <p:nvSpPr>
          <p:cNvPr id="31" name="Text 29"/>
          <p:cNvSpPr/>
          <p:nvPr/>
        </p:nvSpPr>
        <p:spPr>
          <a:xfrm>
            <a:off x="502920" y="4800600"/>
            <a:ext cx="1874520" cy="384048"/>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anything, any format</a:t>
            </a:r>
            <a:endParaRPr lang="en-US" sz="950" dirty="0"/>
          </a:p>
        </p:txBody>
      </p:sp>
      <p:sp>
        <p:nvSpPr>
          <p:cNvPr id="32" name="Shape 30"/>
          <p:cNvSpPr/>
          <p:nvPr/>
        </p:nvSpPr>
        <p:spPr>
          <a:xfrm>
            <a:off x="2423160" y="4782312"/>
            <a:ext cx="320040" cy="0"/>
          </a:xfrm>
          <a:prstGeom prst="line">
            <a:avLst/>
          </a:prstGeom>
          <a:noFill/>
          <a:ln w="31750">
            <a:solidFill>
              <a:srgbClr val="64748B"/>
            </a:solidFill>
            <a:prstDash val="solid"/>
            <a:tailEnd type="triangle"/>
          </a:ln>
        </p:spPr>
        <p:txBody>
          <a:bodyPr/>
          <a:lstStyle/>
          <a:p>
            <a:endParaRPr lang="en-AE"/>
          </a:p>
        </p:txBody>
      </p:sp>
      <p:sp>
        <p:nvSpPr>
          <p:cNvPr id="33" name="Shape 31"/>
          <p:cNvSpPr/>
          <p:nvPr/>
        </p:nvSpPr>
        <p:spPr>
          <a:xfrm>
            <a:off x="2743200" y="4297680"/>
            <a:ext cx="1965960" cy="960120"/>
          </a:xfrm>
          <a:prstGeom prst="rect">
            <a:avLst/>
          </a:prstGeom>
          <a:solidFill>
            <a:srgbClr val="0B1437"/>
          </a:solidFill>
          <a:ln/>
        </p:spPr>
        <p:txBody>
          <a:bodyPr/>
          <a:lstStyle/>
          <a:p>
            <a:endParaRPr lang="en-AE"/>
          </a:p>
        </p:txBody>
      </p:sp>
      <p:sp>
        <p:nvSpPr>
          <p:cNvPr id="34" name="Text 32"/>
          <p:cNvSpPr/>
          <p:nvPr/>
        </p:nvSpPr>
        <p:spPr>
          <a:xfrm>
            <a:off x="2743200" y="4361688"/>
            <a:ext cx="19659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EXTRACT</a:t>
            </a:r>
            <a:endParaRPr lang="en-US" sz="1300" dirty="0"/>
          </a:p>
        </p:txBody>
      </p:sp>
      <p:sp>
        <p:nvSpPr>
          <p:cNvPr id="35" name="Text 33"/>
          <p:cNvSpPr/>
          <p:nvPr/>
        </p:nvSpPr>
        <p:spPr>
          <a:xfrm>
            <a:off x="2788920" y="4800600"/>
            <a:ext cx="1874520" cy="384048"/>
          </a:xfrm>
          <a:prstGeom prst="rect">
            <a:avLst/>
          </a:prstGeom>
          <a:noFill/>
          <a:ln/>
        </p:spPr>
        <p:txBody>
          <a:bodyPr wrap="square" lIns="0" tIns="0" rIns="0" bIns="0" rtlCol="0" anchor="ctr"/>
          <a:lstStyle/>
          <a:p>
            <a:pPr marL="0" indent="0" algn="ctr">
              <a:buNone/>
            </a:pPr>
            <a:endParaRPr lang="en-US" sz="950" dirty="0"/>
          </a:p>
        </p:txBody>
      </p:sp>
      <p:sp>
        <p:nvSpPr>
          <p:cNvPr id="36" name="Shape 34"/>
          <p:cNvSpPr/>
          <p:nvPr/>
        </p:nvSpPr>
        <p:spPr>
          <a:xfrm>
            <a:off x="4709160" y="4782312"/>
            <a:ext cx="320040" cy="0"/>
          </a:xfrm>
          <a:prstGeom prst="line">
            <a:avLst/>
          </a:prstGeom>
          <a:noFill/>
          <a:ln w="31750">
            <a:solidFill>
              <a:srgbClr val="64748B"/>
            </a:solidFill>
            <a:prstDash val="solid"/>
            <a:tailEnd type="triangle"/>
          </a:ln>
        </p:spPr>
        <p:txBody>
          <a:bodyPr/>
          <a:lstStyle/>
          <a:p>
            <a:endParaRPr lang="en-AE"/>
          </a:p>
        </p:txBody>
      </p:sp>
      <p:sp>
        <p:nvSpPr>
          <p:cNvPr id="37" name="Shape 35"/>
          <p:cNvSpPr/>
          <p:nvPr/>
        </p:nvSpPr>
        <p:spPr>
          <a:xfrm>
            <a:off x="5029200" y="4297680"/>
            <a:ext cx="1965960" cy="960120"/>
          </a:xfrm>
          <a:prstGeom prst="rect">
            <a:avLst/>
          </a:prstGeom>
          <a:solidFill>
            <a:srgbClr val="0B1437"/>
          </a:solidFill>
          <a:ln/>
        </p:spPr>
        <p:txBody>
          <a:bodyPr/>
          <a:lstStyle/>
          <a:p>
            <a:endParaRPr lang="en-AE"/>
          </a:p>
        </p:txBody>
      </p:sp>
      <p:sp>
        <p:nvSpPr>
          <p:cNvPr id="38" name="Text 36"/>
          <p:cNvSpPr/>
          <p:nvPr/>
        </p:nvSpPr>
        <p:spPr>
          <a:xfrm>
            <a:off x="5029200" y="4361688"/>
            <a:ext cx="19659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LOAD</a:t>
            </a:r>
            <a:endParaRPr lang="en-US" sz="1300" dirty="0"/>
          </a:p>
        </p:txBody>
      </p:sp>
      <p:sp>
        <p:nvSpPr>
          <p:cNvPr id="39" name="Text 37"/>
          <p:cNvSpPr/>
          <p:nvPr/>
        </p:nvSpPr>
        <p:spPr>
          <a:xfrm>
            <a:off x="5074920" y="4800600"/>
            <a:ext cx="1874520" cy="384048"/>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as-is, raw</a:t>
            </a:r>
            <a:endParaRPr lang="en-US" sz="950" dirty="0"/>
          </a:p>
        </p:txBody>
      </p:sp>
      <p:sp>
        <p:nvSpPr>
          <p:cNvPr id="40" name="Shape 38"/>
          <p:cNvSpPr/>
          <p:nvPr/>
        </p:nvSpPr>
        <p:spPr>
          <a:xfrm>
            <a:off x="6995160" y="4782312"/>
            <a:ext cx="320040" cy="0"/>
          </a:xfrm>
          <a:prstGeom prst="line">
            <a:avLst/>
          </a:prstGeom>
          <a:noFill/>
          <a:ln w="31750">
            <a:solidFill>
              <a:srgbClr val="64748B"/>
            </a:solidFill>
            <a:prstDash val="solid"/>
            <a:tailEnd type="triangle"/>
          </a:ln>
        </p:spPr>
        <p:txBody>
          <a:bodyPr/>
          <a:lstStyle/>
          <a:p>
            <a:endParaRPr lang="en-AE"/>
          </a:p>
        </p:txBody>
      </p:sp>
      <p:sp>
        <p:nvSpPr>
          <p:cNvPr id="41" name="Shape 39"/>
          <p:cNvSpPr/>
          <p:nvPr/>
        </p:nvSpPr>
        <p:spPr>
          <a:xfrm>
            <a:off x="7315200" y="4297680"/>
            <a:ext cx="1965960" cy="960120"/>
          </a:xfrm>
          <a:prstGeom prst="rect">
            <a:avLst/>
          </a:prstGeom>
          <a:solidFill>
            <a:srgbClr val="14B8A6"/>
          </a:solidFill>
          <a:ln/>
        </p:spPr>
        <p:txBody>
          <a:bodyPr/>
          <a:lstStyle/>
          <a:p>
            <a:endParaRPr lang="en-AE"/>
          </a:p>
        </p:txBody>
      </p:sp>
      <p:sp>
        <p:nvSpPr>
          <p:cNvPr id="42" name="Text 40"/>
          <p:cNvSpPr/>
          <p:nvPr/>
        </p:nvSpPr>
        <p:spPr>
          <a:xfrm>
            <a:off x="7315200" y="4361688"/>
            <a:ext cx="19659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LAKEHOUSE</a:t>
            </a:r>
            <a:endParaRPr lang="en-US" sz="1300" dirty="0"/>
          </a:p>
        </p:txBody>
      </p:sp>
      <p:sp>
        <p:nvSpPr>
          <p:cNvPr id="43" name="Text 41"/>
          <p:cNvSpPr/>
          <p:nvPr/>
        </p:nvSpPr>
        <p:spPr>
          <a:xfrm>
            <a:off x="7360920" y="4800600"/>
            <a:ext cx="1874520" cy="384048"/>
          </a:xfrm>
          <a:prstGeom prst="rect">
            <a:avLst/>
          </a:prstGeom>
          <a:noFill/>
          <a:ln/>
        </p:spPr>
        <p:txBody>
          <a:bodyPr wrap="square" lIns="0" tIns="0" rIns="0" bIns="0" rtlCol="0" anchor="ctr"/>
          <a:lstStyle/>
          <a:p>
            <a:pPr marL="0" indent="0" algn="ctr">
              <a:buNone/>
            </a:pPr>
            <a:endParaRPr lang="en-US" sz="950" dirty="0"/>
          </a:p>
        </p:txBody>
      </p:sp>
      <p:sp>
        <p:nvSpPr>
          <p:cNvPr id="44" name="Shape 42"/>
          <p:cNvSpPr/>
          <p:nvPr/>
        </p:nvSpPr>
        <p:spPr>
          <a:xfrm>
            <a:off x="9281160" y="4782312"/>
            <a:ext cx="320040" cy="0"/>
          </a:xfrm>
          <a:prstGeom prst="line">
            <a:avLst/>
          </a:prstGeom>
          <a:noFill/>
          <a:ln w="31750">
            <a:solidFill>
              <a:srgbClr val="64748B"/>
            </a:solidFill>
            <a:prstDash val="solid"/>
            <a:tailEnd type="triangle"/>
          </a:ln>
        </p:spPr>
        <p:txBody>
          <a:bodyPr/>
          <a:lstStyle/>
          <a:p>
            <a:endParaRPr lang="en-AE"/>
          </a:p>
        </p:txBody>
      </p:sp>
      <p:sp>
        <p:nvSpPr>
          <p:cNvPr id="45" name="Shape 43"/>
          <p:cNvSpPr/>
          <p:nvPr/>
        </p:nvSpPr>
        <p:spPr>
          <a:xfrm>
            <a:off x="9601200" y="4297680"/>
            <a:ext cx="1965960" cy="960120"/>
          </a:xfrm>
          <a:prstGeom prst="rect">
            <a:avLst/>
          </a:prstGeom>
          <a:solidFill>
            <a:srgbClr val="FF6B35"/>
          </a:solidFill>
          <a:ln/>
        </p:spPr>
        <p:txBody>
          <a:bodyPr/>
          <a:lstStyle/>
          <a:p>
            <a:endParaRPr lang="en-AE"/>
          </a:p>
        </p:txBody>
      </p:sp>
      <p:sp>
        <p:nvSpPr>
          <p:cNvPr id="46" name="Text 44"/>
          <p:cNvSpPr/>
          <p:nvPr/>
        </p:nvSpPr>
        <p:spPr>
          <a:xfrm>
            <a:off x="9601200" y="4361688"/>
            <a:ext cx="19659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TRANSFORM</a:t>
            </a:r>
            <a:endParaRPr lang="en-US" sz="1300" dirty="0"/>
          </a:p>
        </p:txBody>
      </p:sp>
      <p:sp>
        <p:nvSpPr>
          <p:cNvPr id="47" name="Text 45"/>
          <p:cNvSpPr/>
          <p:nvPr/>
        </p:nvSpPr>
        <p:spPr>
          <a:xfrm>
            <a:off x="9646920" y="4800600"/>
            <a:ext cx="1874520" cy="384048"/>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inside, with SQL</a:t>
            </a:r>
            <a:endParaRPr lang="en-US" sz="950" dirty="0"/>
          </a:p>
        </p:txBody>
      </p:sp>
      <p:sp>
        <p:nvSpPr>
          <p:cNvPr id="48" name="Shape 46"/>
          <p:cNvSpPr/>
          <p:nvPr/>
        </p:nvSpPr>
        <p:spPr>
          <a:xfrm>
            <a:off x="457200" y="5623560"/>
            <a:ext cx="5532120" cy="822960"/>
          </a:xfrm>
          <a:prstGeom prst="rect">
            <a:avLst/>
          </a:prstGeom>
          <a:solidFill>
            <a:srgbClr val="F8FAFC"/>
          </a:solidFill>
          <a:ln/>
        </p:spPr>
        <p:txBody>
          <a:bodyPr/>
          <a:lstStyle/>
          <a:p>
            <a:endParaRPr lang="en-AE"/>
          </a:p>
        </p:txBody>
      </p:sp>
      <p:sp>
        <p:nvSpPr>
          <p:cNvPr id="49" name="Shape 47"/>
          <p:cNvSpPr/>
          <p:nvPr/>
        </p:nvSpPr>
        <p:spPr>
          <a:xfrm>
            <a:off x="457200" y="5623560"/>
            <a:ext cx="73152" cy="822960"/>
          </a:xfrm>
          <a:prstGeom prst="rect">
            <a:avLst/>
          </a:prstGeom>
          <a:solidFill>
            <a:srgbClr val="64748B"/>
          </a:solidFill>
          <a:ln/>
        </p:spPr>
        <p:txBody>
          <a:bodyPr/>
          <a:lstStyle/>
          <a:p>
            <a:endParaRPr lang="en-AE"/>
          </a:p>
        </p:txBody>
      </p:sp>
      <p:sp>
        <p:nvSpPr>
          <p:cNvPr id="50" name="Text 48"/>
          <p:cNvSpPr/>
          <p:nvPr/>
        </p:nvSpPr>
        <p:spPr>
          <a:xfrm>
            <a:off x="640080" y="5687568"/>
            <a:ext cx="5303520" cy="685800"/>
          </a:xfrm>
          <a:prstGeom prst="rect">
            <a:avLst/>
          </a:prstGeom>
          <a:noFill/>
          <a:ln/>
        </p:spPr>
        <p:txBody>
          <a:bodyPr wrap="square" lIns="0" tIns="0" rIns="0" bIns="0" rtlCol="0" anchor="ctr"/>
          <a:lstStyle/>
          <a:p>
            <a:pPr marL="0" indent="0">
              <a:buNone/>
            </a:pPr>
            <a:r>
              <a:rPr lang="en-US" sz="1200" b="1" dirty="0">
                <a:solidFill>
                  <a:srgbClr val="64748B"/>
                </a:solidFill>
                <a:latin typeface="Calibri" pitchFamily="34" charset="0"/>
                <a:ea typeface="Calibri" pitchFamily="34" charset="-122"/>
                <a:cs typeface="Calibri" pitchFamily="34" charset="-120"/>
              </a:rPr>
              <a:t>ETL  ·  </a:t>
            </a:r>
            <a:r>
              <a:rPr lang="en-US" sz="1200" dirty="0">
                <a:solidFill>
                  <a:srgbClr val="1E293B"/>
                </a:solidFill>
                <a:latin typeface="Calibri" pitchFamily="34" charset="0"/>
                <a:ea typeface="Calibri" pitchFamily="34" charset="-122"/>
                <a:cs typeface="Calibri" pitchFamily="34" charset="-120"/>
              </a:rPr>
              <a:t>transform before storing. Rigid, slow, but disciplined.</a:t>
            </a:r>
            <a:endParaRPr lang="en-US" sz="1200" dirty="0"/>
          </a:p>
        </p:txBody>
      </p:sp>
      <p:sp>
        <p:nvSpPr>
          <p:cNvPr id="51" name="Shape 49"/>
          <p:cNvSpPr/>
          <p:nvPr/>
        </p:nvSpPr>
        <p:spPr>
          <a:xfrm>
            <a:off x="6172200" y="5623560"/>
            <a:ext cx="5532120" cy="822960"/>
          </a:xfrm>
          <a:prstGeom prst="rect">
            <a:avLst/>
          </a:prstGeom>
          <a:solidFill>
            <a:srgbClr val="F8FAFC"/>
          </a:solidFill>
          <a:ln/>
        </p:spPr>
        <p:txBody>
          <a:bodyPr/>
          <a:lstStyle/>
          <a:p>
            <a:endParaRPr lang="en-AE"/>
          </a:p>
        </p:txBody>
      </p:sp>
      <p:sp>
        <p:nvSpPr>
          <p:cNvPr id="52" name="Shape 50"/>
          <p:cNvSpPr/>
          <p:nvPr/>
        </p:nvSpPr>
        <p:spPr>
          <a:xfrm>
            <a:off x="6172200" y="5623560"/>
            <a:ext cx="73152" cy="822960"/>
          </a:xfrm>
          <a:prstGeom prst="rect">
            <a:avLst/>
          </a:prstGeom>
          <a:solidFill>
            <a:srgbClr val="14B8A6"/>
          </a:solidFill>
          <a:ln/>
        </p:spPr>
        <p:txBody>
          <a:bodyPr/>
          <a:lstStyle/>
          <a:p>
            <a:endParaRPr lang="en-AE"/>
          </a:p>
        </p:txBody>
      </p:sp>
      <p:sp>
        <p:nvSpPr>
          <p:cNvPr id="53" name="Text 51"/>
          <p:cNvSpPr/>
          <p:nvPr/>
        </p:nvSpPr>
        <p:spPr>
          <a:xfrm>
            <a:off x="6355080" y="5687568"/>
            <a:ext cx="5303520" cy="685800"/>
          </a:xfrm>
          <a:prstGeom prst="rect">
            <a:avLst/>
          </a:prstGeom>
          <a:noFill/>
          <a:ln/>
        </p:spPr>
        <p:txBody>
          <a:bodyPr wrap="square" lIns="0" tIns="0" rIns="0" bIns="0" rtlCol="0" anchor="ctr"/>
          <a:lstStyle/>
          <a:p>
            <a:pPr marL="0" indent="0">
              <a:buNone/>
            </a:pPr>
            <a:r>
              <a:rPr lang="en-US" sz="1200" b="1" dirty="0">
                <a:solidFill>
                  <a:srgbClr val="14B8A6"/>
                </a:solidFill>
                <a:latin typeface="Calibri" pitchFamily="34" charset="0"/>
                <a:ea typeface="Calibri" pitchFamily="34" charset="-122"/>
                <a:cs typeface="Calibri" pitchFamily="34" charset="-120"/>
              </a:rPr>
              <a:t>ELT  ·  </a:t>
            </a:r>
            <a:r>
              <a:rPr lang="en-US" sz="1200" dirty="0">
                <a:solidFill>
                  <a:srgbClr val="1E293B"/>
                </a:solidFill>
                <a:latin typeface="Calibri" pitchFamily="34" charset="0"/>
                <a:ea typeface="Calibri" pitchFamily="34" charset="-122"/>
                <a:cs typeface="Calibri" pitchFamily="34" charset="-120"/>
              </a:rPr>
              <a:t>load everything, transform on demand. Flexible, fast, cheap.</a:t>
            </a:r>
            <a:endParaRPr lang="en-US" sz="1200" dirty="0"/>
          </a:p>
        </p:txBody>
      </p:sp>
      <p:sp>
        <p:nvSpPr>
          <p:cNvPr id="54" name="Text 52"/>
          <p:cNvSpPr/>
          <p:nvPr/>
        </p:nvSpPr>
        <p:spPr>
          <a:xfrm>
            <a:off x="10332720" y="6510528"/>
            <a:ext cx="173736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15 / 32  ·  DATA &amp; AI</a:t>
            </a:r>
            <a:endParaRPr lang="en-US" sz="900" dirty="0"/>
          </a:p>
        </p:txBody>
      </p:sp>
      <p:sp>
        <p:nvSpPr>
          <p:cNvPr id="55" name="Text 53"/>
          <p:cNvSpPr/>
          <p:nvPr/>
        </p:nvSpPr>
        <p:spPr>
          <a:xfrm>
            <a:off x="457200" y="6510528"/>
            <a:ext cx="5486400" cy="256032"/>
          </a:xfrm>
          <a:prstGeom prst="rect">
            <a:avLst/>
          </a:prstGeom>
          <a:noFill/>
          <a:ln/>
        </p:spPr>
        <p:txBody>
          <a:bodyPr wrap="square" lIns="0" tIns="0" rIns="0" bIns="0" rtlCol="0" anchor="ctr"/>
          <a:lstStyle/>
          <a:p>
            <a:pPr marL="0" indent="0">
              <a:buNone/>
            </a:pPr>
            <a:r>
              <a:rPr lang="en-US" sz="900" b="1" kern="0" spc="200" dirty="0">
                <a:solidFill>
                  <a:srgbClr val="94A3B8"/>
                </a:solidFill>
                <a:latin typeface="Calibri" pitchFamily="34" charset="0"/>
                <a:ea typeface="Calibri" pitchFamily="34" charset="-122"/>
                <a:cs typeface="Calibri" pitchFamily="34" charset="-120"/>
              </a:rPr>
              <a:t>MODERN STACK</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14B8A6"/>
          </a:solidFill>
          <a:ln/>
        </p:spPr>
        <p:txBody>
          <a:bodyPr/>
          <a:lstStyle/>
          <a:p>
            <a:endParaRPr lang="en-AE"/>
          </a:p>
        </p:txBody>
      </p:sp>
      <p:sp>
        <p:nvSpPr>
          <p:cNvPr id="3" name="Shape 1"/>
          <p:cNvSpPr/>
          <p:nvPr/>
        </p:nvSpPr>
        <p:spPr>
          <a:xfrm>
            <a:off x="621792" y="457200"/>
            <a:ext cx="54864" cy="128016"/>
          </a:xfrm>
          <a:prstGeom prst="rect">
            <a:avLst/>
          </a:prstGeom>
          <a:solidFill>
            <a:srgbClr val="0B1437"/>
          </a:solidFill>
          <a:ln/>
        </p:spPr>
        <p:txBody>
          <a:bodyPr/>
          <a:lstStyle/>
          <a:p>
            <a:endParaRPr lang="en-AE"/>
          </a:p>
        </p:txBody>
      </p:sp>
      <p:sp>
        <p:nvSpPr>
          <p:cNvPr id="4" name="Text 2"/>
          <p:cNvSpPr/>
          <p:nvPr/>
        </p:nvSpPr>
        <p:spPr>
          <a:xfrm>
            <a:off x="457200" y="685800"/>
            <a:ext cx="11247120" cy="274320"/>
          </a:xfrm>
          <a:prstGeom prst="rect">
            <a:avLst/>
          </a:prstGeom>
          <a:noFill/>
          <a:ln/>
        </p:spPr>
        <p:txBody>
          <a:bodyPr wrap="square" lIns="0" tIns="0" rIns="0" bIns="0" rtlCol="0" anchor="ctr"/>
          <a:lstStyle/>
          <a:p>
            <a:pPr marL="0" indent="0">
              <a:buNone/>
            </a:pPr>
            <a:r>
              <a:rPr lang="en-US" sz="1100" b="1" kern="0" spc="400" dirty="0">
                <a:solidFill>
                  <a:srgbClr val="14B8A6"/>
                </a:solidFill>
                <a:latin typeface="Calibri" pitchFamily="34" charset="0"/>
                <a:ea typeface="Calibri" pitchFamily="34" charset="-122"/>
                <a:cs typeface="Calibri" pitchFamily="34" charset="-120"/>
              </a:rPr>
              <a:t>20 YEARS IN ONE SLIDE</a:t>
            </a:r>
            <a:endParaRPr lang="en-US" sz="1100" dirty="0"/>
          </a:p>
        </p:txBody>
      </p:sp>
      <p:sp>
        <p:nvSpPr>
          <p:cNvPr id="5" name="Text 3"/>
          <p:cNvSpPr/>
          <p:nvPr/>
        </p:nvSpPr>
        <p:spPr>
          <a:xfrm>
            <a:off x="457200" y="932688"/>
            <a:ext cx="1124712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Warehouse → Lake → Lakehouse.</a:t>
            </a:r>
            <a:endParaRPr lang="en-US" sz="3000" dirty="0"/>
          </a:p>
        </p:txBody>
      </p:sp>
      <p:sp>
        <p:nvSpPr>
          <p:cNvPr id="6" name="Text 4"/>
          <p:cNvSpPr/>
          <p:nvPr/>
        </p:nvSpPr>
        <p:spPr>
          <a:xfrm>
            <a:off x="457200" y="1572768"/>
            <a:ext cx="11247120" cy="45720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Each new architecture was built to fix the last one's problem.</a:t>
            </a:r>
            <a:endParaRPr lang="en-US" sz="1300" dirty="0"/>
          </a:p>
        </p:txBody>
      </p:sp>
      <p:pic>
        <p:nvPicPr>
          <p:cNvPr id="7" name="Image 0" descr="images/evolution.png"/>
          <p:cNvPicPr>
            <a:picLocks noChangeAspect="1"/>
          </p:cNvPicPr>
          <p:nvPr/>
        </p:nvPicPr>
        <p:blipFill>
          <a:blip r:embed="rId3"/>
          <a:srcRect/>
          <a:stretch/>
        </p:blipFill>
        <p:spPr>
          <a:xfrm>
            <a:off x="274320" y="2103120"/>
            <a:ext cx="11612880" cy="3474720"/>
          </a:xfrm>
          <a:prstGeom prst="rect">
            <a:avLst/>
          </a:prstGeom>
        </p:spPr>
      </p:pic>
      <p:sp>
        <p:nvSpPr>
          <p:cNvPr id="8" name="Text 5"/>
          <p:cNvSpPr/>
          <p:nvPr/>
        </p:nvSpPr>
        <p:spPr>
          <a:xfrm>
            <a:off x="457200" y="5669280"/>
            <a:ext cx="4572000" cy="274320"/>
          </a:xfrm>
          <a:prstGeom prst="rect">
            <a:avLst/>
          </a:prstGeom>
          <a:noFill/>
          <a:ln/>
        </p:spPr>
        <p:txBody>
          <a:bodyPr wrap="square" lIns="0" tIns="0" rIns="0" bIns="0" rtlCol="0" anchor="ctr"/>
          <a:lstStyle/>
          <a:p>
            <a:pPr marL="0" indent="0">
              <a:buNone/>
            </a:pPr>
            <a:r>
              <a:rPr lang="en-US" sz="1000" b="1" kern="0" spc="300" dirty="0">
                <a:solidFill>
                  <a:srgbClr val="64748B"/>
                </a:solidFill>
                <a:latin typeface="Calibri" pitchFamily="34" charset="0"/>
                <a:ea typeface="Calibri" pitchFamily="34" charset="-122"/>
                <a:cs typeface="Calibri" pitchFamily="34" charset="-120"/>
              </a:rPr>
              <a:t>TODAY'S LAKEHOUSE PLAYERS</a:t>
            </a:r>
            <a:endParaRPr lang="en-US" sz="1000" dirty="0"/>
          </a:p>
        </p:txBody>
      </p:sp>
      <p:sp>
        <p:nvSpPr>
          <p:cNvPr id="9" name="Shape 6"/>
          <p:cNvSpPr/>
          <p:nvPr/>
        </p:nvSpPr>
        <p:spPr>
          <a:xfrm>
            <a:off x="457200" y="5989320"/>
            <a:ext cx="2148840" cy="457200"/>
          </a:xfrm>
          <a:prstGeom prst="rect">
            <a:avLst/>
          </a:prstGeom>
          <a:solidFill>
            <a:srgbClr val="F8FAFC"/>
          </a:solidFill>
          <a:ln/>
        </p:spPr>
        <p:txBody>
          <a:bodyPr/>
          <a:lstStyle/>
          <a:p>
            <a:endParaRPr lang="en-AE"/>
          </a:p>
        </p:txBody>
      </p:sp>
      <p:sp>
        <p:nvSpPr>
          <p:cNvPr id="10" name="Shape 7"/>
          <p:cNvSpPr/>
          <p:nvPr/>
        </p:nvSpPr>
        <p:spPr>
          <a:xfrm>
            <a:off x="457200" y="5989320"/>
            <a:ext cx="64008" cy="457200"/>
          </a:xfrm>
          <a:prstGeom prst="rect">
            <a:avLst/>
          </a:prstGeom>
          <a:solidFill>
            <a:srgbClr val="FF6B35"/>
          </a:solidFill>
          <a:ln/>
        </p:spPr>
        <p:txBody>
          <a:bodyPr/>
          <a:lstStyle/>
          <a:p>
            <a:endParaRPr lang="en-AE"/>
          </a:p>
        </p:txBody>
      </p:sp>
      <p:sp>
        <p:nvSpPr>
          <p:cNvPr id="11" name="Text 8"/>
          <p:cNvSpPr/>
          <p:nvPr/>
        </p:nvSpPr>
        <p:spPr>
          <a:xfrm>
            <a:off x="594360" y="5989320"/>
            <a:ext cx="2011680" cy="457200"/>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Databricks + Delta</a:t>
            </a:r>
            <a:endParaRPr lang="en-US" sz="1050" dirty="0"/>
          </a:p>
        </p:txBody>
      </p:sp>
      <p:sp>
        <p:nvSpPr>
          <p:cNvPr id="12" name="Shape 9"/>
          <p:cNvSpPr/>
          <p:nvPr/>
        </p:nvSpPr>
        <p:spPr>
          <a:xfrm>
            <a:off x="2715768" y="5989320"/>
            <a:ext cx="2148840" cy="457200"/>
          </a:xfrm>
          <a:prstGeom prst="rect">
            <a:avLst/>
          </a:prstGeom>
          <a:solidFill>
            <a:srgbClr val="F8FAFC"/>
          </a:solidFill>
          <a:ln/>
        </p:spPr>
        <p:txBody>
          <a:bodyPr/>
          <a:lstStyle/>
          <a:p>
            <a:endParaRPr lang="en-AE"/>
          </a:p>
        </p:txBody>
      </p:sp>
      <p:sp>
        <p:nvSpPr>
          <p:cNvPr id="13" name="Shape 10"/>
          <p:cNvSpPr/>
          <p:nvPr/>
        </p:nvSpPr>
        <p:spPr>
          <a:xfrm>
            <a:off x="2715768" y="5989320"/>
            <a:ext cx="64008" cy="457200"/>
          </a:xfrm>
          <a:prstGeom prst="rect">
            <a:avLst/>
          </a:prstGeom>
          <a:solidFill>
            <a:srgbClr val="0891B2"/>
          </a:solidFill>
          <a:ln/>
        </p:spPr>
        <p:txBody>
          <a:bodyPr/>
          <a:lstStyle/>
          <a:p>
            <a:endParaRPr lang="en-AE"/>
          </a:p>
        </p:txBody>
      </p:sp>
      <p:sp>
        <p:nvSpPr>
          <p:cNvPr id="14" name="Text 11"/>
          <p:cNvSpPr/>
          <p:nvPr/>
        </p:nvSpPr>
        <p:spPr>
          <a:xfrm>
            <a:off x="2852928" y="5989320"/>
            <a:ext cx="2011680" cy="457200"/>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Snowflake + Iceberg</a:t>
            </a:r>
            <a:endParaRPr lang="en-US" sz="1050" dirty="0"/>
          </a:p>
        </p:txBody>
      </p:sp>
      <p:sp>
        <p:nvSpPr>
          <p:cNvPr id="15" name="Shape 12"/>
          <p:cNvSpPr/>
          <p:nvPr/>
        </p:nvSpPr>
        <p:spPr>
          <a:xfrm>
            <a:off x="4974336" y="5989320"/>
            <a:ext cx="2148840" cy="457200"/>
          </a:xfrm>
          <a:prstGeom prst="rect">
            <a:avLst/>
          </a:prstGeom>
          <a:solidFill>
            <a:srgbClr val="F8FAFC"/>
          </a:solidFill>
          <a:ln/>
        </p:spPr>
        <p:txBody>
          <a:bodyPr/>
          <a:lstStyle/>
          <a:p>
            <a:endParaRPr lang="en-AE"/>
          </a:p>
        </p:txBody>
      </p:sp>
      <p:sp>
        <p:nvSpPr>
          <p:cNvPr id="16" name="Shape 13"/>
          <p:cNvSpPr/>
          <p:nvPr/>
        </p:nvSpPr>
        <p:spPr>
          <a:xfrm>
            <a:off x="4974336" y="5989320"/>
            <a:ext cx="64008" cy="457200"/>
          </a:xfrm>
          <a:prstGeom prst="rect">
            <a:avLst/>
          </a:prstGeom>
          <a:solidFill>
            <a:srgbClr val="14B8A6"/>
          </a:solidFill>
          <a:ln/>
        </p:spPr>
        <p:txBody>
          <a:bodyPr/>
          <a:lstStyle/>
          <a:p>
            <a:endParaRPr lang="en-AE"/>
          </a:p>
        </p:txBody>
      </p:sp>
      <p:sp>
        <p:nvSpPr>
          <p:cNvPr id="17" name="Text 14"/>
          <p:cNvSpPr/>
          <p:nvPr/>
        </p:nvSpPr>
        <p:spPr>
          <a:xfrm>
            <a:off x="5111496" y="5989320"/>
            <a:ext cx="2011680" cy="457200"/>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Azure Fabric / OneLake</a:t>
            </a:r>
            <a:endParaRPr lang="en-US" sz="1050" dirty="0"/>
          </a:p>
        </p:txBody>
      </p:sp>
      <p:sp>
        <p:nvSpPr>
          <p:cNvPr id="18" name="Shape 15"/>
          <p:cNvSpPr/>
          <p:nvPr/>
        </p:nvSpPr>
        <p:spPr>
          <a:xfrm>
            <a:off x="7232904" y="5989320"/>
            <a:ext cx="2148840" cy="457200"/>
          </a:xfrm>
          <a:prstGeom prst="rect">
            <a:avLst/>
          </a:prstGeom>
          <a:solidFill>
            <a:srgbClr val="F8FAFC"/>
          </a:solidFill>
          <a:ln/>
        </p:spPr>
        <p:txBody>
          <a:bodyPr/>
          <a:lstStyle/>
          <a:p>
            <a:endParaRPr lang="en-AE"/>
          </a:p>
        </p:txBody>
      </p:sp>
      <p:sp>
        <p:nvSpPr>
          <p:cNvPr id="19" name="Shape 16"/>
          <p:cNvSpPr/>
          <p:nvPr/>
        </p:nvSpPr>
        <p:spPr>
          <a:xfrm>
            <a:off x="7232904" y="5989320"/>
            <a:ext cx="64008" cy="457200"/>
          </a:xfrm>
          <a:prstGeom prst="rect">
            <a:avLst/>
          </a:prstGeom>
          <a:solidFill>
            <a:srgbClr val="F59E0B"/>
          </a:solidFill>
          <a:ln/>
        </p:spPr>
        <p:txBody>
          <a:bodyPr/>
          <a:lstStyle/>
          <a:p>
            <a:endParaRPr lang="en-AE"/>
          </a:p>
        </p:txBody>
      </p:sp>
      <p:sp>
        <p:nvSpPr>
          <p:cNvPr id="20" name="Text 17"/>
          <p:cNvSpPr/>
          <p:nvPr/>
        </p:nvSpPr>
        <p:spPr>
          <a:xfrm>
            <a:off x="7370064" y="5989320"/>
            <a:ext cx="2011680" cy="457200"/>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BigQuery + BigLake</a:t>
            </a:r>
            <a:endParaRPr lang="en-US" sz="1050" dirty="0"/>
          </a:p>
        </p:txBody>
      </p:sp>
      <p:sp>
        <p:nvSpPr>
          <p:cNvPr id="21" name="Shape 18"/>
          <p:cNvSpPr/>
          <p:nvPr/>
        </p:nvSpPr>
        <p:spPr>
          <a:xfrm>
            <a:off x="9491472" y="5989320"/>
            <a:ext cx="2148840" cy="457200"/>
          </a:xfrm>
          <a:prstGeom prst="rect">
            <a:avLst/>
          </a:prstGeom>
          <a:solidFill>
            <a:srgbClr val="F8FAFC"/>
          </a:solidFill>
          <a:ln/>
        </p:spPr>
        <p:txBody>
          <a:bodyPr/>
          <a:lstStyle/>
          <a:p>
            <a:endParaRPr lang="en-AE"/>
          </a:p>
        </p:txBody>
      </p:sp>
      <p:sp>
        <p:nvSpPr>
          <p:cNvPr id="22" name="Shape 19"/>
          <p:cNvSpPr/>
          <p:nvPr/>
        </p:nvSpPr>
        <p:spPr>
          <a:xfrm>
            <a:off x="9491472" y="5989320"/>
            <a:ext cx="64008" cy="457200"/>
          </a:xfrm>
          <a:prstGeom prst="rect">
            <a:avLst/>
          </a:prstGeom>
          <a:solidFill>
            <a:srgbClr val="DB2777"/>
          </a:solidFill>
          <a:ln/>
        </p:spPr>
        <p:txBody>
          <a:bodyPr/>
          <a:lstStyle/>
          <a:p>
            <a:endParaRPr lang="en-AE"/>
          </a:p>
        </p:txBody>
      </p:sp>
      <p:sp>
        <p:nvSpPr>
          <p:cNvPr id="23" name="Text 20"/>
          <p:cNvSpPr/>
          <p:nvPr/>
        </p:nvSpPr>
        <p:spPr>
          <a:xfrm>
            <a:off x="9628632" y="5989320"/>
            <a:ext cx="2011680" cy="457200"/>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AWS S3 + Iceberg / Hudi</a:t>
            </a:r>
            <a:endParaRPr lang="en-US" sz="1050" dirty="0"/>
          </a:p>
        </p:txBody>
      </p:sp>
      <p:sp>
        <p:nvSpPr>
          <p:cNvPr id="24" name="Text 21"/>
          <p:cNvSpPr/>
          <p:nvPr/>
        </p:nvSpPr>
        <p:spPr>
          <a:xfrm>
            <a:off x="10332720" y="6510528"/>
            <a:ext cx="173736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16 / 32  ·  DATA &amp; AI</a:t>
            </a:r>
            <a:endParaRPr lang="en-US" sz="900" dirty="0"/>
          </a:p>
        </p:txBody>
      </p:sp>
      <p:sp>
        <p:nvSpPr>
          <p:cNvPr id="25" name="Text 22"/>
          <p:cNvSpPr/>
          <p:nvPr/>
        </p:nvSpPr>
        <p:spPr>
          <a:xfrm>
            <a:off x="457200" y="6510528"/>
            <a:ext cx="5486400" cy="256032"/>
          </a:xfrm>
          <a:prstGeom prst="rect">
            <a:avLst/>
          </a:prstGeom>
          <a:noFill/>
          <a:ln/>
        </p:spPr>
        <p:txBody>
          <a:bodyPr wrap="square" lIns="0" tIns="0" rIns="0" bIns="0" rtlCol="0" anchor="ctr"/>
          <a:lstStyle/>
          <a:p>
            <a:pPr marL="0" indent="0">
              <a:buNone/>
            </a:pPr>
            <a:r>
              <a:rPr lang="en-US" sz="900" b="1" kern="0" spc="200" dirty="0">
                <a:solidFill>
                  <a:srgbClr val="94A3B8"/>
                </a:solidFill>
                <a:latin typeface="Calibri" pitchFamily="34" charset="0"/>
                <a:ea typeface="Calibri" pitchFamily="34" charset="-122"/>
                <a:cs typeface="Calibri" pitchFamily="34" charset="-120"/>
              </a:rPr>
              <a:t>MODERN STACK</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F59E0B"/>
          </a:solidFill>
          <a:ln/>
        </p:spPr>
        <p:txBody>
          <a:bodyPr/>
          <a:lstStyle/>
          <a:p>
            <a:endParaRPr lang="en-AE"/>
          </a:p>
        </p:txBody>
      </p:sp>
      <p:sp>
        <p:nvSpPr>
          <p:cNvPr id="3" name="Shape 1"/>
          <p:cNvSpPr/>
          <p:nvPr/>
        </p:nvSpPr>
        <p:spPr>
          <a:xfrm>
            <a:off x="621792" y="457200"/>
            <a:ext cx="54864" cy="128016"/>
          </a:xfrm>
          <a:prstGeom prst="rect">
            <a:avLst/>
          </a:prstGeom>
          <a:solidFill>
            <a:srgbClr val="0B1437"/>
          </a:solidFill>
          <a:ln/>
        </p:spPr>
        <p:txBody>
          <a:bodyPr/>
          <a:lstStyle/>
          <a:p>
            <a:endParaRPr lang="en-AE"/>
          </a:p>
        </p:txBody>
      </p:sp>
      <p:sp>
        <p:nvSpPr>
          <p:cNvPr id="4" name="Text 2"/>
          <p:cNvSpPr/>
          <p:nvPr/>
        </p:nvSpPr>
        <p:spPr>
          <a:xfrm>
            <a:off x="457200" y="685800"/>
            <a:ext cx="11247120" cy="274320"/>
          </a:xfrm>
          <a:prstGeom prst="rect">
            <a:avLst/>
          </a:prstGeom>
          <a:noFill/>
          <a:ln/>
        </p:spPr>
        <p:txBody>
          <a:bodyPr wrap="square" lIns="0" tIns="0" rIns="0" bIns="0" rtlCol="0" anchor="ctr"/>
          <a:lstStyle/>
          <a:p>
            <a:pPr marL="0" indent="0">
              <a:buNone/>
            </a:pPr>
            <a:r>
              <a:rPr lang="en-US" sz="1100" b="1" kern="0" spc="400" dirty="0">
                <a:solidFill>
                  <a:srgbClr val="F59E0B"/>
                </a:solidFill>
                <a:latin typeface="Calibri" pitchFamily="34" charset="0"/>
                <a:ea typeface="Calibri" pitchFamily="34" charset="-122"/>
                <a:cs typeface="Calibri" pitchFamily="34" charset="-120"/>
              </a:rPr>
              <a:t>THE HERO SLIDE</a:t>
            </a:r>
            <a:endParaRPr lang="en-US" sz="1100" dirty="0"/>
          </a:p>
        </p:txBody>
      </p:sp>
      <p:sp>
        <p:nvSpPr>
          <p:cNvPr id="5" name="Text 3"/>
          <p:cNvSpPr/>
          <p:nvPr/>
        </p:nvSpPr>
        <p:spPr>
          <a:xfrm>
            <a:off x="457200" y="932688"/>
            <a:ext cx="1124712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Medallion Architecture.</a:t>
            </a:r>
            <a:endParaRPr lang="en-US" sz="3000" dirty="0"/>
          </a:p>
        </p:txBody>
      </p:sp>
      <p:sp>
        <p:nvSpPr>
          <p:cNvPr id="6" name="Text 4"/>
          <p:cNvSpPr/>
          <p:nvPr/>
        </p:nvSpPr>
        <p:spPr>
          <a:xfrm>
            <a:off x="457200" y="1572768"/>
            <a:ext cx="11247120" cy="45720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Bronze → Silver → Gold. Three layers, one pipeline, ruthless discipline.</a:t>
            </a:r>
            <a:endParaRPr lang="en-US" sz="1300" dirty="0"/>
          </a:p>
        </p:txBody>
      </p:sp>
      <p:pic>
        <p:nvPicPr>
          <p:cNvPr id="7" name="Image 0" descr="images/medallion.png"/>
          <p:cNvPicPr>
            <a:picLocks noChangeAspect="1"/>
          </p:cNvPicPr>
          <p:nvPr/>
        </p:nvPicPr>
        <p:blipFill>
          <a:blip r:embed="rId3"/>
          <a:srcRect/>
          <a:stretch/>
        </p:blipFill>
        <p:spPr>
          <a:xfrm>
            <a:off x="91440" y="2103120"/>
            <a:ext cx="11978640" cy="4023360"/>
          </a:xfrm>
          <a:prstGeom prst="rect">
            <a:avLst/>
          </a:prstGeom>
        </p:spPr>
      </p:pic>
      <p:sp>
        <p:nvSpPr>
          <p:cNvPr id="8" name="Shape 5"/>
          <p:cNvSpPr/>
          <p:nvPr/>
        </p:nvSpPr>
        <p:spPr>
          <a:xfrm>
            <a:off x="457200" y="6172200"/>
            <a:ext cx="11247120" cy="411480"/>
          </a:xfrm>
          <a:prstGeom prst="rect">
            <a:avLst/>
          </a:prstGeom>
          <a:solidFill>
            <a:srgbClr val="F59E0B"/>
          </a:solidFill>
          <a:ln/>
        </p:spPr>
        <p:txBody>
          <a:bodyPr/>
          <a:lstStyle/>
          <a:p>
            <a:endParaRPr lang="en-AE"/>
          </a:p>
        </p:txBody>
      </p:sp>
      <p:sp>
        <p:nvSpPr>
          <p:cNvPr id="9" name="Text 6"/>
          <p:cNvSpPr/>
          <p:nvPr/>
        </p:nvSpPr>
        <p:spPr>
          <a:xfrm>
            <a:off x="640080" y="6199632"/>
            <a:ext cx="10972800" cy="365760"/>
          </a:xfrm>
          <a:prstGeom prst="rect">
            <a:avLst/>
          </a:prstGeom>
          <a:noFill/>
          <a:ln/>
        </p:spPr>
        <p:txBody>
          <a:bodyPr wrap="square" lIns="0" tIns="0" rIns="0" bIns="0" rtlCol="0" anchor="ctr"/>
          <a:lstStyle/>
          <a:p>
            <a:pPr marL="0" indent="0">
              <a:buNone/>
            </a:pPr>
            <a:r>
              <a:rPr lang="en-US" sz="1150" b="1" dirty="0">
                <a:solidFill>
                  <a:srgbClr val="0B1437"/>
                </a:solidFill>
                <a:latin typeface="Calibri" pitchFamily="34" charset="0"/>
                <a:ea typeface="Calibri" pitchFamily="34" charset="-122"/>
                <a:cs typeface="Calibri" pitchFamily="34" charset="-120"/>
              </a:rPr>
              <a:t>If you remember ONE diagram from this lecture, let it be this one. </a:t>
            </a:r>
            <a:r>
              <a:rPr lang="en-US" sz="1150" i="1" dirty="0">
                <a:solidFill>
                  <a:srgbClr val="0B1437"/>
                </a:solidFill>
                <a:latin typeface="Calibri" pitchFamily="34" charset="0"/>
                <a:ea typeface="Calibri" pitchFamily="34" charset="-122"/>
                <a:cs typeface="Calibri" pitchFamily="34" charset="-120"/>
              </a:rPr>
              <a:t>Every modern platform Databricks, Snowflake, Fabric, </a:t>
            </a:r>
            <a:r>
              <a:rPr lang="en-US" sz="1150" i="1" dirty="0" err="1">
                <a:solidFill>
                  <a:srgbClr val="0B1437"/>
                </a:solidFill>
                <a:latin typeface="Calibri" pitchFamily="34" charset="0"/>
                <a:ea typeface="Calibri" pitchFamily="34" charset="-122"/>
                <a:cs typeface="Calibri" pitchFamily="34" charset="-120"/>
              </a:rPr>
              <a:t>BigQuery</a:t>
            </a:r>
            <a:r>
              <a:rPr lang="en-US" sz="1150" i="1" dirty="0">
                <a:solidFill>
                  <a:srgbClr val="0B1437"/>
                </a:solidFill>
                <a:latin typeface="Calibri" pitchFamily="34" charset="0"/>
                <a:ea typeface="Calibri" pitchFamily="34" charset="-122"/>
                <a:cs typeface="Calibri" pitchFamily="34" charset="-120"/>
              </a:rPr>
              <a:t> is a dialect of Bronze→Silver→Gold.</a:t>
            </a:r>
            <a:endParaRPr lang="en-US" sz="1150" dirty="0"/>
          </a:p>
        </p:txBody>
      </p:sp>
      <p:sp>
        <p:nvSpPr>
          <p:cNvPr id="10" name="Text 7"/>
          <p:cNvSpPr/>
          <p:nvPr/>
        </p:nvSpPr>
        <p:spPr>
          <a:xfrm>
            <a:off x="10332720" y="6510528"/>
            <a:ext cx="173736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17 / 32  ·  DATA &amp; AI</a:t>
            </a:r>
            <a:endParaRPr lang="en-US" sz="900" dirty="0"/>
          </a:p>
        </p:txBody>
      </p:sp>
      <p:sp>
        <p:nvSpPr>
          <p:cNvPr id="11" name="Text 8"/>
          <p:cNvSpPr/>
          <p:nvPr/>
        </p:nvSpPr>
        <p:spPr>
          <a:xfrm>
            <a:off x="457200" y="6510528"/>
            <a:ext cx="5486400" cy="256032"/>
          </a:xfrm>
          <a:prstGeom prst="rect">
            <a:avLst/>
          </a:prstGeom>
          <a:noFill/>
          <a:ln/>
        </p:spPr>
        <p:txBody>
          <a:bodyPr wrap="square" lIns="0" tIns="0" rIns="0" bIns="0" rtlCol="0" anchor="ctr"/>
          <a:lstStyle/>
          <a:p>
            <a:pPr marL="0" indent="0">
              <a:buNone/>
            </a:pPr>
            <a:r>
              <a:rPr lang="en-US" sz="900" b="1" kern="0" spc="200" dirty="0">
                <a:solidFill>
                  <a:srgbClr val="94A3B8"/>
                </a:solidFill>
                <a:latin typeface="Calibri" pitchFamily="34" charset="0"/>
                <a:ea typeface="Calibri" pitchFamily="34" charset="-122"/>
                <a:cs typeface="Calibri" pitchFamily="34" charset="-120"/>
              </a:rPr>
              <a:t>MODERN STACK</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14B8A6"/>
          </a:solidFill>
          <a:ln/>
        </p:spPr>
        <p:txBody>
          <a:bodyPr/>
          <a:lstStyle/>
          <a:p>
            <a:endParaRPr lang="en-AE"/>
          </a:p>
        </p:txBody>
      </p:sp>
      <p:sp>
        <p:nvSpPr>
          <p:cNvPr id="3" name="Shape 1"/>
          <p:cNvSpPr/>
          <p:nvPr/>
        </p:nvSpPr>
        <p:spPr>
          <a:xfrm>
            <a:off x="621792" y="457200"/>
            <a:ext cx="54864" cy="128016"/>
          </a:xfrm>
          <a:prstGeom prst="rect">
            <a:avLst/>
          </a:prstGeom>
          <a:solidFill>
            <a:srgbClr val="0B1437"/>
          </a:solidFill>
          <a:ln/>
        </p:spPr>
        <p:txBody>
          <a:bodyPr/>
          <a:lstStyle/>
          <a:p>
            <a:endParaRPr lang="en-AE"/>
          </a:p>
        </p:txBody>
      </p:sp>
      <p:sp>
        <p:nvSpPr>
          <p:cNvPr id="4" name="Text 2"/>
          <p:cNvSpPr/>
          <p:nvPr/>
        </p:nvSpPr>
        <p:spPr>
          <a:xfrm>
            <a:off x="457200" y="685800"/>
            <a:ext cx="11247120" cy="274320"/>
          </a:xfrm>
          <a:prstGeom prst="rect">
            <a:avLst/>
          </a:prstGeom>
          <a:noFill/>
          <a:ln/>
        </p:spPr>
        <p:txBody>
          <a:bodyPr wrap="square" lIns="0" tIns="0" rIns="0" bIns="0" rtlCol="0" anchor="ctr"/>
          <a:lstStyle/>
          <a:p>
            <a:pPr marL="0" indent="0">
              <a:buNone/>
            </a:pPr>
            <a:r>
              <a:rPr lang="en-US" sz="1100" b="1" kern="0" spc="400" dirty="0">
                <a:solidFill>
                  <a:srgbClr val="14B8A6"/>
                </a:solidFill>
                <a:latin typeface="Calibri" pitchFamily="34" charset="0"/>
                <a:ea typeface="Calibri" pitchFamily="34" charset="-122"/>
                <a:cs typeface="Calibri" pitchFamily="34" charset="-120"/>
              </a:rPr>
              <a:t>MODERN DATA STACK  ·  FIELD MAP</a:t>
            </a:r>
            <a:endParaRPr lang="en-US" sz="1100" dirty="0"/>
          </a:p>
        </p:txBody>
      </p:sp>
      <p:sp>
        <p:nvSpPr>
          <p:cNvPr id="5" name="Text 3"/>
          <p:cNvSpPr/>
          <p:nvPr/>
        </p:nvSpPr>
        <p:spPr>
          <a:xfrm>
            <a:off x="457200" y="932688"/>
            <a:ext cx="1124712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You don't need to know every tool. You need to know which tool solves which problem.</a:t>
            </a:r>
            <a:endParaRPr lang="en-US" sz="3000" dirty="0"/>
          </a:p>
        </p:txBody>
      </p:sp>
      <p:sp>
        <p:nvSpPr>
          <p:cNvPr id="6" name="Shape 4"/>
          <p:cNvSpPr/>
          <p:nvPr/>
        </p:nvSpPr>
        <p:spPr>
          <a:xfrm>
            <a:off x="457200" y="1965960"/>
            <a:ext cx="2743200" cy="1920240"/>
          </a:xfrm>
          <a:prstGeom prst="rect">
            <a:avLst/>
          </a:prstGeom>
          <a:solidFill>
            <a:srgbClr val="F8FAFC"/>
          </a:solidFill>
          <a:ln/>
        </p:spPr>
        <p:txBody>
          <a:bodyPr/>
          <a:lstStyle/>
          <a:p>
            <a:endParaRPr lang="en-AE"/>
          </a:p>
        </p:txBody>
      </p:sp>
      <p:sp>
        <p:nvSpPr>
          <p:cNvPr id="7" name="Shape 5"/>
          <p:cNvSpPr/>
          <p:nvPr/>
        </p:nvSpPr>
        <p:spPr>
          <a:xfrm>
            <a:off x="457200" y="1965960"/>
            <a:ext cx="2743200" cy="91440"/>
          </a:xfrm>
          <a:prstGeom prst="rect">
            <a:avLst/>
          </a:prstGeom>
          <a:solidFill>
            <a:srgbClr val="0891B2"/>
          </a:solidFill>
          <a:ln/>
        </p:spPr>
        <p:txBody>
          <a:bodyPr/>
          <a:lstStyle/>
          <a:p>
            <a:endParaRPr lang="en-AE"/>
          </a:p>
        </p:txBody>
      </p:sp>
      <p:sp>
        <p:nvSpPr>
          <p:cNvPr id="8" name="Text 6"/>
          <p:cNvSpPr/>
          <p:nvPr/>
        </p:nvSpPr>
        <p:spPr>
          <a:xfrm>
            <a:off x="594360" y="2148840"/>
            <a:ext cx="2468880" cy="274320"/>
          </a:xfrm>
          <a:prstGeom prst="rect">
            <a:avLst/>
          </a:prstGeom>
          <a:noFill/>
          <a:ln/>
        </p:spPr>
        <p:txBody>
          <a:bodyPr wrap="square" lIns="0" tIns="0" rIns="0" bIns="0" rtlCol="0" anchor="ctr"/>
          <a:lstStyle/>
          <a:p>
            <a:pPr marL="0" indent="0">
              <a:buNone/>
            </a:pPr>
            <a:r>
              <a:rPr lang="en-US" sz="1250" b="1" kern="0" spc="200" dirty="0">
                <a:solidFill>
                  <a:srgbClr val="0891B2"/>
                </a:solidFill>
                <a:latin typeface="Arial Black" pitchFamily="34" charset="0"/>
                <a:ea typeface="Arial Black" pitchFamily="34" charset="-122"/>
                <a:cs typeface="Arial Black" pitchFamily="34" charset="-120"/>
              </a:rPr>
              <a:t>INGESTION</a:t>
            </a:r>
            <a:endParaRPr lang="en-US" sz="1250" dirty="0"/>
          </a:p>
        </p:txBody>
      </p:sp>
      <p:sp>
        <p:nvSpPr>
          <p:cNvPr id="9" name="Text 7"/>
          <p:cNvSpPr/>
          <p:nvPr/>
        </p:nvSpPr>
        <p:spPr>
          <a:xfrm>
            <a:off x="594360" y="2423160"/>
            <a:ext cx="2468880" cy="256032"/>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move bytes in</a:t>
            </a:r>
            <a:endParaRPr lang="en-US" sz="1000" dirty="0"/>
          </a:p>
        </p:txBody>
      </p:sp>
      <p:sp>
        <p:nvSpPr>
          <p:cNvPr id="10" name="Text 8"/>
          <p:cNvSpPr/>
          <p:nvPr/>
        </p:nvSpPr>
        <p:spPr>
          <a:xfrm>
            <a:off x="594360" y="2743200"/>
            <a:ext cx="2468880" cy="105156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Fivetran</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  Airbyte</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  Kafka</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  Debezium</a:t>
            </a:r>
            <a:endParaRPr lang="en-US" sz="1050" dirty="0"/>
          </a:p>
        </p:txBody>
      </p:sp>
      <p:sp>
        <p:nvSpPr>
          <p:cNvPr id="11" name="Shape 9"/>
          <p:cNvSpPr/>
          <p:nvPr/>
        </p:nvSpPr>
        <p:spPr>
          <a:xfrm>
            <a:off x="3291840" y="1965960"/>
            <a:ext cx="2743200" cy="1920240"/>
          </a:xfrm>
          <a:prstGeom prst="rect">
            <a:avLst/>
          </a:prstGeom>
          <a:solidFill>
            <a:srgbClr val="F8FAFC"/>
          </a:solidFill>
          <a:ln/>
        </p:spPr>
        <p:txBody>
          <a:bodyPr/>
          <a:lstStyle/>
          <a:p>
            <a:endParaRPr lang="en-AE"/>
          </a:p>
        </p:txBody>
      </p:sp>
      <p:sp>
        <p:nvSpPr>
          <p:cNvPr id="12" name="Shape 10"/>
          <p:cNvSpPr/>
          <p:nvPr/>
        </p:nvSpPr>
        <p:spPr>
          <a:xfrm>
            <a:off x="3291840" y="1965960"/>
            <a:ext cx="2743200" cy="91440"/>
          </a:xfrm>
          <a:prstGeom prst="rect">
            <a:avLst/>
          </a:prstGeom>
          <a:solidFill>
            <a:srgbClr val="14B8A6"/>
          </a:solidFill>
          <a:ln/>
        </p:spPr>
        <p:txBody>
          <a:bodyPr/>
          <a:lstStyle/>
          <a:p>
            <a:endParaRPr lang="en-AE"/>
          </a:p>
        </p:txBody>
      </p:sp>
      <p:sp>
        <p:nvSpPr>
          <p:cNvPr id="13" name="Text 11"/>
          <p:cNvSpPr/>
          <p:nvPr/>
        </p:nvSpPr>
        <p:spPr>
          <a:xfrm>
            <a:off x="3429000" y="2148840"/>
            <a:ext cx="2468880" cy="274320"/>
          </a:xfrm>
          <a:prstGeom prst="rect">
            <a:avLst/>
          </a:prstGeom>
          <a:noFill/>
          <a:ln/>
        </p:spPr>
        <p:txBody>
          <a:bodyPr wrap="square" lIns="0" tIns="0" rIns="0" bIns="0" rtlCol="0" anchor="ctr"/>
          <a:lstStyle/>
          <a:p>
            <a:pPr marL="0" indent="0">
              <a:buNone/>
            </a:pPr>
            <a:r>
              <a:rPr lang="en-US" sz="1250" b="1" kern="0" spc="200" dirty="0">
                <a:solidFill>
                  <a:srgbClr val="14B8A6"/>
                </a:solidFill>
                <a:latin typeface="Arial Black" pitchFamily="34" charset="0"/>
                <a:ea typeface="Arial Black" pitchFamily="34" charset="-122"/>
                <a:cs typeface="Arial Black" pitchFamily="34" charset="-120"/>
              </a:rPr>
              <a:t>STORAGE</a:t>
            </a:r>
            <a:endParaRPr lang="en-US" sz="1250" dirty="0"/>
          </a:p>
        </p:txBody>
      </p:sp>
      <p:sp>
        <p:nvSpPr>
          <p:cNvPr id="14" name="Text 12"/>
          <p:cNvSpPr/>
          <p:nvPr/>
        </p:nvSpPr>
        <p:spPr>
          <a:xfrm>
            <a:off x="3429000" y="2423160"/>
            <a:ext cx="2468880" cy="256032"/>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hold them cheap</a:t>
            </a:r>
            <a:endParaRPr lang="en-US" sz="1000" dirty="0"/>
          </a:p>
        </p:txBody>
      </p:sp>
      <p:sp>
        <p:nvSpPr>
          <p:cNvPr id="15" name="Text 13"/>
          <p:cNvSpPr/>
          <p:nvPr/>
        </p:nvSpPr>
        <p:spPr>
          <a:xfrm>
            <a:off x="3429000" y="2743200"/>
            <a:ext cx="2468880" cy="105156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S3 / ADLS / GCS</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  Delta</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  Iceberg</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  Hudi</a:t>
            </a:r>
            <a:endParaRPr lang="en-US" sz="1050" dirty="0"/>
          </a:p>
        </p:txBody>
      </p:sp>
      <p:sp>
        <p:nvSpPr>
          <p:cNvPr id="16" name="Shape 14"/>
          <p:cNvSpPr/>
          <p:nvPr/>
        </p:nvSpPr>
        <p:spPr>
          <a:xfrm>
            <a:off x="6126480" y="1965960"/>
            <a:ext cx="2743200" cy="1920240"/>
          </a:xfrm>
          <a:prstGeom prst="rect">
            <a:avLst/>
          </a:prstGeom>
          <a:solidFill>
            <a:srgbClr val="F8FAFC"/>
          </a:solidFill>
          <a:ln/>
        </p:spPr>
        <p:txBody>
          <a:bodyPr/>
          <a:lstStyle/>
          <a:p>
            <a:endParaRPr lang="en-AE"/>
          </a:p>
        </p:txBody>
      </p:sp>
      <p:sp>
        <p:nvSpPr>
          <p:cNvPr id="17" name="Shape 15"/>
          <p:cNvSpPr/>
          <p:nvPr/>
        </p:nvSpPr>
        <p:spPr>
          <a:xfrm>
            <a:off x="6126480" y="1965960"/>
            <a:ext cx="2743200" cy="91440"/>
          </a:xfrm>
          <a:prstGeom prst="rect">
            <a:avLst/>
          </a:prstGeom>
          <a:solidFill>
            <a:srgbClr val="F59E0B"/>
          </a:solidFill>
          <a:ln/>
        </p:spPr>
        <p:txBody>
          <a:bodyPr/>
          <a:lstStyle/>
          <a:p>
            <a:endParaRPr lang="en-AE"/>
          </a:p>
        </p:txBody>
      </p:sp>
      <p:sp>
        <p:nvSpPr>
          <p:cNvPr id="18" name="Text 16"/>
          <p:cNvSpPr/>
          <p:nvPr/>
        </p:nvSpPr>
        <p:spPr>
          <a:xfrm>
            <a:off x="6263640" y="2148840"/>
            <a:ext cx="2468880" cy="274320"/>
          </a:xfrm>
          <a:prstGeom prst="rect">
            <a:avLst/>
          </a:prstGeom>
          <a:noFill/>
          <a:ln/>
        </p:spPr>
        <p:txBody>
          <a:bodyPr wrap="square" lIns="0" tIns="0" rIns="0" bIns="0" rtlCol="0" anchor="ctr"/>
          <a:lstStyle/>
          <a:p>
            <a:pPr marL="0" indent="0">
              <a:buNone/>
            </a:pPr>
            <a:r>
              <a:rPr lang="en-US" sz="1250" b="1" kern="0" spc="200" dirty="0">
                <a:solidFill>
                  <a:srgbClr val="F59E0B"/>
                </a:solidFill>
                <a:latin typeface="Arial Black" pitchFamily="34" charset="0"/>
                <a:ea typeface="Arial Black" pitchFamily="34" charset="-122"/>
                <a:cs typeface="Arial Black" pitchFamily="34" charset="-120"/>
              </a:rPr>
              <a:t>COMPUTE / SQL</a:t>
            </a:r>
            <a:endParaRPr lang="en-US" sz="1250" dirty="0"/>
          </a:p>
        </p:txBody>
      </p:sp>
      <p:sp>
        <p:nvSpPr>
          <p:cNvPr id="19" name="Text 17"/>
          <p:cNvSpPr/>
          <p:nvPr/>
        </p:nvSpPr>
        <p:spPr>
          <a:xfrm>
            <a:off x="6263640" y="2423160"/>
            <a:ext cx="2468880" cy="256032"/>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query fast</a:t>
            </a:r>
            <a:endParaRPr lang="en-US" sz="1000" dirty="0"/>
          </a:p>
        </p:txBody>
      </p:sp>
      <p:sp>
        <p:nvSpPr>
          <p:cNvPr id="20" name="Text 18"/>
          <p:cNvSpPr/>
          <p:nvPr/>
        </p:nvSpPr>
        <p:spPr>
          <a:xfrm>
            <a:off x="6263640" y="2743200"/>
            <a:ext cx="2468880" cy="105156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Databricks</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  Snowflake</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  BigQuery</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  DuckDB</a:t>
            </a:r>
            <a:endParaRPr lang="en-US" sz="1050" dirty="0"/>
          </a:p>
        </p:txBody>
      </p:sp>
      <p:sp>
        <p:nvSpPr>
          <p:cNvPr id="21" name="Shape 19"/>
          <p:cNvSpPr/>
          <p:nvPr/>
        </p:nvSpPr>
        <p:spPr>
          <a:xfrm>
            <a:off x="8961120" y="1965960"/>
            <a:ext cx="2743200" cy="1920240"/>
          </a:xfrm>
          <a:prstGeom prst="rect">
            <a:avLst/>
          </a:prstGeom>
          <a:solidFill>
            <a:srgbClr val="F8FAFC"/>
          </a:solidFill>
          <a:ln/>
        </p:spPr>
        <p:txBody>
          <a:bodyPr/>
          <a:lstStyle/>
          <a:p>
            <a:endParaRPr lang="en-AE"/>
          </a:p>
        </p:txBody>
      </p:sp>
      <p:sp>
        <p:nvSpPr>
          <p:cNvPr id="22" name="Shape 20"/>
          <p:cNvSpPr/>
          <p:nvPr/>
        </p:nvSpPr>
        <p:spPr>
          <a:xfrm>
            <a:off x="8961120" y="1965960"/>
            <a:ext cx="2743200" cy="91440"/>
          </a:xfrm>
          <a:prstGeom prst="rect">
            <a:avLst/>
          </a:prstGeom>
          <a:solidFill>
            <a:srgbClr val="FF6B35"/>
          </a:solidFill>
          <a:ln/>
        </p:spPr>
        <p:txBody>
          <a:bodyPr/>
          <a:lstStyle/>
          <a:p>
            <a:endParaRPr lang="en-AE"/>
          </a:p>
        </p:txBody>
      </p:sp>
      <p:sp>
        <p:nvSpPr>
          <p:cNvPr id="23" name="Text 21"/>
          <p:cNvSpPr/>
          <p:nvPr/>
        </p:nvSpPr>
        <p:spPr>
          <a:xfrm>
            <a:off x="9098280" y="2148840"/>
            <a:ext cx="2468880" cy="274320"/>
          </a:xfrm>
          <a:prstGeom prst="rect">
            <a:avLst/>
          </a:prstGeom>
          <a:noFill/>
          <a:ln/>
        </p:spPr>
        <p:txBody>
          <a:bodyPr wrap="square" lIns="0" tIns="0" rIns="0" bIns="0" rtlCol="0" anchor="ctr"/>
          <a:lstStyle/>
          <a:p>
            <a:pPr marL="0" indent="0">
              <a:buNone/>
            </a:pPr>
            <a:r>
              <a:rPr lang="en-US" sz="1250" b="1" kern="0" spc="200" dirty="0">
                <a:solidFill>
                  <a:srgbClr val="FF6B35"/>
                </a:solidFill>
                <a:latin typeface="Arial Black" pitchFamily="34" charset="0"/>
                <a:ea typeface="Arial Black" pitchFamily="34" charset="-122"/>
                <a:cs typeface="Arial Black" pitchFamily="34" charset="-120"/>
              </a:rPr>
              <a:t>TRANSFORM</a:t>
            </a:r>
            <a:endParaRPr lang="en-US" sz="1250" dirty="0"/>
          </a:p>
        </p:txBody>
      </p:sp>
      <p:sp>
        <p:nvSpPr>
          <p:cNvPr id="24" name="Text 22"/>
          <p:cNvSpPr/>
          <p:nvPr/>
        </p:nvSpPr>
        <p:spPr>
          <a:xfrm>
            <a:off x="9098280" y="2423160"/>
            <a:ext cx="2468880" cy="256032"/>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shape the data</a:t>
            </a:r>
            <a:endParaRPr lang="en-US" sz="1000" dirty="0"/>
          </a:p>
        </p:txBody>
      </p:sp>
      <p:sp>
        <p:nvSpPr>
          <p:cNvPr id="25" name="Text 23"/>
          <p:cNvSpPr/>
          <p:nvPr/>
        </p:nvSpPr>
        <p:spPr>
          <a:xfrm>
            <a:off x="9098280" y="2743200"/>
            <a:ext cx="2468880" cy="105156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dbt</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  SQLMesh</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  Spark</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  Dataform</a:t>
            </a:r>
            <a:endParaRPr lang="en-US" sz="1050" dirty="0"/>
          </a:p>
        </p:txBody>
      </p:sp>
      <p:sp>
        <p:nvSpPr>
          <p:cNvPr id="26" name="Shape 24"/>
          <p:cNvSpPr/>
          <p:nvPr/>
        </p:nvSpPr>
        <p:spPr>
          <a:xfrm>
            <a:off x="457200" y="4023360"/>
            <a:ext cx="2743200" cy="1920240"/>
          </a:xfrm>
          <a:prstGeom prst="rect">
            <a:avLst/>
          </a:prstGeom>
          <a:solidFill>
            <a:srgbClr val="F8FAFC"/>
          </a:solidFill>
          <a:ln/>
        </p:spPr>
        <p:txBody>
          <a:bodyPr/>
          <a:lstStyle/>
          <a:p>
            <a:endParaRPr lang="en-AE"/>
          </a:p>
        </p:txBody>
      </p:sp>
      <p:sp>
        <p:nvSpPr>
          <p:cNvPr id="27" name="Shape 25"/>
          <p:cNvSpPr/>
          <p:nvPr/>
        </p:nvSpPr>
        <p:spPr>
          <a:xfrm>
            <a:off x="457200" y="4023360"/>
            <a:ext cx="2743200" cy="91440"/>
          </a:xfrm>
          <a:prstGeom prst="rect">
            <a:avLst/>
          </a:prstGeom>
          <a:solidFill>
            <a:srgbClr val="DB2777"/>
          </a:solidFill>
          <a:ln/>
        </p:spPr>
        <p:txBody>
          <a:bodyPr/>
          <a:lstStyle/>
          <a:p>
            <a:endParaRPr lang="en-AE"/>
          </a:p>
        </p:txBody>
      </p:sp>
      <p:sp>
        <p:nvSpPr>
          <p:cNvPr id="28" name="Text 26"/>
          <p:cNvSpPr/>
          <p:nvPr/>
        </p:nvSpPr>
        <p:spPr>
          <a:xfrm>
            <a:off x="594360" y="4206240"/>
            <a:ext cx="2468880" cy="274320"/>
          </a:xfrm>
          <a:prstGeom prst="rect">
            <a:avLst/>
          </a:prstGeom>
          <a:noFill/>
          <a:ln/>
        </p:spPr>
        <p:txBody>
          <a:bodyPr wrap="square" lIns="0" tIns="0" rIns="0" bIns="0" rtlCol="0" anchor="ctr"/>
          <a:lstStyle/>
          <a:p>
            <a:pPr marL="0" indent="0">
              <a:buNone/>
            </a:pPr>
            <a:r>
              <a:rPr lang="en-US" sz="1250" b="1" kern="0" spc="200" dirty="0">
                <a:solidFill>
                  <a:srgbClr val="DB2777"/>
                </a:solidFill>
                <a:latin typeface="Arial Black" pitchFamily="34" charset="0"/>
                <a:ea typeface="Arial Black" pitchFamily="34" charset="-122"/>
                <a:cs typeface="Arial Black" pitchFamily="34" charset="-120"/>
              </a:rPr>
              <a:t>ORCHESTRATION</a:t>
            </a:r>
            <a:endParaRPr lang="en-US" sz="1250" dirty="0"/>
          </a:p>
        </p:txBody>
      </p:sp>
      <p:sp>
        <p:nvSpPr>
          <p:cNvPr id="29" name="Text 27"/>
          <p:cNvSpPr/>
          <p:nvPr/>
        </p:nvSpPr>
        <p:spPr>
          <a:xfrm>
            <a:off x="594360" y="4480560"/>
            <a:ext cx="2468880" cy="256032"/>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run jobs on time</a:t>
            </a:r>
            <a:endParaRPr lang="en-US" sz="1000" dirty="0"/>
          </a:p>
        </p:txBody>
      </p:sp>
      <p:sp>
        <p:nvSpPr>
          <p:cNvPr id="30" name="Text 28"/>
          <p:cNvSpPr/>
          <p:nvPr/>
        </p:nvSpPr>
        <p:spPr>
          <a:xfrm>
            <a:off x="594360" y="4800600"/>
            <a:ext cx="2468880" cy="105156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Airflow</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  Dagster</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  Prefect</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  Mage</a:t>
            </a:r>
            <a:endParaRPr lang="en-US" sz="1050" dirty="0"/>
          </a:p>
        </p:txBody>
      </p:sp>
      <p:sp>
        <p:nvSpPr>
          <p:cNvPr id="31" name="Shape 29"/>
          <p:cNvSpPr/>
          <p:nvPr/>
        </p:nvSpPr>
        <p:spPr>
          <a:xfrm>
            <a:off x="3291840" y="4023360"/>
            <a:ext cx="2743200" cy="1920240"/>
          </a:xfrm>
          <a:prstGeom prst="rect">
            <a:avLst/>
          </a:prstGeom>
          <a:solidFill>
            <a:srgbClr val="F8FAFC"/>
          </a:solidFill>
          <a:ln/>
        </p:spPr>
        <p:txBody>
          <a:bodyPr/>
          <a:lstStyle/>
          <a:p>
            <a:endParaRPr lang="en-AE"/>
          </a:p>
        </p:txBody>
      </p:sp>
      <p:sp>
        <p:nvSpPr>
          <p:cNvPr id="32" name="Shape 30"/>
          <p:cNvSpPr/>
          <p:nvPr/>
        </p:nvSpPr>
        <p:spPr>
          <a:xfrm>
            <a:off x="3291840" y="4023360"/>
            <a:ext cx="2743200" cy="91440"/>
          </a:xfrm>
          <a:prstGeom prst="rect">
            <a:avLst/>
          </a:prstGeom>
          <a:solidFill>
            <a:srgbClr val="D97706"/>
          </a:solidFill>
          <a:ln/>
        </p:spPr>
        <p:txBody>
          <a:bodyPr/>
          <a:lstStyle/>
          <a:p>
            <a:endParaRPr lang="en-AE"/>
          </a:p>
        </p:txBody>
      </p:sp>
      <p:sp>
        <p:nvSpPr>
          <p:cNvPr id="33" name="Text 31"/>
          <p:cNvSpPr/>
          <p:nvPr/>
        </p:nvSpPr>
        <p:spPr>
          <a:xfrm>
            <a:off x="3429000" y="4206240"/>
            <a:ext cx="2468880" cy="274320"/>
          </a:xfrm>
          <a:prstGeom prst="rect">
            <a:avLst/>
          </a:prstGeom>
          <a:noFill/>
          <a:ln/>
        </p:spPr>
        <p:txBody>
          <a:bodyPr wrap="square" lIns="0" tIns="0" rIns="0" bIns="0" rtlCol="0" anchor="ctr"/>
          <a:lstStyle/>
          <a:p>
            <a:pPr marL="0" indent="0">
              <a:buNone/>
            </a:pPr>
            <a:r>
              <a:rPr lang="en-US" sz="1250" b="1" kern="0" spc="200" dirty="0">
                <a:solidFill>
                  <a:srgbClr val="D97706"/>
                </a:solidFill>
                <a:latin typeface="Arial Black" pitchFamily="34" charset="0"/>
                <a:ea typeface="Arial Black" pitchFamily="34" charset="-122"/>
                <a:cs typeface="Arial Black" pitchFamily="34" charset="-120"/>
              </a:rPr>
              <a:t>BI / ANALYTICS</a:t>
            </a:r>
            <a:endParaRPr lang="en-US" sz="1250" dirty="0"/>
          </a:p>
        </p:txBody>
      </p:sp>
      <p:sp>
        <p:nvSpPr>
          <p:cNvPr id="34" name="Text 32"/>
          <p:cNvSpPr/>
          <p:nvPr/>
        </p:nvSpPr>
        <p:spPr>
          <a:xfrm>
            <a:off x="3429000" y="4480560"/>
            <a:ext cx="2468880" cy="256032"/>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humans see it</a:t>
            </a:r>
            <a:endParaRPr lang="en-US" sz="1000" dirty="0"/>
          </a:p>
        </p:txBody>
      </p:sp>
      <p:sp>
        <p:nvSpPr>
          <p:cNvPr id="35" name="Text 33"/>
          <p:cNvSpPr/>
          <p:nvPr/>
        </p:nvSpPr>
        <p:spPr>
          <a:xfrm>
            <a:off x="3429000" y="4800600"/>
            <a:ext cx="2468880" cy="105156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Power BI</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  Tableau</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  Looker</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  Metabase</a:t>
            </a:r>
            <a:endParaRPr lang="en-US" sz="1050" dirty="0"/>
          </a:p>
        </p:txBody>
      </p:sp>
      <p:sp>
        <p:nvSpPr>
          <p:cNvPr id="36" name="Shape 34"/>
          <p:cNvSpPr/>
          <p:nvPr/>
        </p:nvSpPr>
        <p:spPr>
          <a:xfrm>
            <a:off x="6126480" y="4023360"/>
            <a:ext cx="2743200" cy="1920240"/>
          </a:xfrm>
          <a:prstGeom prst="rect">
            <a:avLst/>
          </a:prstGeom>
          <a:solidFill>
            <a:srgbClr val="F8FAFC"/>
          </a:solidFill>
          <a:ln/>
        </p:spPr>
        <p:txBody>
          <a:bodyPr/>
          <a:lstStyle/>
          <a:p>
            <a:endParaRPr lang="en-AE"/>
          </a:p>
        </p:txBody>
      </p:sp>
      <p:sp>
        <p:nvSpPr>
          <p:cNvPr id="37" name="Shape 35"/>
          <p:cNvSpPr/>
          <p:nvPr/>
        </p:nvSpPr>
        <p:spPr>
          <a:xfrm>
            <a:off x="6126480" y="4023360"/>
            <a:ext cx="2743200" cy="91440"/>
          </a:xfrm>
          <a:prstGeom prst="rect">
            <a:avLst/>
          </a:prstGeom>
          <a:solidFill>
            <a:srgbClr val="E04E1A"/>
          </a:solidFill>
          <a:ln/>
        </p:spPr>
        <p:txBody>
          <a:bodyPr/>
          <a:lstStyle/>
          <a:p>
            <a:endParaRPr lang="en-AE"/>
          </a:p>
        </p:txBody>
      </p:sp>
      <p:sp>
        <p:nvSpPr>
          <p:cNvPr id="38" name="Text 36"/>
          <p:cNvSpPr/>
          <p:nvPr/>
        </p:nvSpPr>
        <p:spPr>
          <a:xfrm>
            <a:off x="6263640" y="4206240"/>
            <a:ext cx="2468880" cy="274320"/>
          </a:xfrm>
          <a:prstGeom prst="rect">
            <a:avLst/>
          </a:prstGeom>
          <a:noFill/>
          <a:ln/>
        </p:spPr>
        <p:txBody>
          <a:bodyPr wrap="square" lIns="0" tIns="0" rIns="0" bIns="0" rtlCol="0" anchor="ctr"/>
          <a:lstStyle/>
          <a:p>
            <a:pPr marL="0" indent="0">
              <a:buNone/>
            </a:pPr>
            <a:r>
              <a:rPr lang="en-US" sz="1250" b="1" kern="0" spc="200" dirty="0">
                <a:solidFill>
                  <a:srgbClr val="E04E1A"/>
                </a:solidFill>
                <a:latin typeface="Arial Black" pitchFamily="34" charset="0"/>
                <a:ea typeface="Arial Black" pitchFamily="34" charset="-122"/>
                <a:cs typeface="Arial Black" pitchFamily="34" charset="-120"/>
              </a:rPr>
              <a:t>ML / AI</a:t>
            </a:r>
            <a:endParaRPr lang="en-US" sz="1250" dirty="0"/>
          </a:p>
        </p:txBody>
      </p:sp>
      <p:sp>
        <p:nvSpPr>
          <p:cNvPr id="39" name="Text 37"/>
          <p:cNvSpPr/>
          <p:nvPr/>
        </p:nvSpPr>
        <p:spPr>
          <a:xfrm>
            <a:off x="6263640" y="4480560"/>
            <a:ext cx="2468880" cy="256032"/>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train + serve</a:t>
            </a:r>
            <a:endParaRPr lang="en-US" sz="1000" dirty="0"/>
          </a:p>
        </p:txBody>
      </p:sp>
      <p:sp>
        <p:nvSpPr>
          <p:cNvPr id="40" name="Text 38"/>
          <p:cNvSpPr/>
          <p:nvPr/>
        </p:nvSpPr>
        <p:spPr>
          <a:xfrm>
            <a:off x="6263640" y="4800600"/>
            <a:ext cx="2468880" cy="105156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MLflow</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  Vertex AI</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  SageMaker</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  Ray</a:t>
            </a:r>
            <a:endParaRPr lang="en-US" sz="1050" dirty="0"/>
          </a:p>
        </p:txBody>
      </p:sp>
      <p:sp>
        <p:nvSpPr>
          <p:cNvPr id="41" name="Shape 39"/>
          <p:cNvSpPr/>
          <p:nvPr/>
        </p:nvSpPr>
        <p:spPr>
          <a:xfrm>
            <a:off x="8961120" y="4023360"/>
            <a:ext cx="2743200" cy="1920240"/>
          </a:xfrm>
          <a:prstGeom prst="rect">
            <a:avLst/>
          </a:prstGeom>
          <a:solidFill>
            <a:srgbClr val="F8FAFC"/>
          </a:solidFill>
          <a:ln/>
        </p:spPr>
        <p:txBody>
          <a:bodyPr/>
          <a:lstStyle/>
          <a:p>
            <a:endParaRPr lang="en-AE"/>
          </a:p>
        </p:txBody>
      </p:sp>
      <p:sp>
        <p:nvSpPr>
          <p:cNvPr id="42" name="Shape 40"/>
          <p:cNvSpPr/>
          <p:nvPr/>
        </p:nvSpPr>
        <p:spPr>
          <a:xfrm>
            <a:off x="8961120" y="4023360"/>
            <a:ext cx="2743200" cy="91440"/>
          </a:xfrm>
          <a:prstGeom prst="rect">
            <a:avLst/>
          </a:prstGeom>
          <a:solidFill>
            <a:srgbClr val="1B2656"/>
          </a:solidFill>
          <a:ln/>
        </p:spPr>
        <p:txBody>
          <a:bodyPr/>
          <a:lstStyle/>
          <a:p>
            <a:endParaRPr lang="en-AE"/>
          </a:p>
        </p:txBody>
      </p:sp>
      <p:sp>
        <p:nvSpPr>
          <p:cNvPr id="43" name="Text 41"/>
          <p:cNvSpPr/>
          <p:nvPr/>
        </p:nvSpPr>
        <p:spPr>
          <a:xfrm>
            <a:off x="9098280" y="4206240"/>
            <a:ext cx="2468880" cy="274320"/>
          </a:xfrm>
          <a:prstGeom prst="rect">
            <a:avLst/>
          </a:prstGeom>
          <a:noFill/>
          <a:ln/>
        </p:spPr>
        <p:txBody>
          <a:bodyPr wrap="square" lIns="0" tIns="0" rIns="0" bIns="0" rtlCol="0" anchor="ctr"/>
          <a:lstStyle/>
          <a:p>
            <a:pPr marL="0" indent="0">
              <a:buNone/>
            </a:pPr>
            <a:r>
              <a:rPr lang="en-US" sz="1250" b="1" kern="0" spc="200" dirty="0">
                <a:solidFill>
                  <a:srgbClr val="1B2656"/>
                </a:solidFill>
                <a:latin typeface="Arial Black" pitchFamily="34" charset="0"/>
                <a:ea typeface="Arial Black" pitchFamily="34" charset="-122"/>
                <a:cs typeface="Arial Black" pitchFamily="34" charset="-120"/>
              </a:rPr>
              <a:t>OBSERVABILITY</a:t>
            </a:r>
            <a:endParaRPr lang="en-US" sz="1250" dirty="0"/>
          </a:p>
        </p:txBody>
      </p:sp>
      <p:sp>
        <p:nvSpPr>
          <p:cNvPr id="44" name="Text 42"/>
          <p:cNvSpPr/>
          <p:nvPr/>
        </p:nvSpPr>
        <p:spPr>
          <a:xfrm>
            <a:off x="9098280" y="4480560"/>
            <a:ext cx="2468880" cy="256032"/>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catch bad data</a:t>
            </a:r>
            <a:endParaRPr lang="en-US" sz="1000" dirty="0"/>
          </a:p>
        </p:txBody>
      </p:sp>
      <p:sp>
        <p:nvSpPr>
          <p:cNvPr id="45" name="Text 43"/>
          <p:cNvSpPr/>
          <p:nvPr/>
        </p:nvSpPr>
        <p:spPr>
          <a:xfrm>
            <a:off x="9098280" y="4800600"/>
            <a:ext cx="2468880" cy="105156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Monte Carlo</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  Great Expectations</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  Soda</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  Elementary</a:t>
            </a:r>
            <a:endParaRPr lang="en-US" sz="1050" dirty="0"/>
          </a:p>
        </p:txBody>
      </p:sp>
      <p:sp>
        <p:nvSpPr>
          <p:cNvPr id="46" name="Shape 44"/>
          <p:cNvSpPr/>
          <p:nvPr/>
        </p:nvSpPr>
        <p:spPr>
          <a:xfrm>
            <a:off x="457200" y="6172200"/>
            <a:ext cx="11247120" cy="365760"/>
          </a:xfrm>
          <a:prstGeom prst="rect">
            <a:avLst/>
          </a:prstGeom>
          <a:solidFill>
            <a:srgbClr val="0B1437"/>
          </a:solidFill>
          <a:ln/>
        </p:spPr>
        <p:txBody>
          <a:bodyPr/>
          <a:lstStyle/>
          <a:p>
            <a:endParaRPr lang="en-AE"/>
          </a:p>
        </p:txBody>
      </p:sp>
      <p:sp>
        <p:nvSpPr>
          <p:cNvPr id="47" name="Text 45"/>
          <p:cNvSpPr/>
          <p:nvPr/>
        </p:nvSpPr>
        <p:spPr>
          <a:xfrm>
            <a:off x="731520" y="6199632"/>
            <a:ext cx="10972800" cy="320040"/>
          </a:xfrm>
          <a:prstGeom prst="rect">
            <a:avLst/>
          </a:prstGeom>
          <a:noFill/>
          <a:ln/>
        </p:spPr>
        <p:txBody>
          <a:bodyPr wrap="square" lIns="0" tIns="0" rIns="0" bIns="0" rtlCol="0" anchor="ctr"/>
          <a:lstStyle/>
          <a:p>
            <a:pPr marL="0" indent="0">
              <a:buNone/>
            </a:pPr>
            <a:r>
              <a:rPr lang="en-US" sz="1150" b="1" i="1" dirty="0">
                <a:solidFill>
                  <a:srgbClr val="FF6B35"/>
                </a:solidFill>
                <a:latin typeface="Calibri" pitchFamily="34" charset="0"/>
                <a:ea typeface="Calibri" pitchFamily="34" charset="-122"/>
                <a:cs typeface="Calibri" pitchFamily="34" charset="-120"/>
              </a:rPr>
              <a:t>CAREER TIP  ·  </a:t>
            </a:r>
            <a:r>
              <a:rPr lang="en-US" sz="1150" i="1" dirty="0">
                <a:solidFill>
                  <a:srgbClr val="FFFFFF"/>
                </a:solidFill>
                <a:latin typeface="Calibri" pitchFamily="34" charset="0"/>
                <a:ea typeface="Calibri" pitchFamily="34" charset="-122"/>
                <a:cs typeface="Calibri" pitchFamily="34" charset="-120"/>
              </a:rPr>
              <a:t>master ONE tool per category and you're employable anywhere. Nobody uses all 32 every team picks 6–8.</a:t>
            </a:r>
            <a:endParaRPr lang="en-US" sz="1150" dirty="0"/>
          </a:p>
        </p:txBody>
      </p:sp>
      <p:sp>
        <p:nvSpPr>
          <p:cNvPr id="48" name="Text 46"/>
          <p:cNvSpPr/>
          <p:nvPr/>
        </p:nvSpPr>
        <p:spPr>
          <a:xfrm>
            <a:off x="10332720" y="6510528"/>
            <a:ext cx="173736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18 / 32  ·  DATA &amp; AI</a:t>
            </a:r>
            <a:endParaRPr lang="en-US" sz="900" dirty="0"/>
          </a:p>
        </p:txBody>
      </p:sp>
      <p:sp>
        <p:nvSpPr>
          <p:cNvPr id="49" name="Text 47"/>
          <p:cNvSpPr/>
          <p:nvPr/>
        </p:nvSpPr>
        <p:spPr>
          <a:xfrm>
            <a:off x="457200" y="6510528"/>
            <a:ext cx="5486400" cy="256032"/>
          </a:xfrm>
          <a:prstGeom prst="rect">
            <a:avLst/>
          </a:prstGeom>
          <a:noFill/>
          <a:ln/>
        </p:spPr>
        <p:txBody>
          <a:bodyPr wrap="square" lIns="0" tIns="0" rIns="0" bIns="0" rtlCol="0" anchor="ctr"/>
          <a:lstStyle/>
          <a:p>
            <a:pPr marL="0" indent="0">
              <a:buNone/>
            </a:pPr>
            <a:r>
              <a:rPr lang="en-US" sz="900" b="1" kern="0" spc="200" dirty="0">
                <a:solidFill>
                  <a:srgbClr val="94A3B8"/>
                </a:solidFill>
                <a:latin typeface="Calibri" pitchFamily="34" charset="0"/>
                <a:ea typeface="Calibri" pitchFamily="34" charset="-122"/>
                <a:cs typeface="Calibri" pitchFamily="34" charset="-120"/>
              </a:rPr>
              <a:t>MODERN STACK</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437"/>
        </a:solidFill>
        <a:effectLst/>
      </p:bgPr>
    </p:bg>
    <p:spTree>
      <p:nvGrpSpPr>
        <p:cNvPr id="1" name=""/>
        <p:cNvGrpSpPr/>
        <p:nvPr/>
      </p:nvGrpSpPr>
      <p:grpSpPr>
        <a:xfrm>
          <a:off x="0" y="0"/>
          <a:ext cx="0" cy="0"/>
          <a:chOff x="0" y="0"/>
          <a:chExt cx="0" cy="0"/>
        </a:xfrm>
      </p:grpSpPr>
      <p:sp>
        <p:nvSpPr>
          <p:cNvPr id="2" name="Text 0"/>
          <p:cNvSpPr/>
          <p:nvPr/>
        </p:nvSpPr>
        <p:spPr>
          <a:xfrm>
            <a:off x="457200" y="1828800"/>
            <a:ext cx="4572000" cy="3200400"/>
          </a:xfrm>
          <a:prstGeom prst="rect">
            <a:avLst/>
          </a:prstGeom>
          <a:noFill/>
          <a:ln/>
        </p:spPr>
        <p:txBody>
          <a:bodyPr wrap="square" lIns="0" tIns="0" rIns="0" bIns="0" rtlCol="0" anchor="ctr"/>
          <a:lstStyle/>
          <a:p>
            <a:pPr marL="0" indent="0" algn="l">
              <a:buNone/>
            </a:pPr>
            <a:r>
              <a:rPr lang="en-US" sz="18000" b="1" dirty="0">
                <a:solidFill>
                  <a:srgbClr val="FF6B35"/>
                </a:solidFill>
                <a:latin typeface="Arial Black" pitchFamily="34" charset="0"/>
                <a:ea typeface="Arial Black" pitchFamily="34" charset="-122"/>
                <a:cs typeface="Arial Black" pitchFamily="34" charset="-120"/>
              </a:rPr>
              <a:t>05</a:t>
            </a:r>
            <a:endParaRPr lang="en-US" sz="18000" dirty="0"/>
          </a:p>
        </p:txBody>
      </p:sp>
      <p:sp>
        <p:nvSpPr>
          <p:cNvPr id="3" name="Text 1"/>
          <p:cNvSpPr/>
          <p:nvPr/>
        </p:nvSpPr>
        <p:spPr>
          <a:xfrm>
            <a:off x="5303520" y="2377440"/>
            <a:ext cx="6400800" cy="365760"/>
          </a:xfrm>
          <a:prstGeom prst="rect">
            <a:avLst/>
          </a:prstGeom>
          <a:noFill/>
          <a:ln/>
        </p:spPr>
        <p:txBody>
          <a:bodyPr wrap="square" lIns="0" tIns="0" rIns="0" bIns="0" rtlCol="0" anchor="ctr"/>
          <a:lstStyle/>
          <a:p>
            <a:pPr marL="0" indent="0">
              <a:buNone/>
            </a:pPr>
            <a:r>
              <a:rPr lang="en-US" sz="1300" b="1" kern="0" spc="400" dirty="0">
                <a:solidFill>
                  <a:srgbClr val="22D3EE"/>
                </a:solidFill>
                <a:latin typeface="Calibri" pitchFamily="34" charset="0"/>
                <a:ea typeface="Calibri" pitchFamily="34" charset="-122"/>
                <a:cs typeface="Calibri" pitchFamily="34" charset="-120"/>
              </a:rPr>
              <a:t>DATA MINING → AI</a:t>
            </a:r>
            <a:endParaRPr lang="en-US" sz="1300" dirty="0"/>
          </a:p>
        </p:txBody>
      </p:sp>
      <p:sp>
        <p:nvSpPr>
          <p:cNvPr id="4" name="Shape 2"/>
          <p:cNvSpPr/>
          <p:nvPr/>
        </p:nvSpPr>
        <p:spPr>
          <a:xfrm>
            <a:off x="5303520" y="2834640"/>
            <a:ext cx="457200" cy="73152"/>
          </a:xfrm>
          <a:prstGeom prst="rect">
            <a:avLst/>
          </a:prstGeom>
          <a:solidFill>
            <a:srgbClr val="FF6B35"/>
          </a:solidFill>
          <a:ln/>
        </p:spPr>
        <p:txBody>
          <a:bodyPr/>
          <a:lstStyle/>
          <a:p>
            <a:endParaRPr lang="en-AE"/>
          </a:p>
        </p:txBody>
      </p:sp>
      <p:sp>
        <p:nvSpPr>
          <p:cNvPr id="5" name="Text 3"/>
          <p:cNvSpPr/>
          <p:nvPr/>
        </p:nvSpPr>
        <p:spPr>
          <a:xfrm>
            <a:off x="5303520" y="3017520"/>
            <a:ext cx="6400800" cy="1828800"/>
          </a:xfrm>
          <a:prstGeom prst="rect">
            <a:avLst/>
          </a:prstGeom>
          <a:noFill/>
          <a:ln/>
        </p:spPr>
        <p:txBody>
          <a:bodyPr wrap="square" lIns="0" tIns="0" rIns="0" bIns="0" rtlCol="0" anchor="ctr"/>
          <a:lstStyle/>
          <a:p>
            <a:pPr marL="0" indent="0">
              <a:buNone/>
            </a:pPr>
            <a:r>
              <a:rPr lang="en-US" sz="4000" b="1" dirty="0">
                <a:solidFill>
                  <a:srgbClr val="FFFFFF"/>
                </a:solidFill>
                <a:latin typeface="Arial Black" pitchFamily="34" charset="0"/>
                <a:ea typeface="Arial Black" pitchFamily="34" charset="-122"/>
                <a:cs typeface="Arial Black" pitchFamily="34" charset="-120"/>
              </a:rPr>
              <a:t>KDD, classification, clustering,</a:t>
            </a:r>
            <a:endParaRPr lang="en-US" sz="4000" dirty="0"/>
          </a:p>
          <a:p>
            <a:pPr marL="0" indent="0">
              <a:buNone/>
            </a:pPr>
            <a:r>
              <a:rPr lang="en-US" sz="4000" b="1" dirty="0">
                <a:solidFill>
                  <a:srgbClr val="FFFFFF"/>
                </a:solidFill>
                <a:latin typeface="Arial Black" pitchFamily="34" charset="0"/>
                <a:ea typeface="Arial Black" pitchFamily="34" charset="-122"/>
                <a:cs typeface="Arial Black" pitchFamily="34" charset="-120"/>
              </a:rPr>
              <a:t>and the road to GenAI.</a:t>
            </a:r>
            <a:endParaRPr lang="en-US" sz="4000" dirty="0"/>
          </a:p>
        </p:txBody>
      </p:sp>
      <p:sp>
        <p:nvSpPr>
          <p:cNvPr id="6" name="Text 4"/>
          <p:cNvSpPr/>
          <p:nvPr/>
        </p:nvSpPr>
        <p:spPr>
          <a:xfrm>
            <a:off x="5303520" y="5120640"/>
            <a:ext cx="6400800" cy="45720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Modules III, IV, V the punchline of your syllabus.</a:t>
            </a:r>
            <a:endParaRPr lang="en-US" sz="1400" dirty="0"/>
          </a:p>
        </p:txBody>
      </p:sp>
      <p:sp>
        <p:nvSpPr>
          <p:cNvPr id="7" name="Text 5"/>
          <p:cNvSpPr/>
          <p:nvPr/>
        </p:nvSpPr>
        <p:spPr>
          <a:xfrm>
            <a:off x="10332720" y="6510528"/>
            <a:ext cx="173736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19 / 32  ·  DATA &amp; AI</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D97706"/>
          </a:solidFill>
          <a:ln/>
        </p:spPr>
        <p:txBody>
          <a:bodyPr/>
          <a:lstStyle/>
          <a:p>
            <a:endParaRPr lang="en-AE"/>
          </a:p>
        </p:txBody>
      </p:sp>
      <p:sp>
        <p:nvSpPr>
          <p:cNvPr id="3" name="Shape 1"/>
          <p:cNvSpPr/>
          <p:nvPr/>
        </p:nvSpPr>
        <p:spPr>
          <a:xfrm>
            <a:off x="621792" y="457200"/>
            <a:ext cx="54864" cy="128016"/>
          </a:xfrm>
          <a:prstGeom prst="rect">
            <a:avLst/>
          </a:prstGeom>
          <a:solidFill>
            <a:srgbClr val="0B1437"/>
          </a:solidFill>
          <a:ln/>
        </p:spPr>
        <p:txBody>
          <a:bodyPr/>
          <a:lstStyle/>
          <a:p>
            <a:endParaRPr lang="en-AE"/>
          </a:p>
        </p:txBody>
      </p:sp>
      <p:sp>
        <p:nvSpPr>
          <p:cNvPr id="4" name="Text 2"/>
          <p:cNvSpPr/>
          <p:nvPr/>
        </p:nvSpPr>
        <p:spPr>
          <a:xfrm>
            <a:off x="457200" y="685800"/>
            <a:ext cx="11247120" cy="274320"/>
          </a:xfrm>
          <a:prstGeom prst="rect">
            <a:avLst/>
          </a:prstGeom>
          <a:noFill/>
          <a:ln/>
        </p:spPr>
        <p:txBody>
          <a:bodyPr wrap="square" lIns="0" tIns="0" rIns="0" bIns="0" rtlCol="0" anchor="ctr"/>
          <a:lstStyle/>
          <a:p>
            <a:pPr marL="0" indent="0">
              <a:buNone/>
            </a:pPr>
            <a:r>
              <a:rPr lang="en-US" sz="1100" b="1" kern="0" spc="400" dirty="0">
                <a:solidFill>
                  <a:srgbClr val="D97706"/>
                </a:solidFill>
                <a:latin typeface="Calibri" pitchFamily="34" charset="0"/>
                <a:ea typeface="Calibri" pitchFamily="34" charset="-122"/>
                <a:cs typeface="Calibri" pitchFamily="34" charset="-120"/>
              </a:rPr>
              <a:t>THE KDD PROCESS</a:t>
            </a:r>
            <a:endParaRPr lang="en-US" sz="1100" dirty="0"/>
          </a:p>
        </p:txBody>
      </p:sp>
      <p:sp>
        <p:nvSpPr>
          <p:cNvPr id="5" name="Text 3"/>
          <p:cNvSpPr/>
          <p:nvPr/>
        </p:nvSpPr>
        <p:spPr>
          <a:xfrm>
            <a:off x="457200" y="932688"/>
            <a:ext cx="1124712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Knowledge Discovery in Databases.</a:t>
            </a:r>
            <a:endParaRPr lang="en-US" sz="3000" dirty="0"/>
          </a:p>
        </p:txBody>
      </p:sp>
      <p:sp>
        <p:nvSpPr>
          <p:cNvPr id="6" name="Text 4"/>
          <p:cNvSpPr/>
          <p:nvPr/>
        </p:nvSpPr>
        <p:spPr>
          <a:xfrm>
            <a:off x="457200" y="1572768"/>
            <a:ext cx="11247120" cy="45720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Data mining is step 4 of 6. The other 5 are where the work actually lives.</a:t>
            </a:r>
            <a:endParaRPr lang="en-US" sz="1300" dirty="0"/>
          </a:p>
        </p:txBody>
      </p:sp>
      <p:pic>
        <p:nvPicPr>
          <p:cNvPr id="7" name="Image 0" descr="images/kdd.png"/>
          <p:cNvPicPr>
            <a:picLocks noChangeAspect="1"/>
          </p:cNvPicPr>
          <p:nvPr/>
        </p:nvPicPr>
        <p:blipFill>
          <a:blip r:embed="rId3"/>
          <a:srcRect/>
          <a:stretch/>
        </p:blipFill>
        <p:spPr>
          <a:xfrm>
            <a:off x="182880" y="2057400"/>
            <a:ext cx="7680960" cy="4343400"/>
          </a:xfrm>
          <a:prstGeom prst="rect">
            <a:avLst/>
          </a:prstGeom>
        </p:spPr>
      </p:pic>
      <p:sp>
        <p:nvSpPr>
          <p:cNvPr id="8" name="Text 5"/>
          <p:cNvSpPr/>
          <p:nvPr/>
        </p:nvSpPr>
        <p:spPr>
          <a:xfrm>
            <a:off x="8138160" y="1965960"/>
            <a:ext cx="3840480" cy="274320"/>
          </a:xfrm>
          <a:prstGeom prst="rect">
            <a:avLst/>
          </a:prstGeom>
          <a:noFill/>
          <a:ln/>
        </p:spPr>
        <p:txBody>
          <a:bodyPr wrap="square" lIns="0" tIns="0" rIns="0" bIns="0" rtlCol="0" anchor="ctr"/>
          <a:lstStyle/>
          <a:p>
            <a:pPr marL="0" indent="0">
              <a:buNone/>
            </a:pPr>
            <a:r>
              <a:rPr lang="en-US" sz="1050" b="1" kern="0" spc="300" dirty="0">
                <a:solidFill>
                  <a:srgbClr val="64748B"/>
                </a:solidFill>
                <a:latin typeface="Calibri" pitchFamily="34" charset="0"/>
                <a:ea typeface="Calibri" pitchFamily="34" charset="-122"/>
                <a:cs typeface="Calibri" pitchFamily="34" charset="-120"/>
              </a:rPr>
              <a:t>WHERE THE TIME ACTUALLY GOES</a:t>
            </a:r>
            <a:endParaRPr lang="en-US" sz="1050" dirty="0"/>
          </a:p>
        </p:txBody>
      </p:sp>
      <p:sp>
        <p:nvSpPr>
          <p:cNvPr id="9" name="Text 6"/>
          <p:cNvSpPr/>
          <p:nvPr/>
        </p:nvSpPr>
        <p:spPr>
          <a:xfrm>
            <a:off x="8138160" y="2286000"/>
            <a:ext cx="3840480" cy="1554480"/>
          </a:xfrm>
          <a:prstGeom prst="rect">
            <a:avLst/>
          </a:prstGeom>
          <a:noFill/>
          <a:ln/>
        </p:spPr>
        <p:txBody>
          <a:bodyPr wrap="square" lIns="0" tIns="0" rIns="0" bIns="0" rtlCol="0" anchor="ctr"/>
          <a:lstStyle/>
          <a:p>
            <a:pPr marL="0" indent="0">
              <a:buNone/>
            </a:pPr>
            <a:r>
              <a:rPr lang="en-US" sz="11000" b="1" dirty="0">
                <a:solidFill>
                  <a:srgbClr val="FF6B35"/>
                </a:solidFill>
                <a:latin typeface="Arial Black" pitchFamily="34" charset="0"/>
                <a:ea typeface="Arial Black" pitchFamily="34" charset="-122"/>
                <a:cs typeface="Arial Black" pitchFamily="34" charset="-120"/>
              </a:rPr>
              <a:t>70%</a:t>
            </a:r>
            <a:endParaRPr lang="en-US" sz="11000" dirty="0"/>
          </a:p>
        </p:txBody>
      </p:sp>
      <p:sp>
        <p:nvSpPr>
          <p:cNvPr id="10" name="Text 7"/>
          <p:cNvSpPr/>
          <p:nvPr/>
        </p:nvSpPr>
        <p:spPr>
          <a:xfrm>
            <a:off x="8138160" y="3931920"/>
            <a:ext cx="3840480" cy="73152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unglamorous work.</a:t>
            </a:r>
            <a:endParaRPr lang="en-US" sz="1300" dirty="0"/>
          </a:p>
          <a:p>
            <a:pPr marL="0" indent="0">
              <a:buNone/>
            </a:pPr>
            <a:r>
              <a:rPr lang="en-US" sz="1300" dirty="0">
                <a:solidFill>
                  <a:srgbClr val="1E293B"/>
                </a:solidFill>
                <a:latin typeface="Calibri" pitchFamily="34" charset="0"/>
                <a:ea typeface="Calibri" pitchFamily="34" charset="-122"/>
                <a:cs typeface="Calibri" pitchFamily="34" charset="-120"/>
              </a:rPr>
              <a:t>Cleaning, joining, coaxing.</a:t>
            </a:r>
            <a:endParaRPr lang="en-US" sz="1300" dirty="0"/>
          </a:p>
        </p:txBody>
      </p:sp>
      <p:sp>
        <p:nvSpPr>
          <p:cNvPr id="11" name="Text 8"/>
          <p:cNvSpPr/>
          <p:nvPr/>
        </p:nvSpPr>
        <p:spPr>
          <a:xfrm>
            <a:off x="8138160" y="4800600"/>
            <a:ext cx="3840480" cy="274320"/>
          </a:xfrm>
          <a:prstGeom prst="rect">
            <a:avLst/>
          </a:prstGeom>
          <a:noFill/>
          <a:ln/>
        </p:spPr>
        <p:txBody>
          <a:bodyPr wrap="square" lIns="0" tIns="0" rIns="0" bIns="0" rtlCol="0" anchor="ctr"/>
          <a:lstStyle/>
          <a:p>
            <a:pPr marL="0" indent="0">
              <a:buNone/>
            </a:pPr>
            <a:r>
              <a:rPr lang="en-US" sz="1100" b="1" dirty="0">
                <a:solidFill>
                  <a:srgbClr val="64748B"/>
                </a:solidFill>
                <a:latin typeface="Calibri" pitchFamily="34" charset="0"/>
                <a:ea typeface="Calibri" pitchFamily="34" charset="-122"/>
                <a:cs typeface="Calibri" pitchFamily="34" charset="-120"/>
              </a:rPr>
              <a:t>The other 30%?</a:t>
            </a:r>
            <a:endParaRPr lang="en-US" sz="1100" dirty="0"/>
          </a:p>
        </p:txBody>
      </p:sp>
      <p:sp>
        <p:nvSpPr>
          <p:cNvPr id="12" name="Text 9"/>
          <p:cNvSpPr/>
          <p:nvPr/>
        </p:nvSpPr>
        <p:spPr>
          <a:xfrm>
            <a:off x="8138160" y="5074920"/>
            <a:ext cx="3840480" cy="274320"/>
          </a:xfrm>
          <a:prstGeom prst="rect">
            <a:avLst/>
          </a:prstGeom>
          <a:noFill/>
          <a:ln/>
        </p:spPr>
        <p:txBody>
          <a:bodyPr wrap="square" lIns="0" tIns="0" rIns="0" bIns="0" rtlCol="0" anchor="ctr"/>
          <a:lstStyle/>
          <a:p>
            <a:pPr marL="0" indent="0">
              <a:buNone/>
            </a:pPr>
            <a:r>
              <a:rPr lang="en-US" sz="1150" b="1" dirty="0">
                <a:solidFill>
                  <a:srgbClr val="0891B2"/>
                </a:solidFill>
                <a:latin typeface="Calibri" pitchFamily="34" charset="0"/>
                <a:ea typeface="Calibri" pitchFamily="34" charset="-122"/>
                <a:cs typeface="Calibri" pitchFamily="34" charset="-120"/>
              </a:rPr>
              <a:t>Modeling (15%)  +  Shipping (15%)</a:t>
            </a:r>
            <a:endParaRPr lang="en-US" sz="1150" dirty="0"/>
          </a:p>
        </p:txBody>
      </p:sp>
      <p:sp>
        <p:nvSpPr>
          <p:cNvPr id="13" name="Shape 10"/>
          <p:cNvSpPr/>
          <p:nvPr/>
        </p:nvSpPr>
        <p:spPr>
          <a:xfrm>
            <a:off x="8138160" y="5486400"/>
            <a:ext cx="3840480" cy="914400"/>
          </a:xfrm>
          <a:prstGeom prst="rect">
            <a:avLst/>
          </a:prstGeom>
          <a:solidFill>
            <a:srgbClr val="0B1437"/>
          </a:solidFill>
          <a:ln/>
        </p:spPr>
        <p:txBody>
          <a:bodyPr/>
          <a:lstStyle/>
          <a:p>
            <a:endParaRPr lang="en-AE"/>
          </a:p>
        </p:txBody>
      </p:sp>
      <p:sp>
        <p:nvSpPr>
          <p:cNvPr id="14" name="Text 11"/>
          <p:cNvSpPr/>
          <p:nvPr/>
        </p:nvSpPr>
        <p:spPr>
          <a:xfrm>
            <a:off x="8275320" y="5559552"/>
            <a:ext cx="3657600" cy="822960"/>
          </a:xfrm>
          <a:prstGeom prst="rect">
            <a:avLst/>
          </a:prstGeom>
          <a:noFill/>
          <a:ln/>
        </p:spPr>
        <p:txBody>
          <a:bodyPr wrap="square" lIns="0" tIns="0" rIns="0" bIns="0" rtlCol="0" anchor="t"/>
          <a:lstStyle/>
          <a:p>
            <a:pPr marL="0" indent="0">
              <a:buNone/>
            </a:pPr>
            <a:r>
              <a:rPr lang="en-US" sz="1100" b="1" dirty="0">
                <a:solidFill>
                  <a:srgbClr val="F59E0B"/>
                </a:solidFill>
                <a:latin typeface="Calibri" pitchFamily="34" charset="0"/>
                <a:ea typeface="Calibri" pitchFamily="34" charset="-122"/>
                <a:cs typeface="Calibri" pitchFamily="34" charset="-120"/>
              </a:rPr>
              <a:t>The '70% data prep' stat</a:t>
            </a:r>
            <a:endParaRPr lang="en-US" sz="1100" dirty="0"/>
          </a:p>
          <a:p>
            <a:pPr marL="0" indent="0">
              <a:buNone/>
            </a:pPr>
            <a:r>
              <a:rPr lang="en-US" sz="1100" i="1" dirty="0">
                <a:solidFill>
                  <a:srgbClr val="FFFFFF"/>
                </a:solidFill>
                <a:latin typeface="Calibri" pitchFamily="34" charset="0"/>
                <a:ea typeface="Calibri" pitchFamily="34" charset="-122"/>
                <a:cs typeface="Calibri" pitchFamily="34" charset="-120"/>
              </a:rPr>
              <a:t>is industry folklore, and roughly true. Accept it early it makes you happier.</a:t>
            </a:r>
            <a:endParaRPr lang="en-US" sz="1100" dirty="0"/>
          </a:p>
        </p:txBody>
      </p:sp>
      <p:sp>
        <p:nvSpPr>
          <p:cNvPr id="15" name="Text 12"/>
          <p:cNvSpPr/>
          <p:nvPr/>
        </p:nvSpPr>
        <p:spPr>
          <a:xfrm>
            <a:off x="10332720" y="6510528"/>
            <a:ext cx="173736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20 / 32  ·  DATA &amp; AI</a:t>
            </a:r>
            <a:endParaRPr lang="en-US" sz="900" dirty="0"/>
          </a:p>
        </p:txBody>
      </p:sp>
      <p:sp>
        <p:nvSpPr>
          <p:cNvPr id="16" name="Text 13"/>
          <p:cNvSpPr/>
          <p:nvPr/>
        </p:nvSpPr>
        <p:spPr>
          <a:xfrm>
            <a:off x="457200" y="6510528"/>
            <a:ext cx="5486400" cy="256032"/>
          </a:xfrm>
          <a:prstGeom prst="rect">
            <a:avLst/>
          </a:prstGeom>
          <a:noFill/>
          <a:ln/>
        </p:spPr>
        <p:txBody>
          <a:bodyPr wrap="square" lIns="0" tIns="0" rIns="0" bIns="0" rtlCol="0" anchor="ctr"/>
          <a:lstStyle/>
          <a:p>
            <a:pPr marL="0" indent="0">
              <a:buNone/>
            </a:pPr>
            <a:r>
              <a:rPr lang="en-US" sz="900" b="1" kern="0" spc="200" dirty="0">
                <a:solidFill>
                  <a:srgbClr val="94A3B8"/>
                </a:solidFill>
                <a:latin typeface="Calibri" pitchFamily="34" charset="0"/>
                <a:ea typeface="Calibri" pitchFamily="34" charset="-122"/>
                <a:cs typeface="Calibri" pitchFamily="34" charset="-120"/>
              </a:rPr>
              <a:t>DATA MINING → AI</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D97706"/>
          </a:solidFill>
          <a:ln/>
        </p:spPr>
        <p:txBody>
          <a:bodyPr/>
          <a:lstStyle/>
          <a:p>
            <a:endParaRPr lang="en-AE"/>
          </a:p>
        </p:txBody>
      </p:sp>
      <p:sp>
        <p:nvSpPr>
          <p:cNvPr id="3" name="Shape 1"/>
          <p:cNvSpPr/>
          <p:nvPr/>
        </p:nvSpPr>
        <p:spPr>
          <a:xfrm>
            <a:off x="621792" y="457200"/>
            <a:ext cx="54864" cy="128016"/>
          </a:xfrm>
          <a:prstGeom prst="rect">
            <a:avLst/>
          </a:prstGeom>
          <a:solidFill>
            <a:srgbClr val="0B1437"/>
          </a:solidFill>
          <a:ln/>
        </p:spPr>
        <p:txBody>
          <a:bodyPr/>
          <a:lstStyle/>
          <a:p>
            <a:endParaRPr lang="en-AE"/>
          </a:p>
        </p:txBody>
      </p:sp>
      <p:sp>
        <p:nvSpPr>
          <p:cNvPr id="4" name="Text 2"/>
          <p:cNvSpPr/>
          <p:nvPr/>
        </p:nvSpPr>
        <p:spPr>
          <a:xfrm>
            <a:off x="457200" y="685800"/>
            <a:ext cx="11247120" cy="274320"/>
          </a:xfrm>
          <a:prstGeom prst="rect">
            <a:avLst/>
          </a:prstGeom>
          <a:noFill/>
          <a:ln/>
        </p:spPr>
        <p:txBody>
          <a:bodyPr wrap="square" lIns="0" tIns="0" rIns="0" bIns="0" rtlCol="0" anchor="ctr"/>
          <a:lstStyle/>
          <a:p>
            <a:pPr marL="0" indent="0">
              <a:buNone/>
            </a:pPr>
            <a:r>
              <a:rPr lang="en-US" sz="1100" b="1" kern="0" spc="400" dirty="0">
                <a:solidFill>
                  <a:srgbClr val="D97706"/>
                </a:solidFill>
                <a:latin typeface="Calibri" pitchFamily="34" charset="0"/>
                <a:ea typeface="Calibri" pitchFamily="34" charset="-122"/>
                <a:cs typeface="Calibri" pitchFamily="34" charset="-120"/>
              </a:rPr>
              <a:t>MODULE IV IN ONE SLIDE</a:t>
            </a:r>
            <a:endParaRPr lang="en-US" sz="1100" dirty="0"/>
          </a:p>
        </p:txBody>
      </p:sp>
      <p:sp>
        <p:nvSpPr>
          <p:cNvPr id="5" name="Text 3"/>
          <p:cNvSpPr/>
          <p:nvPr/>
        </p:nvSpPr>
        <p:spPr>
          <a:xfrm>
            <a:off x="457200" y="932688"/>
            <a:ext cx="1124712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The 5 techniques  ·  one cheat sheet.</a:t>
            </a:r>
            <a:endParaRPr lang="en-US" sz="3000" dirty="0"/>
          </a:p>
        </p:txBody>
      </p:sp>
      <p:sp>
        <p:nvSpPr>
          <p:cNvPr id="6" name="Text 4"/>
          <p:cNvSpPr/>
          <p:nvPr/>
        </p:nvSpPr>
        <p:spPr>
          <a:xfrm>
            <a:off x="457200" y="1572768"/>
            <a:ext cx="11247120" cy="45720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When a business problem lands on your desk, you'll pattern-match to one of these.</a:t>
            </a:r>
            <a:endParaRPr lang="en-US" sz="1300" dirty="0"/>
          </a:p>
        </p:txBody>
      </p:sp>
      <p:sp>
        <p:nvSpPr>
          <p:cNvPr id="7" name="Shape 5"/>
          <p:cNvSpPr/>
          <p:nvPr/>
        </p:nvSpPr>
        <p:spPr>
          <a:xfrm>
            <a:off x="457200" y="2011680"/>
            <a:ext cx="3657600" cy="1737360"/>
          </a:xfrm>
          <a:prstGeom prst="rect">
            <a:avLst/>
          </a:prstGeom>
          <a:solidFill>
            <a:srgbClr val="F8FAFC"/>
          </a:solidFill>
          <a:ln/>
          <a:effectLst>
            <a:outerShdw blurRad="76200" dist="25400" dir="8100000" algn="bl" rotWithShape="0">
              <a:srgbClr val="000000">
                <a:alpha val="8000"/>
              </a:srgbClr>
            </a:outerShdw>
          </a:effectLst>
        </p:spPr>
        <p:txBody>
          <a:bodyPr/>
          <a:lstStyle/>
          <a:p>
            <a:endParaRPr lang="en-AE"/>
          </a:p>
        </p:txBody>
      </p:sp>
      <p:sp>
        <p:nvSpPr>
          <p:cNvPr id="8" name="Shape 6"/>
          <p:cNvSpPr/>
          <p:nvPr/>
        </p:nvSpPr>
        <p:spPr>
          <a:xfrm>
            <a:off x="457200" y="2011680"/>
            <a:ext cx="3657600" cy="411480"/>
          </a:xfrm>
          <a:prstGeom prst="rect">
            <a:avLst/>
          </a:prstGeom>
          <a:solidFill>
            <a:srgbClr val="0891B2"/>
          </a:solidFill>
          <a:ln/>
        </p:spPr>
        <p:txBody>
          <a:bodyPr/>
          <a:lstStyle/>
          <a:p>
            <a:endParaRPr lang="en-AE"/>
          </a:p>
        </p:txBody>
      </p:sp>
      <p:sp>
        <p:nvSpPr>
          <p:cNvPr id="9" name="Text 7"/>
          <p:cNvSpPr/>
          <p:nvPr/>
        </p:nvSpPr>
        <p:spPr>
          <a:xfrm>
            <a:off x="594360" y="2011680"/>
            <a:ext cx="3383280" cy="411480"/>
          </a:xfrm>
          <a:prstGeom prst="rect">
            <a:avLst/>
          </a:prstGeom>
          <a:noFill/>
          <a:ln/>
        </p:spPr>
        <p:txBody>
          <a:bodyPr wrap="square" lIns="0" tIns="0" rIns="0" bIns="0" rtlCol="0" anchor="ctr"/>
          <a:lstStyle/>
          <a:p>
            <a:pPr marL="0" indent="0">
              <a:buNone/>
            </a:pPr>
            <a:r>
              <a:rPr lang="en-US" sz="1400" b="1" kern="0" spc="200" dirty="0">
                <a:solidFill>
                  <a:srgbClr val="FFFFFF"/>
                </a:solidFill>
                <a:latin typeface="Arial Black" pitchFamily="34" charset="0"/>
                <a:ea typeface="Arial Black" pitchFamily="34" charset="-122"/>
                <a:cs typeface="Arial Black" pitchFamily="34" charset="-120"/>
              </a:rPr>
              <a:t>CLASSIFICATION</a:t>
            </a:r>
            <a:endParaRPr lang="en-US" sz="1400" dirty="0"/>
          </a:p>
        </p:txBody>
      </p:sp>
      <p:sp>
        <p:nvSpPr>
          <p:cNvPr id="10" name="Text 8"/>
          <p:cNvSpPr/>
          <p:nvPr/>
        </p:nvSpPr>
        <p:spPr>
          <a:xfrm>
            <a:off x="594360" y="2514600"/>
            <a:ext cx="3383280" cy="274320"/>
          </a:xfrm>
          <a:prstGeom prst="rect">
            <a:avLst/>
          </a:prstGeom>
          <a:noFill/>
          <a:ln/>
        </p:spPr>
        <p:txBody>
          <a:bodyPr wrap="square" lIns="0" tIns="0" rIns="0" bIns="0" rtlCol="0" anchor="ctr"/>
          <a:lstStyle/>
          <a:p>
            <a:pPr marL="0" indent="0">
              <a:buNone/>
            </a:pPr>
            <a:r>
              <a:rPr lang="en-US" sz="1400" b="1" i="1" dirty="0">
                <a:solidFill>
                  <a:srgbClr val="0F172A"/>
                </a:solidFill>
                <a:latin typeface="Calibri" pitchFamily="34" charset="0"/>
                <a:ea typeface="Calibri" pitchFamily="34" charset="-122"/>
                <a:cs typeface="Calibri" pitchFamily="34" charset="-120"/>
              </a:rPr>
              <a:t>What class is this?</a:t>
            </a:r>
            <a:endParaRPr lang="en-US" sz="1400" dirty="0"/>
          </a:p>
        </p:txBody>
      </p:sp>
      <p:sp>
        <p:nvSpPr>
          <p:cNvPr id="11" name="Text 9"/>
          <p:cNvSpPr/>
          <p:nvPr/>
        </p:nvSpPr>
        <p:spPr>
          <a:xfrm>
            <a:off x="594360" y="2816352"/>
            <a:ext cx="3383280" cy="4572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Is this spam? Will this loan default?</a:t>
            </a:r>
            <a:endParaRPr lang="en-US" sz="1100" dirty="0"/>
          </a:p>
        </p:txBody>
      </p:sp>
      <p:sp>
        <p:nvSpPr>
          <p:cNvPr id="12" name="Text 10"/>
          <p:cNvSpPr/>
          <p:nvPr/>
        </p:nvSpPr>
        <p:spPr>
          <a:xfrm>
            <a:off x="594360" y="3383280"/>
            <a:ext cx="3383280" cy="274320"/>
          </a:xfrm>
          <a:prstGeom prst="rect">
            <a:avLst/>
          </a:prstGeom>
          <a:noFill/>
          <a:ln/>
        </p:spPr>
        <p:txBody>
          <a:bodyPr wrap="square" lIns="0" tIns="0" rIns="0" bIns="0" rtlCol="0" anchor="ctr"/>
          <a:lstStyle/>
          <a:p>
            <a:pPr marL="0" indent="0">
              <a:buNone/>
            </a:pPr>
            <a:r>
              <a:rPr lang="en-US" sz="950" b="1" dirty="0">
                <a:solidFill>
                  <a:srgbClr val="0891B2"/>
                </a:solidFill>
                <a:latin typeface="Consolas" pitchFamily="34" charset="0"/>
                <a:ea typeface="Consolas" pitchFamily="34" charset="-122"/>
                <a:cs typeface="Consolas" pitchFamily="34" charset="-120"/>
              </a:rPr>
              <a:t>Logistic · Tree · RF · XGBoost · NN</a:t>
            </a:r>
            <a:endParaRPr lang="en-US" sz="950" dirty="0"/>
          </a:p>
        </p:txBody>
      </p:sp>
      <p:sp>
        <p:nvSpPr>
          <p:cNvPr id="13" name="Shape 11"/>
          <p:cNvSpPr/>
          <p:nvPr/>
        </p:nvSpPr>
        <p:spPr>
          <a:xfrm>
            <a:off x="4251960" y="2011680"/>
            <a:ext cx="3657600" cy="1737360"/>
          </a:xfrm>
          <a:prstGeom prst="rect">
            <a:avLst/>
          </a:prstGeom>
          <a:solidFill>
            <a:srgbClr val="F8FAFC"/>
          </a:solidFill>
          <a:ln/>
          <a:effectLst>
            <a:outerShdw blurRad="76200" dist="25400" dir="8100000" algn="bl" rotWithShape="0">
              <a:srgbClr val="000000">
                <a:alpha val="8000"/>
              </a:srgbClr>
            </a:outerShdw>
          </a:effectLst>
        </p:spPr>
        <p:txBody>
          <a:bodyPr/>
          <a:lstStyle/>
          <a:p>
            <a:endParaRPr lang="en-AE"/>
          </a:p>
        </p:txBody>
      </p:sp>
      <p:sp>
        <p:nvSpPr>
          <p:cNvPr id="14" name="Shape 12"/>
          <p:cNvSpPr/>
          <p:nvPr/>
        </p:nvSpPr>
        <p:spPr>
          <a:xfrm>
            <a:off x="4251960" y="2011680"/>
            <a:ext cx="3657600" cy="411480"/>
          </a:xfrm>
          <a:prstGeom prst="rect">
            <a:avLst/>
          </a:prstGeom>
          <a:solidFill>
            <a:srgbClr val="14B8A6"/>
          </a:solidFill>
          <a:ln/>
        </p:spPr>
        <p:txBody>
          <a:bodyPr/>
          <a:lstStyle/>
          <a:p>
            <a:endParaRPr lang="en-AE"/>
          </a:p>
        </p:txBody>
      </p:sp>
      <p:sp>
        <p:nvSpPr>
          <p:cNvPr id="15" name="Text 13"/>
          <p:cNvSpPr/>
          <p:nvPr/>
        </p:nvSpPr>
        <p:spPr>
          <a:xfrm>
            <a:off x="4389120" y="2011680"/>
            <a:ext cx="3383280" cy="411480"/>
          </a:xfrm>
          <a:prstGeom prst="rect">
            <a:avLst/>
          </a:prstGeom>
          <a:noFill/>
          <a:ln/>
        </p:spPr>
        <p:txBody>
          <a:bodyPr wrap="square" lIns="0" tIns="0" rIns="0" bIns="0" rtlCol="0" anchor="ctr"/>
          <a:lstStyle/>
          <a:p>
            <a:pPr marL="0" indent="0">
              <a:buNone/>
            </a:pPr>
            <a:r>
              <a:rPr lang="en-US" sz="1400" b="1" kern="0" spc="200" dirty="0">
                <a:solidFill>
                  <a:srgbClr val="FFFFFF"/>
                </a:solidFill>
                <a:latin typeface="Arial Black" pitchFamily="34" charset="0"/>
                <a:ea typeface="Arial Black" pitchFamily="34" charset="-122"/>
                <a:cs typeface="Arial Black" pitchFamily="34" charset="-120"/>
              </a:rPr>
              <a:t>REGRESSION</a:t>
            </a:r>
            <a:endParaRPr lang="en-US" sz="1400" dirty="0"/>
          </a:p>
        </p:txBody>
      </p:sp>
      <p:sp>
        <p:nvSpPr>
          <p:cNvPr id="16" name="Text 14"/>
          <p:cNvSpPr/>
          <p:nvPr/>
        </p:nvSpPr>
        <p:spPr>
          <a:xfrm>
            <a:off x="4389120" y="2514600"/>
            <a:ext cx="3383280" cy="274320"/>
          </a:xfrm>
          <a:prstGeom prst="rect">
            <a:avLst/>
          </a:prstGeom>
          <a:noFill/>
          <a:ln/>
        </p:spPr>
        <p:txBody>
          <a:bodyPr wrap="square" lIns="0" tIns="0" rIns="0" bIns="0" rtlCol="0" anchor="ctr"/>
          <a:lstStyle/>
          <a:p>
            <a:pPr marL="0" indent="0">
              <a:buNone/>
            </a:pPr>
            <a:r>
              <a:rPr lang="en-US" sz="1400" b="1" i="1" dirty="0">
                <a:solidFill>
                  <a:srgbClr val="0F172A"/>
                </a:solidFill>
                <a:latin typeface="Calibri" pitchFamily="34" charset="0"/>
                <a:ea typeface="Calibri" pitchFamily="34" charset="-122"/>
                <a:cs typeface="Calibri" pitchFamily="34" charset="-120"/>
              </a:rPr>
              <a:t>How much? How many?</a:t>
            </a:r>
            <a:endParaRPr lang="en-US" sz="1400" dirty="0"/>
          </a:p>
        </p:txBody>
      </p:sp>
      <p:sp>
        <p:nvSpPr>
          <p:cNvPr id="17" name="Text 15"/>
          <p:cNvSpPr/>
          <p:nvPr/>
        </p:nvSpPr>
        <p:spPr>
          <a:xfrm>
            <a:off x="4389120" y="2816352"/>
            <a:ext cx="3383280" cy="4572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What will revenue be next month?</a:t>
            </a:r>
            <a:endParaRPr lang="en-US" sz="1100" dirty="0"/>
          </a:p>
        </p:txBody>
      </p:sp>
      <p:sp>
        <p:nvSpPr>
          <p:cNvPr id="18" name="Text 16"/>
          <p:cNvSpPr/>
          <p:nvPr/>
        </p:nvSpPr>
        <p:spPr>
          <a:xfrm>
            <a:off x="4389120" y="3383280"/>
            <a:ext cx="3383280" cy="274320"/>
          </a:xfrm>
          <a:prstGeom prst="rect">
            <a:avLst/>
          </a:prstGeom>
          <a:noFill/>
          <a:ln/>
        </p:spPr>
        <p:txBody>
          <a:bodyPr wrap="square" lIns="0" tIns="0" rIns="0" bIns="0" rtlCol="0" anchor="ctr"/>
          <a:lstStyle/>
          <a:p>
            <a:pPr marL="0" indent="0">
              <a:buNone/>
            </a:pPr>
            <a:r>
              <a:rPr lang="en-US" sz="950" b="1" dirty="0">
                <a:solidFill>
                  <a:srgbClr val="14B8A6"/>
                </a:solidFill>
                <a:latin typeface="Consolas" pitchFamily="34" charset="0"/>
                <a:ea typeface="Consolas" pitchFamily="34" charset="-122"/>
                <a:cs typeface="Consolas" pitchFamily="34" charset="-120"/>
              </a:rPr>
              <a:t>Linear · RF · GBM · Prophet</a:t>
            </a:r>
            <a:endParaRPr lang="en-US" sz="950" dirty="0"/>
          </a:p>
        </p:txBody>
      </p:sp>
      <p:sp>
        <p:nvSpPr>
          <p:cNvPr id="19" name="Shape 17"/>
          <p:cNvSpPr/>
          <p:nvPr/>
        </p:nvSpPr>
        <p:spPr>
          <a:xfrm>
            <a:off x="8046720" y="2011680"/>
            <a:ext cx="3657600" cy="1737360"/>
          </a:xfrm>
          <a:prstGeom prst="rect">
            <a:avLst/>
          </a:prstGeom>
          <a:solidFill>
            <a:srgbClr val="F8FAFC"/>
          </a:solidFill>
          <a:ln/>
          <a:effectLst>
            <a:outerShdw blurRad="76200" dist="25400" dir="8100000" algn="bl" rotWithShape="0">
              <a:srgbClr val="000000">
                <a:alpha val="8000"/>
              </a:srgbClr>
            </a:outerShdw>
          </a:effectLst>
        </p:spPr>
        <p:txBody>
          <a:bodyPr/>
          <a:lstStyle/>
          <a:p>
            <a:endParaRPr lang="en-AE"/>
          </a:p>
        </p:txBody>
      </p:sp>
      <p:sp>
        <p:nvSpPr>
          <p:cNvPr id="20" name="Shape 18"/>
          <p:cNvSpPr/>
          <p:nvPr/>
        </p:nvSpPr>
        <p:spPr>
          <a:xfrm>
            <a:off x="8046720" y="2011680"/>
            <a:ext cx="3657600" cy="411480"/>
          </a:xfrm>
          <a:prstGeom prst="rect">
            <a:avLst/>
          </a:prstGeom>
          <a:solidFill>
            <a:srgbClr val="DB2777"/>
          </a:solidFill>
          <a:ln/>
        </p:spPr>
        <p:txBody>
          <a:bodyPr/>
          <a:lstStyle/>
          <a:p>
            <a:endParaRPr lang="en-AE"/>
          </a:p>
        </p:txBody>
      </p:sp>
      <p:sp>
        <p:nvSpPr>
          <p:cNvPr id="21" name="Text 19"/>
          <p:cNvSpPr/>
          <p:nvPr/>
        </p:nvSpPr>
        <p:spPr>
          <a:xfrm>
            <a:off x="8183880" y="2011680"/>
            <a:ext cx="3383280" cy="411480"/>
          </a:xfrm>
          <a:prstGeom prst="rect">
            <a:avLst/>
          </a:prstGeom>
          <a:noFill/>
          <a:ln/>
        </p:spPr>
        <p:txBody>
          <a:bodyPr wrap="square" lIns="0" tIns="0" rIns="0" bIns="0" rtlCol="0" anchor="ctr"/>
          <a:lstStyle/>
          <a:p>
            <a:pPr marL="0" indent="0">
              <a:buNone/>
            </a:pPr>
            <a:r>
              <a:rPr lang="en-US" sz="1400" b="1" kern="0" spc="200" dirty="0">
                <a:solidFill>
                  <a:srgbClr val="FFFFFF"/>
                </a:solidFill>
                <a:latin typeface="Arial Black" pitchFamily="34" charset="0"/>
                <a:ea typeface="Arial Black" pitchFamily="34" charset="-122"/>
                <a:cs typeface="Arial Black" pitchFamily="34" charset="-120"/>
              </a:rPr>
              <a:t>CLUSTERING</a:t>
            </a:r>
            <a:endParaRPr lang="en-US" sz="1400" dirty="0"/>
          </a:p>
        </p:txBody>
      </p:sp>
      <p:sp>
        <p:nvSpPr>
          <p:cNvPr id="22" name="Text 20"/>
          <p:cNvSpPr/>
          <p:nvPr/>
        </p:nvSpPr>
        <p:spPr>
          <a:xfrm>
            <a:off x="8183880" y="2514600"/>
            <a:ext cx="3383280" cy="274320"/>
          </a:xfrm>
          <a:prstGeom prst="rect">
            <a:avLst/>
          </a:prstGeom>
          <a:noFill/>
          <a:ln/>
        </p:spPr>
        <p:txBody>
          <a:bodyPr wrap="square" lIns="0" tIns="0" rIns="0" bIns="0" rtlCol="0" anchor="ctr"/>
          <a:lstStyle/>
          <a:p>
            <a:pPr marL="0" indent="0">
              <a:buNone/>
            </a:pPr>
            <a:r>
              <a:rPr lang="en-US" sz="1400" b="1" i="1" dirty="0">
                <a:solidFill>
                  <a:srgbClr val="0F172A"/>
                </a:solidFill>
                <a:latin typeface="Calibri" pitchFamily="34" charset="0"/>
                <a:ea typeface="Calibri" pitchFamily="34" charset="-122"/>
                <a:cs typeface="Calibri" pitchFamily="34" charset="-120"/>
              </a:rPr>
              <a:t>Who belongs together?</a:t>
            </a:r>
            <a:endParaRPr lang="en-US" sz="1400" dirty="0"/>
          </a:p>
        </p:txBody>
      </p:sp>
      <p:sp>
        <p:nvSpPr>
          <p:cNvPr id="23" name="Text 21"/>
          <p:cNvSpPr/>
          <p:nvPr/>
        </p:nvSpPr>
        <p:spPr>
          <a:xfrm>
            <a:off x="8183880" y="2816352"/>
            <a:ext cx="3383280" cy="4572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Segment 40M customers into 8 personas</a:t>
            </a:r>
            <a:endParaRPr lang="en-US" sz="1100" dirty="0"/>
          </a:p>
        </p:txBody>
      </p:sp>
      <p:sp>
        <p:nvSpPr>
          <p:cNvPr id="24" name="Text 22"/>
          <p:cNvSpPr/>
          <p:nvPr/>
        </p:nvSpPr>
        <p:spPr>
          <a:xfrm>
            <a:off x="8183880" y="3383280"/>
            <a:ext cx="3383280" cy="274320"/>
          </a:xfrm>
          <a:prstGeom prst="rect">
            <a:avLst/>
          </a:prstGeom>
          <a:noFill/>
          <a:ln/>
        </p:spPr>
        <p:txBody>
          <a:bodyPr wrap="square" lIns="0" tIns="0" rIns="0" bIns="0" rtlCol="0" anchor="ctr"/>
          <a:lstStyle/>
          <a:p>
            <a:pPr marL="0" indent="0">
              <a:buNone/>
            </a:pPr>
            <a:r>
              <a:rPr lang="en-US" sz="950" b="1" dirty="0">
                <a:solidFill>
                  <a:srgbClr val="DB2777"/>
                </a:solidFill>
                <a:latin typeface="Consolas" pitchFamily="34" charset="0"/>
                <a:ea typeface="Consolas" pitchFamily="34" charset="-122"/>
                <a:cs typeface="Consolas" pitchFamily="34" charset="-120"/>
              </a:rPr>
              <a:t>K-means · DBSCAN · Hierarchical</a:t>
            </a:r>
            <a:endParaRPr lang="en-US" sz="950" dirty="0"/>
          </a:p>
        </p:txBody>
      </p:sp>
      <p:sp>
        <p:nvSpPr>
          <p:cNvPr id="25" name="Shape 23"/>
          <p:cNvSpPr/>
          <p:nvPr/>
        </p:nvSpPr>
        <p:spPr>
          <a:xfrm>
            <a:off x="457200" y="3886200"/>
            <a:ext cx="3657600" cy="1737360"/>
          </a:xfrm>
          <a:prstGeom prst="rect">
            <a:avLst/>
          </a:prstGeom>
          <a:solidFill>
            <a:srgbClr val="F8FAFC"/>
          </a:solidFill>
          <a:ln/>
          <a:effectLst>
            <a:outerShdw blurRad="76200" dist="25400" dir="8100000" algn="bl" rotWithShape="0">
              <a:srgbClr val="000000">
                <a:alpha val="8000"/>
              </a:srgbClr>
            </a:outerShdw>
          </a:effectLst>
        </p:spPr>
        <p:txBody>
          <a:bodyPr/>
          <a:lstStyle/>
          <a:p>
            <a:endParaRPr lang="en-AE"/>
          </a:p>
        </p:txBody>
      </p:sp>
      <p:sp>
        <p:nvSpPr>
          <p:cNvPr id="26" name="Shape 24"/>
          <p:cNvSpPr/>
          <p:nvPr/>
        </p:nvSpPr>
        <p:spPr>
          <a:xfrm>
            <a:off x="457200" y="3886200"/>
            <a:ext cx="3657600" cy="411480"/>
          </a:xfrm>
          <a:prstGeom prst="rect">
            <a:avLst/>
          </a:prstGeom>
          <a:solidFill>
            <a:srgbClr val="FF6B35"/>
          </a:solidFill>
          <a:ln/>
        </p:spPr>
        <p:txBody>
          <a:bodyPr/>
          <a:lstStyle/>
          <a:p>
            <a:endParaRPr lang="en-AE"/>
          </a:p>
        </p:txBody>
      </p:sp>
      <p:sp>
        <p:nvSpPr>
          <p:cNvPr id="27" name="Text 25"/>
          <p:cNvSpPr/>
          <p:nvPr/>
        </p:nvSpPr>
        <p:spPr>
          <a:xfrm>
            <a:off x="594360" y="3886200"/>
            <a:ext cx="3383280" cy="411480"/>
          </a:xfrm>
          <a:prstGeom prst="rect">
            <a:avLst/>
          </a:prstGeom>
          <a:noFill/>
          <a:ln/>
        </p:spPr>
        <p:txBody>
          <a:bodyPr wrap="square" lIns="0" tIns="0" rIns="0" bIns="0" rtlCol="0" anchor="ctr"/>
          <a:lstStyle/>
          <a:p>
            <a:pPr marL="0" indent="0">
              <a:buNone/>
            </a:pPr>
            <a:r>
              <a:rPr lang="en-US" sz="1400" b="1" kern="0" spc="200" dirty="0">
                <a:solidFill>
                  <a:srgbClr val="FFFFFF"/>
                </a:solidFill>
                <a:latin typeface="Arial Black" pitchFamily="34" charset="0"/>
                <a:ea typeface="Arial Black" pitchFamily="34" charset="-122"/>
                <a:cs typeface="Arial Black" pitchFamily="34" charset="-120"/>
              </a:rPr>
              <a:t>ASSOCIATION</a:t>
            </a:r>
            <a:endParaRPr lang="en-US" sz="1400" dirty="0"/>
          </a:p>
        </p:txBody>
      </p:sp>
      <p:sp>
        <p:nvSpPr>
          <p:cNvPr id="28" name="Text 26"/>
          <p:cNvSpPr/>
          <p:nvPr/>
        </p:nvSpPr>
        <p:spPr>
          <a:xfrm>
            <a:off x="594360" y="4389120"/>
            <a:ext cx="3383280" cy="274320"/>
          </a:xfrm>
          <a:prstGeom prst="rect">
            <a:avLst/>
          </a:prstGeom>
          <a:noFill/>
          <a:ln/>
        </p:spPr>
        <p:txBody>
          <a:bodyPr wrap="square" lIns="0" tIns="0" rIns="0" bIns="0" rtlCol="0" anchor="ctr"/>
          <a:lstStyle/>
          <a:p>
            <a:pPr marL="0" indent="0">
              <a:buNone/>
            </a:pPr>
            <a:r>
              <a:rPr lang="en-US" sz="1400" b="1" i="1" dirty="0">
                <a:solidFill>
                  <a:srgbClr val="0F172A"/>
                </a:solidFill>
                <a:latin typeface="Calibri" pitchFamily="34" charset="0"/>
                <a:ea typeface="Calibri" pitchFamily="34" charset="-122"/>
                <a:cs typeface="Calibri" pitchFamily="34" charset="-120"/>
              </a:rPr>
              <a:t>What goes with what?</a:t>
            </a:r>
            <a:endParaRPr lang="en-US" sz="1400" dirty="0"/>
          </a:p>
        </p:txBody>
      </p:sp>
      <p:sp>
        <p:nvSpPr>
          <p:cNvPr id="29" name="Text 27"/>
          <p:cNvSpPr/>
          <p:nvPr/>
        </p:nvSpPr>
        <p:spPr>
          <a:xfrm>
            <a:off x="594360" y="4690872"/>
            <a:ext cx="3383280" cy="4572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Beer + diapers. Bread + butter.</a:t>
            </a:r>
            <a:endParaRPr lang="en-US" sz="1100" dirty="0"/>
          </a:p>
        </p:txBody>
      </p:sp>
      <p:sp>
        <p:nvSpPr>
          <p:cNvPr id="30" name="Text 28"/>
          <p:cNvSpPr/>
          <p:nvPr/>
        </p:nvSpPr>
        <p:spPr>
          <a:xfrm>
            <a:off x="594360" y="5257800"/>
            <a:ext cx="3383280" cy="274320"/>
          </a:xfrm>
          <a:prstGeom prst="rect">
            <a:avLst/>
          </a:prstGeom>
          <a:noFill/>
          <a:ln/>
        </p:spPr>
        <p:txBody>
          <a:bodyPr wrap="square" lIns="0" tIns="0" rIns="0" bIns="0" rtlCol="0" anchor="ctr"/>
          <a:lstStyle/>
          <a:p>
            <a:pPr marL="0" indent="0">
              <a:buNone/>
            </a:pPr>
            <a:r>
              <a:rPr lang="en-US" sz="950" b="1" dirty="0">
                <a:solidFill>
                  <a:srgbClr val="FF6B35"/>
                </a:solidFill>
                <a:latin typeface="Consolas" pitchFamily="34" charset="0"/>
                <a:ea typeface="Consolas" pitchFamily="34" charset="-122"/>
                <a:cs typeface="Consolas" pitchFamily="34" charset="-120"/>
              </a:rPr>
              <a:t>Apriori · FP-Growth</a:t>
            </a:r>
            <a:endParaRPr lang="en-US" sz="950" dirty="0"/>
          </a:p>
        </p:txBody>
      </p:sp>
      <p:sp>
        <p:nvSpPr>
          <p:cNvPr id="31" name="Shape 29"/>
          <p:cNvSpPr/>
          <p:nvPr/>
        </p:nvSpPr>
        <p:spPr>
          <a:xfrm>
            <a:off x="4251960" y="3886200"/>
            <a:ext cx="3657600" cy="1737360"/>
          </a:xfrm>
          <a:prstGeom prst="rect">
            <a:avLst/>
          </a:prstGeom>
          <a:solidFill>
            <a:srgbClr val="F8FAFC"/>
          </a:solidFill>
          <a:ln/>
          <a:effectLst>
            <a:outerShdw blurRad="76200" dist="25400" dir="8100000" algn="bl" rotWithShape="0">
              <a:srgbClr val="000000">
                <a:alpha val="8000"/>
              </a:srgbClr>
            </a:outerShdw>
          </a:effectLst>
        </p:spPr>
        <p:txBody>
          <a:bodyPr/>
          <a:lstStyle/>
          <a:p>
            <a:endParaRPr lang="en-AE"/>
          </a:p>
        </p:txBody>
      </p:sp>
      <p:sp>
        <p:nvSpPr>
          <p:cNvPr id="32" name="Shape 30"/>
          <p:cNvSpPr/>
          <p:nvPr/>
        </p:nvSpPr>
        <p:spPr>
          <a:xfrm>
            <a:off x="4251960" y="3886200"/>
            <a:ext cx="3657600" cy="411480"/>
          </a:xfrm>
          <a:prstGeom prst="rect">
            <a:avLst/>
          </a:prstGeom>
          <a:solidFill>
            <a:srgbClr val="EF4444"/>
          </a:solidFill>
          <a:ln/>
        </p:spPr>
        <p:txBody>
          <a:bodyPr/>
          <a:lstStyle/>
          <a:p>
            <a:endParaRPr lang="en-AE"/>
          </a:p>
        </p:txBody>
      </p:sp>
      <p:sp>
        <p:nvSpPr>
          <p:cNvPr id="33" name="Text 31"/>
          <p:cNvSpPr/>
          <p:nvPr/>
        </p:nvSpPr>
        <p:spPr>
          <a:xfrm>
            <a:off x="4389120" y="3886200"/>
            <a:ext cx="3383280" cy="411480"/>
          </a:xfrm>
          <a:prstGeom prst="rect">
            <a:avLst/>
          </a:prstGeom>
          <a:noFill/>
          <a:ln/>
        </p:spPr>
        <p:txBody>
          <a:bodyPr wrap="square" lIns="0" tIns="0" rIns="0" bIns="0" rtlCol="0" anchor="ctr"/>
          <a:lstStyle/>
          <a:p>
            <a:pPr marL="0" indent="0">
              <a:buNone/>
            </a:pPr>
            <a:r>
              <a:rPr lang="en-US" sz="1400" b="1" kern="0" spc="200" dirty="0">
                <a:solidFill>
                  <a:srgbClr val="FFFFFF"/>
                </a:solidFill>
                <a:latin typeface="Arial Black" pitchFamily="34" charset="0"/>
                <a:ea typeface="Arial Black" pitchFamily="34" charset="-122"/>
                <a:cs typeface="Arial Black" pitchFamily="34" charset="-120"/>
              </a:rPr>
              <a:t>ANOMALY</a:t>
            </a:r>
            <a:endParaRPr lang="en-US" sz="1400" dirty="0"/>
          </a:p>
        </p:txBody>
      </p:sp>
      <p:sp>
        <p:nvSpPr>
          <p:cNvPr id="34" name="Text 32"/>
          <p:cNvSpPr/>
          <p:nvPr/>
        </p:nvSpPr>
        <p:spPr>
          <a:xfrm>
            <a:off x="4389120" y="4389120"/>
            <a:ext cx="3383280" cy="274320"/>
          </a:xfrm>
          <a:prstGeom prst="rect">
            <a:avLst/>
          </a:prstGeom>
          <a:noFill/>
          <a:ln/>
        </p:spPr>
        <p:txBody>
          <a:bodyPr wrap="square" lIns="0" tIns="0" rIns="0" bIns="0" rtlCol="0" anchor="ctr"/>
          <a:lstStyle/>
          <a:p>
            <a:pPr marL="0" indent="0">
              <a:buNone/>
            </a:pPr>
            <a:r>
              <a:rPr lang="en-US" sz="1400" b="1" i="1" dirty="0">
                <a:solidFill>
                  <a:srgbClr val="0F172A"/>
                </a:solidFill>
                <a:latin typeface="Calibri" pitchFamily="34" charset="0"/>
                <a:ea typeface="Calibri" pitchFamily="34" charset="-122"/>
                <a:cs typeface="Calibri" pitchFamily="34" charset="-120"/>
              </a:rPr>
              <a:t>What's weird here?</a:t>
            </a:r>
            <a:endParaRPr lang="en-US" sz="1400" dirty="0"/>
          </a:p>
        </p:txBody>
      </p:sp>
      <p:sp>
        <p:nvSpPr>
          <p:cNvPr id="35" name="Text 33"/>
          <p:cNvSpPr/>
          <p:nvPr/>
        </p:nvSpPr>
        <p:spPr>
          <a:xfrm>
            <a:off x="4389120" y="4690872"/>
            <a:ext cx="3383280" cy="4572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Fraud detection. Server outages.</a:t>
            </a:r>
            <a:endParaRPr lang="en-US" sz="1100" dirty="0"/>
          </a:p>
        </p:txBody>
      </p:sp>
      <p:sp>
        <p:nvSpPr>
          <p:cNvPr id="36" name="Text 34"/>
          <p:cNvSpPr/>
          <p:nvPr/>
        </p:nvSpPr>
        <p:spPr>
          <a:xfrm>
            <a:off x="4389120" y="5257800"/>
            <a:ext cx="3383280" cy="274320"/>
          </a:xfrm>
          <a:prstGeom prst="rect">
            <a:avLst/>
          </a:prstGeom>
          <a:noFill/>
          <a:ln/>
        </p:spPr>
        <p:txBody>
          <a:bodyPr wrap="square" lIns="0" tIns="0" rIns="0" bIns="0" rtlCol="0" anchor="ctr"/>
          <a:lstStyle/>
          <a:p>
            <a:pPr marL="0" indent="0">
              <a:buNone/>
            </a:pPr>
            <a:r>
              <a:rPr lang="en-US" sz="950" b="1" dirty="0">
                <a:solidFill>
                  <a:srgbClr val="EF4444"/>
                </a:solidFill>
                <a:latin typeface="Consolas" pitchFamily="34" charset="0"/>
                <a:ea typeface="Consolas" pitchFamily="34" charset="-122"/>
                <a:cs typeface="Consolas" pitchFamily="34" charset="-120"/>
              </a:rPr>
              <a:t>Isolation Forest · Autoencoder</a:t>
            </a:r>
            <a:endParaRPr lang="en-US" sz="950" dirty="0"/>
          </a:p>
        </p:txBody>
      </p:sp>
      <p:sp>
        <p:nvSpPr>
          <p:cNvPr id="37" name="Shape 35"/>
          <p:cNvSpPr/>
          <p:nvPr/>
        </p:nvSpPr>
        <p:spPr>
          <a:xfrm>
            <a:off x="8046720" y="3886200"/>
            <a:ext cx="3657600" cy="1737360"/>
          </a:xfrm>
          <a:prstGeom prst="rect">
            <a:avLst/>
          </a:prstGeom>
          <a:solidFill>
            <a:srgbClr val="0B1437"/>
          </a:solidFill>
          <a:ln/>
        </p:spPr>
        <p:txBody>
          <a:bodyPr/>
          <a:lstStyle/>
          <a:p>
            <a:endParaRPr lang="en-AE"/>
          </a:p>
        </p:txBody>
      </p:sp>
      <p:sp>
        <p:nvSpPr>
          <p:cNvPr id="38" name="Text 36"/>
          <p:cNvSpPr/>
          <p:nvPr/>
        </p:nvSpPr>
        <p:spPr>
          <a:xfrm>
            <a:off x="8183880" y="3977640"/>
            <a:ext cx="3383280" cy="274320"/>
          </a:xfrm>
          <a:prstGeom prst="rect">
            <a:avLst/>
          </a:prstGeom>
          <a:noFill/>
          <a:ln/>
        </p:spPr>
        <p:txBody>
          <a:bodyPr wrap="square" lIns="0" tIns="0" rIns="0" bIns="0" rtlCol="0" anchor="ctr"/>
          <a:lstStyle/>
          <a:p>
            <a:pPr marL="0" indent="0">
              <a:buNone/>
            </a:pPr>
            <a:r>
              <a:rPr lang="en-US" sz="1000" b="1" kern="0" spc="200" dirty="0">
                <a:solidFill>
                  <a:srgbClr val="F59E0B"/>
                </a:solidFill>
                <a:latin typeface="Calibri" pitchFamily="34" charset="0"/>
                <a:ea typeface="Calibri" pitchFamily="34" charset="-122"/>
                <a:cs typeface="Calibri" pitchFamily="34" charset="-120"/>
              </a:rPr>
              <a:t>ORIGIN STORY  ·  BEER + DIAPERS</a:t>
            </a:r>
            <a:endParaRPr lang="en-US" sz="1000" dirty="0"/>
          </a:p>
        </p:txBody>
      </p:sp>
      <p:sp>
        <p:nvSpPr>
          <p:cNvPr id="39" name="Text 37"/>
          <p:cNvSpPr/>
          <p:nvPr/>
        </p:nvSpPr>
        <p:spPr>
          <a:xfrm>
            <a:off x="8183880" y="4297680"/>
            <a:ext cx="3383280" cy="1234440"/>
          </a:xfrm>
          <a:prstGeom prst="rect">
            <a:avLst/>
          </a:prstGeom>
          <a:noFill/>
          <a:ln/>
        </p:spPr>
        <p:txBody>
          <a:bodyPr wrap="square" lIns="0" tIns="0" rIns="0" bIns="0" rtlCol="0" anchor="ctr"/>
          <a:lstStyle/>
          <a:p>
            <a:pPr marL="0" indent="0">
              <a:buNone/>
            </a:pPr>
            <a:r>
              <a:rPr lang="en-US" sz="1050" i="1" dirty="0">
                <a:solidFill>
                  <a:srgbClr val="FFFFFF"/>
                </a:solidFill>
                <a:latin typeface="Calibri" pitchFamily="34" charset="0"/>
                <a:ea typeface="Calibri" pitchFamily="34" charset="-122"/>
                <a:cs typeface="Calibri" pitchFamily="34" charset="-120"/>
              </a:rPr>
              <a:t>1990s: someone ran association rules on Walmart receipts. Men who bought diapers also bought beer. That's Market Basket Analysis. That's also how Netflix recommends your next show.</a:t>
            </a:r>
            <a:endParaRPr lang="en-US" sz="1050" dirty="0"/>
          </a:p>
        </p:txBody>
      </p:sp>
      <p:sp>
        <p:nvSpPr>
          <p:cNvPr id="40" name="Text 38"/>
          <p:cNvSpPr/>
          <p:nvPr/>
        </p:nvSpPr>
        <p:spPr>
          <a:xfrm>
            <a:off x="10332720" y="6510528"/>
            <a:ext cx="173736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21 / 32  ·  DATA &amp; AI</a:t>
            </a:r>
            <a:endParaRPr lang="en-US" sz="900" dirty="0"/>
          </a:p>
        </p:txBody>
      </p:sp>
      <p:sp>
        <p:nvSpPr>
          <p:cNvPr id="41" name="Text 39"/>
          <p:cNvSpPr/>
          <p:nvPr/>
        </p:nvSpPr>
        <p:spPr>
          <a:xfrm>
            <a:off x="457200" y="6510528"/>
            <a:ext cx="5486400" cy="256032"/>
          </a:xfrm>
          <a:prstGeom prst="rect">
            <a:avLst/>
          </a:prstGeom>
          <a:noFill/>
          <a:ln/>
        </p:spPr>
        <p:txBody>
          <a:bodyPr wrap="square" lIns="0" tIns="0" rIns="0" bIns="0" rtlCol="0" anchor="ctr"/>
          <a:lstStyle/>
          <a:p>
            <a:pPr marL="0" indent="0">
              <a:buNone/>
            </a:pPr>
            <a:r>
              <a:rPr lang="en-US" sz="900" b="1" kern="0" spc="200" dirty="0">
                <a:solidFill>
                  <a:srgbClr val="94A3B8"/>
                </a:solidFill>
                <a:latin typeface="Calibri" pitchFamily="34" charset="0"/>
                <a:ea typeface="Calibri" pitchFamily="34" charset="-122"/>
                <a:cs typeface="Calibri" pitchFamily="34" charset="-120"/>
              </a:rPr>
              <a:t>DATA MINING → AI</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D97706"/>
          </a:solidFill>
          <a:ln/>
        </p:spPr>
        <p:txBody>
          <a:bodyPr/>
          <a:lstStyle/>
          <a:p>
            <a:endParaRPr lang="en-AE"/>
          </a:p>
        </p:txBody>
      </p:sp>
      <p:sp>
        <p:nvSpPr>
          <p:cNvPr id="3" name="Shape 1"/>
          <p:cNvSpPr/>
          <p:nvPr/>
        </p:nvSpPr>
        <p:spPr>
          <a:xfrm>
            <a:off x="621792" y="457200"/>
            <a:ext cx="54864" cy="128016"/>
          </a:xfrm>
          <a:prstGeom prst="rect">
            <a:avLst/>
          </a:prstGeom>
          <a:solidFill>
            <a:srgbClr val="0B1437"/>
          </a:solidFill>
          <a:ln/>
        </p:spPr>
        <p:txBody>
          <a:bodyPr/>
          <a:lstStyle/>
          <a:p>
            <a:endParaRPr lang="en-AE"/>
          </a:p>
        </p:txBody>
      </p:sp>
      <p:sp>
        <p:nvSpPr>
          <p:cNvPr id="4" name="Text 2"/>
          <p:cNvSpPr/>
          <p:nvPr/>
        </p:nvSpPr>
        <p:spPr>
          <a:xfrm>
            <a:off x="457200" y="685800"/>
            <a:ext cx="11247120" cy="274320"/>
          </a:xfrm>
          <a:prstGeom prst="rect">
            <a:avLst/>
          </a:prstGeom>
          <a:noFill/>
          <a:ln/>
        </p:spPr>
        <p:txBody>
          <a:bodyPr wrap="square" lIns="0" tIns="0" rIns="0" bIns="0" rtlCol="0" anchor="ctr"/>
          <a:lstStyle/>
          <a:p>
            <a:pPr marL="0" indent="0">
              <a:buNone/>
            </a:pPr>
            <a:r>
              <a:rPr lang="en-US" sz="1100" b="1" kern="0" spc="400" dirty="0">
                <a:solidFill>
                  <a:srgbClr val="D97706"/>
                </a:solidFill>
                <a:latin typeface="Calibri" pitchFamily="34" charset="0"/>
                <a:ea typeface="Calibri" pitchFamily="34" charset="-122"/>
                <a:cs typeface="Calibri" pitchFamily="34" charset="-120"/>
              </a:rPr>
              <a:t>30 YEARS, ONE FIELD</a:t>
            </a:r>
            <a:endParaRPr lang="en-US" sz="1100" dirty="0"/>
          </a:p>
        </p:txBody>
      </p:sp>
      <p:sp>
        <p:nvSpPr>
          <p:cNvPr id="5" name="Text 3"/>
          <p:cNvSpPr/>
          <p:nvPr/>
        </p:nvSpPr>
        <p:spPr>
          <a:xfrm>
            <a:off x="457200" y="932688"/>
            <a:ext cx="1124712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Data Mining → ML → Deep Learning → GenAI → Agentic AI.</a:t>
            </a:r>
            <a:endParaRPr lang="en-US" sz="3000" dirty="0"/>
          </a:p>
        </p:txBody>
      </p:sp>
      <p:sp>
        <p:nvSpPr>
          <p:cNvPr id="6" name="Text 4"/>
          <p:cNvSpPr/>
          <p:nvPr/>
        </p:nvSpPr>
        <p:spPr>
          <a:xfrm>
            <a:off x="457200" y="1572768"/>
            <a:ext cx="11247120" cy="45720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If you understand mining, ML makes sense. If ML makes sense, GenAI isn't magic.</a:t>
            </a:r>
            <a:endParaRPr lang="en-US" sz="1300" dirty="0"/>
          </a:p>
        </p:txBody>
      </p:sp>
      <p:pic>
        <p:nvPicPr>
          <p:cNvPr id="7" name="Image 0" descr="images/evolutionAI.png"/>
          <p:cNvPicPr>
            <a:picLocks noChangeAspect="1"/>
          </p:cNvPicPr>
          <p:nvPr/>
        </p:nvPicPr>
        <p:blipFill>
          <a:blip r:embed="rId3"/>
          <a:srcRect/>
          <a:stretch/>
        </p:blipFill>
        <p:spPr>
          <a:xfrm>
            <a:off x="274320" y="2103120"/>
            <a:ext cx="11612880" cy="3200400"/>
          </a:xfrm>
          <a:prstGeom prst="rect">
            <a:avLst/>
          </a:prstGeom>
        </p:spPr>
      </p:pic>
      <p:sp>
        <p:nvSpPr>
          <p:cNvPr id="8" name="Shape 5"/>
          <p:cNvSpPr/>
          <p:nvPr/>
        </p:nvSpPr>
        <p:spPr>
          <a:xfrm>
            <a:off x="457200" y="5394960"/>
            <a:ext cx="11247120" cy="1051560"/>
          </a:xfrm>
          <a:prstGeom prst="rect">
            <a:avLst/>
          </a:prstGeom>
          <a:solidFill>
            <a:srgbClr val="0B1437"/>
          </a:solidFill>
          <a:ln/>
        </p:spPr>
        <p:txBody>
          <a:bodyPr/>
          <a:lstStyle/>
          <a:p>
            <a:endParaRPr lang="en-AE"/>
          </a:p>
        </p:txBody>
      </p:sp>
      <p:sp>
        <p:nvSpPr>
          <p:cNvPr id="9" name="Shape 6"/>
          <p:cNvSpPr/>
          <p:nvPr/>
        </p:nvSpPr>
        <p:spPr>
          <a:xfrm>
            <a:off x="457200" y="5394960"/>
            <a:ext cx="91440" cy="1051560"/>
          </a:xfrm>
          <a:prstGeom prst="rect">
            <a:avLst/>
          </a:prstGeom>
          <a:solidFill>
            <a:srgbClr val="FF6B35"/>
          </a:solidFill>
          <a:ln/>
        </p:spPr>
        <p:txBody>
          <a:bodyPr/>
          <a:lstStyle/>
          <a:p>
            <a:endParaRPr lang="en-AE"/>
          </a:p>
        </p:txBody>
      </p:sp>
      <p:sp>
        <p:nvSpPr>
          <p:cNvPr id="10" name="Text 7"/>
          <p:cNvSpPr/>
          <p:nvPr/>
        </p:nvSpPr>
        <p:spPr>
          <a:xfrm>
            <a:off x="731520" y="5468112"/>
            <a:ext cx="10972800" cy="914400"/>
          </a:xfrm>
          <a:prstGeom prst="rect">
            <a:avLst/>
          </a:prstGeom>
          <a:noFill/>
          <a:ln/>
        </p:spPr>
        <p:txBody>
          <a:bodyPr wrap="square" lIns="0" tIns="0" rIns="0" bIns="0" rtlCol="0" anchor="t"/>
          <a:lstStyle/>
          <a:p>
            <a:pPr marL="0" indent="0">
              <a:buNone/>
            </a:pPr>
            <a:r>
              <a:rPr lang="en-US" sz="1300" b="1" kern="0" spc="200" dirty="0">
                <a:solidFill>
                  <a:srgbClr val="FF6B35"/>
                </a:solidFill>
                <a:latin typeface="Calibri" pitchFamily="34" charset="0"/>
                <a:ea typeface="Calibri" pitchFamily="34" charset="-122"/>
                <a:cs typeface="Calibri" pitchFamily="34" charset="-120"/>
              </a:rPr>
              <a:t>THE PLOT TWIST</a:t>
            </a:r>
            <a:endParaRPr lang="en-US" sz="1300" dirty="0"/>
          </a:p>
          <a:p>
            <a:pPr marL="0" indent="0">
              <a:buNone/>
            </a:pPr>
            <a:r>
              <a:rPr lang="en-US" sz="1300" b="1" dirty="0">
                <a:solidFill>
                  <a:srgbClr val="FFFFFF"/>
                </a:solidFill>
                <a:latin typeface="Calibri" pitchFamily="34" charset="0"/>
                <a:ea typeface="Calibri" pitchFamily="34" charset="-122"/>
                <a:cs typeface="Calibri" pitchFamily="34" charset="-120"/>
              </a:rPr>
              <a:t>GenAI didn't replace the warehouse it made it matter MORE.</a:t>
            </a:r>
            <a:endParaRPr lang="en-US" sz="1300" dirty="0"/>
          </a:p>
          <a:p>
            <a:pPr marL="0" indent="0">
              <a:buNone/>
            </a:pPr>
            <a:r>
              <a:rPr lang="en-US" sz="1300" i="1" dirty="0">
                <a:solidFill>
                  <a:srgbClr val="94A3B8"/>
                </a:solidFill>
                <a:latin typeface="Calibri" pitchFamily="34" charset="0"/>
                <a:ea typeface="Calibri" pitchFamily="34" charset="-122"/>
                <a:cs typeface="Calibri" pitchFamily="34" charset="-120"/>
              </a:rPr>
              <a:t>LLMs are useless without your clean, governed Gold layer to ground them. RAG without clean data is a confident liar.</a:t>
            </a:r>
            <a:endParaRPr lang="en-US" sz="1300" dirty="0"/>
          </a:p>
        </p:txBody>
      </p:sp>
      <p:sp>
        <p:nvSpPr>
          <p:cNvPr id="11" name="Text 8"/>
          <p:cNvSpPr/>
          <p:nvPr/>
        </p:nvSpPr>
        <p:spPr>
          <a:xfrm>
            <a:off x="10332720" y="6510528"/>
            <a:ext cx="173736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22 / 32  ·  DATA &amp; AI</a:t>
            </a:r>
            <a:endParaRPr lang="en-US" sz="900" dirty="0"/>
          </a:p>
        </p:txBody>
      </p:sp>
      <p:sp>
        <p:nvSpPr>
          <p:cNvPr id="12" name="Text 9"/>
          <p:cNvSpPr/>
          <p:nvPr/>
        </p:nvSpPr>
        <p:spPr>
          <a:xfrm>
            <a:off x="457200" y="6510528"/>
            <a:ext cx="5486400" cy="256032"/>
          </a:xfrm>
          <a:prstGeom prst="rect">
            <a:avLst/>
          </a:prstGeom>
          <a:noFill/>
          <a:ln/>
        </p:spPr>
        <p:txBody>
          <a:bodyPr wrap="square" lIns="0" tIns="0" rIns="0" bIns="0" rtlCol="0" anchor="ctr"/>
          <a:lstStyle/>
          <a:p>
            <a:pPr marL="0" indent="0">
              <a:buNone/>
            </a:pPr>
            <a:r>
              <a:rPr lang="en-US" sz="900" b="1" kern="0" spc="200" dirty="0">
                <a:solidFill>
                  <a:srgbClr val="94A3B8"/>
                </a:solidFill>
                <a:latin typeface="Calibri" pitchFamily="34" charset="0"/>
                <a:ea typeface="Calibri" pitchFamily="34" charset="-122"/>
                <a:cs typeface="Calibri" pitchFamily="34" charset="-120"/>
              </a:rPr>
              <a:t>DATA MINING → AI</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D97706"/>
          </a:solidFill>
          <a:ln/>
        </p:spPr>
        <p:txBody>
          <a:bodyPr/>
          <a:lstStyle/>
          <a:p>
            <a:endParaRPr lang="en-AE"/>
          </a:p>
        </p:txBody>
      </p:sp>
      <p:sp>
        <p:nvSpPr>
          <p:cNvPr id="3" name="Shape 1"/>
          <p:cNvSpPr/>
          <p:nvPr/>
        </p:nvSpPr>
        <p:spPr>
          <a:xfrm>
            <a:off x="621792" y="457200"/>
            <a:ext cx="54864" cy="128016"/>
          </a:xfrm>
          <a:prstGeom prst="rect">
            <a:avLst/>
          </a:prstGeom>
          <a:solidFill>
            <a:srgbClr val="0B1437"/>
          </a:solidFill>
          <a:ln/>
        </p:spPr>
        <p:txBody>
          <a:bodyPr/>
          <a:lstStyle/>
          <a:p>
            <a:endParaRPr lang="en-AE"/>
          </a:p>
        </p:txBody>
      </p:sp>
      <p:sp>
        <p:nvSpPr>
          <p:cNvPr id="4" name="Text 2"/>
          <p:cNvSpPr/>
          <p:nvPr/>
        </p:nvSpPr>
        <p:spPr>
          <a:xfrm>
            <a:off x="457200" y="685800"/>
            <a:ext cx="11247120" cy="274320"/>
          </a:xfrm>
          <a:prstGeom prst="rect">
            <a:avLst/>
          </a:prstGeom>
          <a:noFill/>
          <a:ln/>
        </p:spPr>
        <p:txBody>
          <a:bodyPr wrap="square" lIns="0" tIns="0" rIns="0" bIns="0" rtlCol="0" anchor="ctr"/>
          <a:lstStyle/>
          <a:p>
            <a:pPr marL="0" indent="0">
              <a:buNone/>
            </a:pPr>
            <a:r>
              <a:rPr lang="en-US" sz="1100" b="1" kern="0" spc="400" dirty="0">
                <a:solidFill>
                  <a:srgbClr val="D97706"/>
                </a:solidFill>
                <a:latin typeface="Calibri" pitchFamily="34" charset="0"/>
                <a:ea typeface="Calibri" pitchFamily="34" charset="-122"/>
                <a:cs typeface="Calibri" pitchFamily="34" charset="-120"/>
              </a:rPr>
              <a:t>MODULE V IN REALITY</a:t>
            </a:r>
            <a:endParaRPr lang="en-US" sz="1100" dirty="0"/>
          </a:p>
        </p:txBody>
      </p:sp>
      <p:sp>
        <p:nvSpPr>
          <p:cNvPr id="5" name="Text 3"/>
          <p:cNvSpPr/>
          <p:nvPr/>
        </p:nvSpPr>
        <p:spPr>
          <a:xfrm>
            <a:off x="457200" y="932688"/>
            <a:ext cx="1124712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Where this ALL actually ships.</a:t>
            </a:r>
            <a:endParaRPr lang="en-US" sz="3000" dirty="0"/>
          </a:p>
        </p:txBody>
      </p:sp>
      <p:sp>
        <p:nvSpPr>
          <p:cNvPr id="6" name="Text 4"/>
          <p:cNvSpPr/>
          <p:nvPr/>
        </p:nvSpPr>
        <p:spPr>
          <a:xfrm>
            <a:off x="457200" y="1572768"/>
            <a:ext cx="11247120" cy="45720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Real industries. Real dollars. Problems being solved right now.</a:t>
            </a:r>
            <a:endParaRPr lang="en-US" sz="1300" dirty="0"/>
          </a:p>
        </p:txBody>
      </p:sp>
      <p:sp>
        <p:nvSpPr>
          <p:cNvPr id="7" name="Shape 5"/>
          <p:cNvSpPr/>
          <p:nvPr/>
        </p:nvSpPr>
        <p:spPr>
          <a:xfrm>
            <a:off x="457200" y="2103120"/>
            <a:ext cx="3657600" cy="1828800"/>
          </a:xfrm>
          <a:prstGeom prst="rect">
            <a:avLst/>
          </a:prstGeom>
          <a:solidFill>
            <a:srgbClr val="F8FAFC"/>
          </a:solidFill>
          <a:ln/>
          <a:effectLst>
            <a:outerShdw blurRad="76200" dist="25400" dir="8100000" algn="bl" rotWithShape="0">
              <a:srgbClr val="000000">
                <a:alpha val="8000"/>
              </a:srgbClr>
            </a:outerShdw>
          </a:effectLst>
        </p:spPr>
        <p:txBody>
          <a:bodyPr/>
          <a:lstStyle/>
          <a:p>
            <a:endParaRPr lang="en-AE"/>
          </a:p>
        </p:txBody>
      </p:sp>
      <p:sp>
        <p:nvSpPr>
          <p:cNvPr id="8" name="Shape 6"/>
          <p:cNvSpPr/>
          <p:nvPr/>
        </p:nvSpPr>
        <p:spPr>
          <a:xfrm>
            <a:off x="457200" y="2103120"/>
            <a:ext cx="91440" cy="1828800"/>
          </a:xfrm>
          <a:prstGeom prst="rect">
            <a:avLst/>
          </a:prstGeom>
          <a:solidFill>
            <a:srgbClr val="FF6B35"/>
          </a:solidFill>
          <a:ln/>
        </p:spPr>
        <p:txBody>
          <a:bodyPr/>
          <a:lstStyle/>
          <a:p>
            <a:endParaRPr lang="en-AE"/>
          </a:p>
        </p:txBody>
      </p:sp>
      <p:sp>
        <p:nvSpPr>
          <p:cNvPr id="9" name="Text 7"/>
          <p:cNvSpPr/>
          <p:nvPr/>
        </p:nvSpPr>
        <p:spPr>
          <a:xfrm>
            <a:off x="685800" y="2240280"/>
            <a:ext cx="3291840" cy="365760"/>
          </a:xfrm>
          <a:prstGeom prst="rect">
            <a:avLst/>
          </a:prstGeom>
          <a:noFill/>
          <a:ln/>
        </p:spPr>
        <p:txBody>
          <a:bodyPr wrap="square" lIns="0" tIns="0" rIns="0" bIns="0" rtlCol="0" anchor="ctr"/>
          <a:lstStyle/>
          <a:p>
            <a:pPr marL="0" indent="0">
              <a:buNone/>
            </a:pPr>
            <a:r>
              <a:rPr lang="en-US" sz="1600" b="1" kern="0" spc="200" dirty="0">
                <a:solidFill>
                  <a:srgbClr val="FF6B35"/>
                </a:solidFill>
                <a:latin typeface="Arial Black" pitchFamily="34" charset="0"/>
                <a:ea typeface="Arial Black" pitchFamily="34" charset="-122"/>
                <a:cs typeface="Arial Black" pitchFamily="34" charset="-120"/>
              </a:rPr>
              <a:t>RETAIL / E-COM</a:t>
            </a:r>
            <a:endParaRPr lang="en-US" sz="1600" dirty="0"/>
          </a:p>
        </p:txBody>
      </p:sp>
      <p:sp>
        <p:nvSpPr>
          <p:cNvPr id="10" name="Text 8"/>
          <p:cNvSpPr/>
          <p:nvPr/>
        </p:nvSpPr>
        <p:spPr>
          <a:xfrm>
            <a:off x="685800" y="2606040"/>
            <a:ext cx="3291840" cy="32004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basket · recs · demand forecasting</a:t>
            </a:r>
            <a:endParaRPr lang="en-US" sz="1100" dirty="0"/>
          </a:p>
        </p:txBody>
      </p:sp>
      <p:sp>
        <p:nvSpPr>
          <p:cNvPr id="11" name="Shape 9"/>
          <p:cNvSpPr/>
          <p:nvPr/>
        </p:nvSpPr>
        <p:spPr>
          <a:xfrm>
            <a:off x="685800" y="3017520"/>
            <a:ext cx="548640" cy="0"/>
          </a:xfrm>
          <a:prstGeom prst="line">
            <a:avLst/>
          </a:prstGeom>
          <a:noFill/>
          <a:ln w="12700">
            <a:solidFill>
              <a:srgbClr val="FF6B35"/>
            </a:solidFill>
            <a:prstDash val="solid"/>
          </a:ln>
        </p:spPr>
        <p:txBody>
          <a:bodyPr/>
          <a:lstStyle/>
          <a:p>
            <a:endParaRPr lang="en-AE"/>
          </a:p>
        </p:txBody>
      </p:sp>
      <p:sp>
        <p:nvSpPr>
          <p:cNvPr id="12" name="Text 10"/>
          <p:cNvSpPr/>
          <p:nvPr/>
        </p:nvSpPr>
        <p:spPr>
          <a:xfrm>
            <a:off x="685800" y="3108960"/>
            <a:ext cx="3291840" cy="7315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Amazon: 35% of revenue from recommendation engine</a:t>
            </a:r>
            <a:endParaRPr lang="en-US" sz="1100" dirty="0"/>
          </a:p>
        </p:txBody>
      </p:sp>
      <p:sp>
        <p:nvSpPr>
          <p:cNvPr id="13" name="Shape 11"/>
          <p:cNvSpPr/>
          <p:nvPr/>
        </p:nvSpPr>
        <p:spPr>
          <a:xfrm>
            <a:off x="4251960" y="2103120"/>
            <a:ext cx="3657600" cy="1828800"/>
          </a:xfrm>
          <a:prstGeom prst="rect">
            <a:avLst/>
          </a:prstGeom>
          <a:solidFill>
            <a:srgbClr val="F8FAFC"/>
          </a:solidFill>
          <a:ln/>
          <a:effectLst>
            <a:outerShdw blurRad="76200" dist="25400" dir="8100000" algn="bl" rotWithShape="0">
              <a:srgbClr val="000000">
                <a:alpha val="8000"/>
              </a:srgbClr>
            </a:outerShdw>
          </a:effectLst>
        </p:spPr>
        <p:txBody>
          <a:bodyPr/>
          <a:lstStyle/>
          <a:p>
            <a:endParaRPr lang="en-AE"/>
          </a:p>
        </p:txBody>
      </p:sp>
      <p:sp>
        <p:nvSpPr>
          <p:cNvPr id="14" name="Shape 12"/>
          <p:cNvSpPr/>
          <p:nvPr/>
        </p:nvSpPr>
        <p:spPr>
          <a:xfrm>
            <a:off x="4251960" y="2103120"/>
            <a:ext cx="91440" cy="1828800"/>
          </a:xfrm>
          <a:prstGeom prst="rect">
            <a:avLst/>
          </a:prstGeom>
          <a:solidFill>
            <a:srgbClr val="0891B2"/>
          </a:solidFill>
          <a:ln/>
        </p:spPr>
        <p:txBody>
          <a:bodyPr/>
          <a:lstStyle/>
          <a:p>
            <a:endParaRPr lang="en-AE"/>
          </a:p>
        </p:txBody>
      </p:sp>
      <p:sp>
        <p:nvSpPr>
          <p:cNvPr id="15" name="Text 13"/>
          <p:cNvSpPr/>
          <p:nvPr/>
        </p:nvSpPr>
        <p:spPr>
          <a:xfrm>
            <a:off x="4480560" y="2240280"/>
            <a:ext cx="3291840" cy="365760"/>
          </a:xfrm>
          <a:prstGeom prst="rect">
            <a:avLst/>
          </a:prstGeom>
          <a:noFill/>
          <a:ln/>
        </p:spPr>
        <p:txBody>
          <a:bodyPr wrap="square" lIns="0" tIns="0" rIns="0" bIns="0" rtlCol="0" anchor="ctr"/>
          <a:lstStyle/>
          <a:p>
            <a:pPr marL="0" indent="0">
              <a:buNone/>
            </a:pPr>
            <a:r>
              <a:rPr lang="en-US" sz="1600" b="1" kern="0" spc="200" dirty="0">
                <a:solidFill>
                  <a:srgbClr val="0891B2"/>
                </a:solidFill>
                <a:latin typeface="Arial Black" pitchFamily="34" charset="0"/>
                <a:ea typeface="Arial Black" pitchFamily="34" charset="-122"/>
                <a:cs typeface="Arial Black" pitchFamily="34" charset="-120"/>
              </a:rPr>
              <a:t>BANKING</a:t>
            </a:r>
            <a:endParaRPr lang="en-US" sz="1600" dirty="0"/>
          </a:p>
        </p:txBody>
      </p:sp>
      <p:sp>
        <p:nvSpPr>
          <p:cNvPr id="16" name="Text 14"/>
          <p:cNvSpPr/>
          <p:nvPr/>
        </p:nvSpPr>
        <p:spPr>
          <a:xfrm>
            <a:off x="4480560" y="2606040"/>
            <a:ext cx="3291840" cy="32004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fraud · credit · AML</a:t>
            </a:r>
            <a:endParaRPr lang="en-US" sz="1100" dirty="0"/>
          </a:p>
        </p:txBody>
      </p:sp>
      <p:sp>
        <p:nvSpPr>
          <p:cNvPr id="17" name="Shape 15"/>
          <p:cNvSpPr/>
          <p:nvPr/>
        </p:nvSpPr>
        <p:spPr>
          <a:xfrm>
            <a:off x="4480560" y="3017520"/>
            <a:ext cx="548640" cy="0"/>
          </a:xfrm>
          <a:prstGeom prst="line">
            <a:avLst/>
          </a:prstGeom>
          <a:noFill/>
          <a:ln w="12700">
            <a:solidFill>
              <a:srgbClr val="0891B2"/>
            </a:solidFill>
            <a:prstDash val="solid"/>
          </a:ln>
        </p:spPr>
        <p:txBody>
          <a:bodyPr/>
          <a:lstStyle/>
          <a:p>
            <a:endParaRPr lang="en-AE"/>
          </a:p>
        </p:txBody>
      </p:sp>
      <p:sp>
        <p:nvSpPr>
          <p:cNvPr id="18" name="Text 16"/>
          <p:cNvSpPr/>
          <p:nvPr/>
        </p:nvSpPr>
        <p:spPr>
          <a:xfrm>
            <a:off x="4480560" y="3108960"/>
            <a:ext cx="3291840" cy="7315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HDFC blocks millions of fraudulent txns/year with ML</a:t>
            </a:r>
            <a:endParaRPr lang="en-US" sz="1100" dirty="0"/>
          </a:p>
        </p:txBody>
      </p:sp>
      <p:sp>
        <p:nvSpPr>
          <p:cNvPr id="19" name="Shape 17"/>
          <p:cNvSpPr/>
          <p:nvPr/>
        </p:nvSpPr>
        <p:spPr>
          <a:xfrm>
            <a:off x="8046720" y="2103120"/>
            <a:ext cx="3657600" cy="1828800"/>
          </a:xfrm>
          <a:prstGeom prst="rect">
            <a:avLst/>
          </a:prstGeom>
          <a:solidFill>
            <a:srgbClr val="F8FAFC"/>
          </a:solidFill>
          <a:ln/>
          <a:effectLst>
            <a:outerShdw blurRad="76200" dist="25400" dir="8100000" algn="bl" rotWithShape="0">
              <a:srgbClr val="000000">
                <a:alpha val="8000"/>
              </a:srgbClr>
            </a:outerShdw>
          </a:effectLst>
        </p:spPr>
        <p:txBody>
          <a:bodyPr/>
          <a:lstStyle/>
          <a:p>
            <a:endParaRPr lang="en-AE"/>
          </a:p>
        </p:txBody>
      </p:sp>
      <p:sp>
        <p:nvSpPr>
          <p:cNvPr id="20" name="Shape 18"/>
          <p:cNvSpPr/>
          <p:nvPr/>
        </p:nvSpPr>
        <p:spPr>
          <a:xfrm>
            <a:off x="8046720" y="2103120"/>
            <a:ext cx="91440" cy="1828800"/>
          </a:xfrm>
          <a:prstGeom prst="rect">
            <a:avLst/>
          </a:prstGeom>
          <a:solidFill>
            <a:srgbClr val="DB2777"/>
          </a:solidFill>
          <a:ln/>
        </p:spPr>
        <p:txBody>
          <a:bodyPr/>
          <a:lstStyle/>
          <a:p>
            <a:endParaRPr lang="en-AE"/>
          </a:p>
        </p:txBody>
      </p:sp>
      <p:sp>
        <p:nvSpPr>
          <p:cNvPr id="21" name="Text 19"/>
          <p:cNvSpPr/>
          <p:nvPr/>
        </p:nvSpPr>
        <p:spPr>
          <a:xfrm>
            <a:off x="8275320" y="2240280"/>
            <a:ext cx="3291840" cy="365760"/>
          </a:xfrm>
          <a:prstGeom prst="rect">
            <a:avLst/>
          </a:prstGeom>
          <a:noFill/>
          <a:ln/>
        </p:spPr>
        <p:txBody>
          <a:bodyPr wrap="square" lIns="0" tIns="0" rIns="0" bIns="0" rtlCol="0" anchor="ctr"/>
          <a:lstStyle/>
          <a:p>
            <a:pPr marL="0" indent="0">
              <a:buNone/>
            </a:pPr>
            <a:r>
              <a:rPr lang="en-US" sz="1600" b="1" kern="0" spc="200" dirty="0">
                <a:solidFill>
                  <a:srgbClr val="DB2777"/>
                </a:solidFill>
                <a:latin typeface="Arial Black" pitchFamily="34" charset="0"/>
                <a:ea typeface="Arial Black" pitchFamily="34" charset="-122"/>
                <a:cs typeface="Arial Black" pitchFamily="34" charset="-120"/>
              </a:rPr>
              <a:t>TELECOM</a:t>
            </a:r>
            <a:endParaRPr lang="en-US" sz="1600" dirty="0"/>
          </a:p>
        </p:txBody>
      </p:sp>
      <p:sp>
        <p:nvSpPr>
          <p:cNvPr id="22" name="Text 20"/>
          <p:cNvSpPr/>
          <p:nvPr/>
        </p:nvSpPr>
        <p:spPr>
          <a:xfrm>
            <a:off x="8275320" y="2606040"/>
            <a:ext cx="3291840" cy="32004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churn · network optimization</a:t>
            </a:r>
            <a:endParaRPr lang="en-US" sz="1100" dirty="0"/>
          </a:p>
        </p:txBody>
      </p:sp>
      <p:sp>
        <p:nvSpPr>
          <p:cNvPr id="23" name="Shape 21"/>
          <p:cNvSpPr/>
          <p:nvPr/>
        </p:nvSpPr>
        <p:spPr>
          <a:xfrm>
            <a:off x="8275320" y="3017520"/>
            <a:ext cx="548640" cy="0"/>
          </a:xfrm>
          <a:prstGeom prst="line">
            <a:avLst/>
          </a:prstGeom>
          <a:noFill/>
          <a:ln w="12700">
            <a:solidFill>
              <a:srgbClr val="DB2777"/>
            </a:solidFill>
            <a:prstDash val="solid"/>
          </a:ln>
        </p:spPr>
        <p:txBody>
          <a:bodyPr/>
          <a:lstStyle/>
          <a:p>
            <a:endParaRPr lang="en-AE"/>
          </a:p>
        </p:txBody>
      </p:sp>
      <p:sp>
        <p:nvSpPr>
          <p:cNvPr id="24" name="Text 22"/>
          <p:cNvSpPr/>
          <p:nvPr/>
        </p:nvSpPr>
        <p:spPr>
          <a:xfrm>
            <a:off x="8275320" y="3108960"/>
            <a:ext cx="3291840" cy="7315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Jio predicts churn 90 days out with ML</a:t>
            </a:r>
            <a:endParaRPr lang="en-US" sz="1100" dirty="0"/>
          </a:p>
        </p:txBody>
      </p:sp>
      <p:sp>
        <p:nvSpPr>
          <p:cNvPr id="25" name="Shape 23"/>
          <p:cNvSpPr/>
          <p:nvPr/>
        </p:nvSpPr>
        <p:spPr>
          <a:xfrm>
            <a:off x="457200" y="4114800"/>
            <a:ext cx="3657600" cy="1828800"/>
          </a:xfrm>
          <a:prstGeom prst="rect">
            <a:avLst/>
          </a:prstGeom>
          <a:solidFill>
            <a:srgbClr val="F8FAFC"/>
          </a:solidFill>
          <a:ln/>
          <a:effectLst>
            <a:outerShdw blurRad="76200" dist="25400" dir="8100000" algn="bl" rotWithShape="0">
              <a:srgbClr val="000000">
                <a:alpha val="8000"/>
              </a:srgbClr>
            </a:outerShdw>
          </a:effectLst>
        </p:spPr>
        <p:txBody>
          <a:bodyPr/>
          <a:lstStyle/>
          <a:p>
            <a:endParaRPr lang="en-AE"/>
          </a:p>
        </p:txBody>
      </p:sp>
      <p:sp>
        <p:nvSpPr>
          <p:cNvPr id="26" name="Shape 24"/>
          <p:cNvSpPr/>
          <p:nvPr/>
        </p:nvSpPr>
        <p:spPr>
          <a:xfrm>
            <a:off x="457200" y="4114800"/>
            <a:ext cx="91440" cy="1828800"/>
          </a:xfrm>
          <a:prstGeom prst="rect">
            <a:avLst/>
          </a:prstGeom>
          <a:solidFill>
            <a:srgbClr val="14B8A6"/>
          </a:solidFill>
          <a:ln/>
        </p:spPr>
        <p:txBody>
          <a:bodyPr/>
          <a:lstStyle/>
          <a:p>
            <a:endParaRPr lang="en-AE"/>
          </a:p>
        </p:txBody>
      </p:sp>
      <p:sp>
        <p:nvSpPr>
          <p:cNvPr id="27" name="Text 25"/>
          <p:cNvSpPr/>
          <p:nvPr/>
        </p:nvSpPr>
        <p:spPr>
          <a:xfrm>
            <a:off x="685800" y="4251960"/>
            <a:ext cx="3291840" cy="365760"/>
          </a:xfrm>
          <a:prstGeom prst="rect">
            <a:avLst/>
          </a:prstGeom>
          <a:noFill/>
          <a:ln/>
        </p:spPr>
        <p:txBody>
          <a:bodyPr wrap="square" lIns="0" tIns="0" rIns="0" bIns="0" rtlCol="0" anchor="ctr"/>
          <a:lstStyle/>
          <a:p>
            <a:pPr marL="0" indent="0">
              <a:buNone/>
            </a:pPr>
            <a:r>
              <a:rPr lang="en-US" sz="1600" b="1" kern="0" spc="200" dirty="0">
                <a:solidFill>
                  <a:srgbClr val="14B8A6"/>
                </a:solidFill>
                <a:latin typeface="Arial Black" pitchFamily="34" charset="0"/>
                <a:ea typeface="Arial Black" pitchFamily="34" charset="-122"/>
                <a:cs typeface="Arial Black" pitchFamily="34" charset="-120"/>
              </a:rPr>
              <a:t>HEALTHCARE</a:t>
            </a:r>
            <a:endParaRPr lang="en-US" sz="1600" dirty="0"/>
          </a:p>
        </p:txBody>
      </p:sp>
      <p:sp>
        <p:nvSpPr>
          <p:cNvPr id="28" name="Text 26"/>
          <p:cNvSpPr/>
          <p:nvPr/>
        </p:nvSpPr>
        <p:spPr>
          <a:xfrm>
            <a:off x="685800" y="4617720"/>
            <a:ext cx="3291840" cy="32004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diagnosis · drug discovery · imaging</a:t>
            </a:r>
            <a:endParaRPr lang="en-US" sz="1100" dirty="0"/>
          </a:p>
        </p:txBody>
      </p:sp>
      <p:sp>
        <p:nvSpPr>
          <p:cNvPr id="29" name="Shape 27"/>
          <p:cNvSpPr/>
          <p:nvPr/>
        </p:nvSpPr>
        <p:spPr>
          <a:xfrm>
            <a:off x="685800" y="5029200"/>
            <a:ext cx="548640" cy="0"/>
          </a:xfrm>
          <a:prstGeom prst="line">
            <a:avLst/>
          </a:prstGeom>
          <a:noFill/>
          <a:ln w="12700">
            <a:solidFill>
              <a:srgbClr val="14B8A6"/>
            </a:solidFill>
            <a:prstDash val="solid"/>
          </a:ln>
        </p:spPr>
        <p:txBody>
          <a:bodyPr/>
          <a:lstStyle/>
          <a:p>
            <a:endParaRPr lang="en-AE"/>
          </a:p>
        </p:txBody>
      </p:sp>
      <p:sp>
        <p:nvSpPr>
          <p:cNvPr id="30" name="Text 28"/>
          <p:cNvSpPr/>
          <p:nvPr/>
        </p:nvSpPr>
        <p:spPr>
          <a:xfrm>
            <a:off x="685800" y="5120640"/>
            <a:ext cx="3291840" cy="7315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AI reads chest X-rays faster than radiologists</a:t>
            </a:r>
            <a:endParaRPr lang="en-US" sz="1100" dirty="0"/>
          </a:p>
        </p:txBody>
      </p:sp>
      <p:sp>
        <p:nvSpPr>
          <p:cNvPr id="31" name="Shape 29"/>
          <p:cNvSpPr/>
          <p:nvPr/>
        </p:nvSpPr>
        <p:spPr>
          <a:xfrm>
            <a:off x="4251960" y="4114800"/>
            <a:ext cx="3657600" cy="1828800"/>
          </a:xfrm>
          <a:prstGeom prst="rect">
            <a:avLst/>
          </a:prstGeom>
          <a:solidFill>
            <a:srgbClr val="F8FAFC"/>
          </a:solidFill>
          <a:ln/>
          <a:effectLst>
            <a:outerShdw blurRad="76200" dist="25400" dir="8100000" algn="bl" rotWithShape="0">
              <a:srgbClr val="000000">
                <a:alpha val="8000"/>
              </a:srgbClr>
            </a:outerShdw>
          </a:effectLst>
        </p:spPr>
        <p:txBody>
          <a:bodyPr/>
          <a:lstStyle/>
          <a:p>
            <a:endParaRPr lang="en-AE"/>
          </a:p>
        </p:txBody>
      </p:sp>
      <p:sp>
        <p:nvSpPr>
          <p:cNvPr id="32" name="Shape 30"/>
          <p:cNvSpPr/>
          <p:nvPr/>
        </p:nvSpPr>
        <p:spPr>
          <a:xfrm>
            <a:off x="4251960" y="4114800"/>
            <a:ext cx="91440" cy="1828800"/>
          </a:xfrm>
          <a:prstGeom prst="rect">
            <a:avLst/>
          </a:prstGeom>
          <a:solidFill>
            <a:srgbClr val="F59E0B"/>
          </a:solidFill>
          <a:ln/>
        </p:spPr>
        <p:txBody>
          <a:bodyPr/>
          <a:lstStyle/>
          <a:p>
            <a:endParaRPr lang="en-AE"/>
          </a:p>
        </p:txBody>
      </p:sp>
      <p:sp>
        <p:nvSpPr>
          <p:cNvPr id="33" name="Text 31"/>
          <p:cNvSpPr/>
          <p:nvPr/>
        </p:nvSpPr>
        <p:spPr>
          <a:xfrm>
            <a:off x="4480560" y="4251960"/>
            <a:ext cx="3291840" cy="365760"/>
          </a:xfrm>
          <a:prstGeom prst="rect">
            <a:avLst/>
          </a:prstGeom>
          <a:noFill/>
          <a:ln/>
        </p:spPr>
        <p:txBody>
          <a:bodyPr wrap="square" lIns="0" tIns="0" rIns="0" bIns="0" rtlCol="0" anchor="ctr"/>
          <a:lstStyle/>
          <a:p>
            <a:pPr marL="0" indent="0">
              <a:buNone/>
            </a:pPr>
            <a:r>
              <a:rPr lang="en-US" sz="1600" b="1" kern="0" spc="200" dirty="0">
                <a:solidFill>
                  <a:srgbClr val="F59E0B"/>
                </a:solidFill>
                <a:latin typeface="Arial Black" pitchFamily="34" charset="0"/>
                <a:ea typeface="Arial Black" pitchFamily="34" charset="-122"/>
                <a:cs typeface="Arial Black" pitchFamily="34" charset="-120"/>
              </a:rPr>
              <a:t>LOGISTICS</a:t>
            </a:r>
            <a:endParaRPr lang="en-US" sz="1600" dirty="0"/>
          </a:p>
        </p:txBody>
      </p:sp>
      <p:sp>
        <p:nvSpPr>
          <p:cNvPr id="34" name="Text 32"/>
          <p:cNvSpPr/>
          <p:nvPr/>
        </p:nvSpPr>
        <p:spPr>
          <a:xfrm>
            <a:off x="4480560" y="4617720"/>
            <a:ext cx="3291840" cy="32004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routing · demand · warehousing</a:t>
            </a:r>
            <a:endParaRPr lang="en-US" sz="1100" dirty="0"/>
          </a:p>
        </p:txBody>
      </p:sp>
      <p:sp>
        <p:nvSpPr>
          <p:cNvPr id="35" name="Shape 33"/>
          <p:cNvSpPr/>
          <p:nvPr/>
        </p:nvSpPr>
        <p:spPr>
          <a:xfrm>
            <a:off x="4480560" y="5029200"/>
            <a:ext cx="548640" cy="0"/>
          </a:xfrm>
          <a:prstGeom prst="line">
            <a:avLst/>
          </a:prstGeom>
          <a:noFill/>
          <a:ln w="12700">
            <a:solidFill>
              <a:srgbClr val="F59E0B"/>
            </a:solidFill>
            <a:prstDash val="solid"/>
          </a:ln>
        </p:spPr>
        <p:txBody>
          <a:bodyPr/>
          <a:lstStyle/>
          <a:p>
            <a:endParaRPr lang="en-AE"/>
          </a:p>
        </p:txBody>
      </p:sp>
      <p:sp>
        <p:nvSpPr>
          <p:cNvPr id="36" name="Text 34"/>
          <p:cNvSpPr/>
          <p:nvPr/>
        </p:nvSpPr>
        <p:spPr>
          <a:xfrm>
            <a:off x="4480560" y="5120640"/>
            <a:ext cx="3291840" cy="7315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Swiggy/Zomato ETAs are pure ML</a:t>
            </a:r>
            <a:endParaRPr lang="en-US" sz="1100" dirty="0"/>
          </a:p>
        </p:txBody>
      </p:sp>
      <p:sp>
        <p:nvSpPr>
          <p:cNvPr id="37" name="Shape 35"/>
          <p:cNvSpPr/>
          <p:nvPr/>
        </p:nvSpPr>
        <p:spPr>
          <a:xfrm>
            <a:off x="8046720" y="4114800"/>
            <a:ext cx="3657600" cy="1828800"/>
          </a:xfrm>
          <a:prstGeom prst="rect">
            <a:avLst/>
          </a:prstGeom>
          <a:solidFill>
            <a:srgbClr val="F8FAFC"/>
          </a:solidFill>
          <a:ln/>
          <a:effectLst>
            <a:outerShdw blurRad="76200" dist="25400" dir="8100000" algn="bl" rotWithShape="0">
              <a:srgbClr val="000000">
                <a:alpha val="8000"/>
              </a:srgbClr>
            </a:outerShdw>
          </a:effectLst>
        </p:spPr>
        <p:txBody>
          <a:bodyPr/>
          <a:lstStyle/>
          <a:p>
            <a:endParaRPr lang="en-AE"/>
          </a:p>
        </p:txBody>
      </p:sp>
      <p:sp>
        <p:nvSpPr>
          <p:cNvPr id="38" name="Shape 36"/>
          <p:cNvSpPr/>
          <p:nvPr/>
        </p:nvSpPr>
        <p:spPr>
          <a:xfrm>
            <a:off x="8046720" y="4114800"/>
            <a:ext cx="91440" cy="1828800"/>
          </a:xfrm>
          <a:prstGeom prst="rect">
            <a:avLst/>
          </a:prstGeom>
          <a:solidFill>
            <a:srgbClr val="D97706"/>
          </a:solidFill>
          <a:ln/>
        </p:spPr>
        <p:txBody>
          <a:bodyPr/>
          <a:lstStyle/>
          <a:p>
            <a:endParaRPr lang="en-AE"/>
          </a:p>
        </p:txBody>
      </p:sp>
      <p:sp>
        <p:nvSpPr>
          <p:cNvPr id="39" name="Text 37"/>
          <p:cNvSpPr/>
          <p:nvPr/>
        </p:nvSpPr>
        <p:spPr>
          <a:xfrm>
            <a:off x="8275320" y="4251960"/>
            <a:ext cx="3291840" cy="365760"/>
          </a:xfrm>
          <a:prstGeom prst="rect">
            <a:avLst/>
          </a:prstGeom>
          <a:noFill/>
          <a:ln/>
        </p:spPr>
        <p:txBody>
          <a:bodyPr wrap="square" lIns="0" tIns="0" rIns="0" bIns="0" rtlCol="0" anchor="ctr"/>
          <a:lstStyle/>
          <a:p>
            <a:pPr marL="0" indent="0">
              <a:buNone/>
            </a:pPr>
            <a:r>
              <a:rPr lang="en-US" sz="1600" b="1" kern="0" spc="200" dirty="0">
                <a:solidFill>
                  <a:srgbClr val="D97706"/>
                </a:solidFill>
                <a:latin typeface="Arial Black" pitchFamily="34" charset="0"/>
                <a:ea typeface="Arial Black" pitchFamily="34" charset="-122"/>
                <a:cs typeface="Arial Black" pitchFamily="34" charset="-120"/>
              </a:rPr>
              <a:t>MEDIA / SOCIAL</a:t>
            </a:r>
            <a:endParaRPr lang="en-US" sz="1600" dirty="0"/>
          </a:p>
        </p:txBody>
      </p:sp>
      <p:sp>
        <p:nvSpPr>
          <p:cNvPr id="40" name="Text 38"/>
          <p:cNvSpPr/>
          <p:nvPr/>
        </p:nvSpPr>
        <p:spPr>
          <a:xfrm>
            <a:off x="8275320" y="4617720"/>
            <a:ext cx="3291840" cy="32004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recs · moderation · ranking</a:t>
            </a:r>
            <a:endParaRPr lang="en-US" sz="1100" dirty="0"/>
          </a:p>
        </p:txBody>
      </p:sp>
      <p:sp>
        <p:nvSpPr>
          <p:cNvPr id="41" name="Shape 39"/>
          <p:cNvSpPr/>
          <p:nvPr/>
        </p:nvSpPr>
        <p:spPr>
          <a:xfrm>
            <a:off x="8275320" y="5029200"/>
            <a:ext cx="548640" cy="0"/>
          </a:xfrm>
          <a:prstGeom prst="line">
            <a:avLst/>
          </a:prstGeom>
          <a:noFill/>
          <a:ln w="12700">
            <a:solidFill>
              <a:srgbClr val="D97706"/>
            </a:solidFill>
            <a:prstDash val="solid"/>
          </a:ln>
        </p:spPr>
        <p:txBody>
          <a:bodyPr/>
          <a:lstStyle/>
          <a:p>
            <a:endParaRPr lang="en-AE"/>
          </a:p>
        </p:txBody>
      </p:sp>
      <p:sp>
        <p:nvSpPr>
          <p:cNvPr id="42" name="Text 40"/>
          <p:cNvSpPr/>
          <p:nvPr/>
        </p:nvSpPr>
        <p:spPr>
          <a:xfrm>
            <a:off x="8275320" y="5120640"/>
            <a:ext cx="3291840" cy="7315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Netflix, YouTube, Instagram = recommendation engines</a:t>
            </a:r>
            <a:endParaRPr lang="en-US" sz="1100" dirty="0"/>
          </a:p>
        </p:txBody>
      </p:sp>
      <p:sp>
        <p:nvSpPr>
          <p:cNvPr id="43" name="Text 41"/>
          <p:cNvSpPr/>
          <p:nvPr/>
        </p:nvSpPr>
        <p:spPr>
          <a:xfrm>
            <a:off x="10332720" y="6510528"/>
            <a:ext cx="173736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23 / 32  ·  DATA &amp; AI</a:t>
            </a:r>
            <a:endParaRPr lang="en-US" sz="900" dirty="0"/>
          </a:p>
        </p:txBody>
      </p:sp>
      <p:sp>
        <p:nvSpPr>
          <p:cNvPr id="44" name="Text 42"/>
          <p:cNvSpPr/>
          <p:nvPr/>
        </p:nvSpPr>
        <p:spPr>
          <a:xfrm>
            <a:off x="457200" y="6510528"/>
            <a:ext cx="5486400" cy="256032"/>
          </a:xfrm>
          <a:prstGeom prst="rect">
            <a:avLst/>
          </a:prstGeom>
          <a:noFill/>
          <a:ln/>
        </p:spPr>
        <p:txBody>
          <a:bodyPr wrap="square" lIns="0" tIns="0" rIns="0" bIns="0" rtlCol="0" anchor="ctr"/>
          <a:lstStyle/>
          <a:p>
            <a:pPr marL="0" indent="0">
              <a:buNone/>
            </a:pPr>
            <a:r>
              <a:rPr lang="en-US" sz="900" b="1" kern="0" spc="200" dirty="0">
                <a:solidFill>
                  <a:srgbClr val="94A3B8"/>
                </a:solidFill>
                <a:latin typeface="Calibri" pitchFamily="34" charset="0"/>
                <a:ea typeface="Calibri" pitchFamily="34" charset="-122"/>
                <a:cs typeface="Calibri" pitchFamily="34" charset="-120"/>
              </a:rPr>
              <a:t>DATA MINING → AI</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EF4444"/>
          </a:solidFill>
          <a:ln/>
        </p:spPr>
        <p:txBody>
          <a:bodyPr/>
          <a:lstStyle/>
          <a:p>
            <a:endParaRPr lang="en-AE"/>
          </a:p>
        </p:txBody>
      </p:sp>
      <p:sp>
        <p:nvSpPr>
          <p:cNvPr id="3" name="Shape 1"/>
          <p:cNvSpPr/>
          <p:nvPr/>
        </p:nvSpPr>
        <p:spPr>
          <a:xfrm>
            <a:off x="621792" y="457200"/>
            <a:ext cx="54864" cy="128016"/>
          </a:xfrm>
          <a:prstGeom prst="rect">
            <a:avLst/>
          </a:prstGeom>
          <a:solidFill>
            <a:srgbClr val="0B1437"/>
          </a:solidFill>
          <a:ln/>
        </p:spPr>
        <p:txBody>
          <a:bodyPr/>
          <a:lstStyle/>
          <a:p>
            <a:endParaRPr lang="en-AE"/>
          </a:p>
        </p:txBody>
      </p:sp>
      <p:sp>
        <p:nvSpPr>
          <p:cNvPr id="4" name="Text 2"/>
          <p:cNvSpPr/>
          <p:nvPr/>
        </p:nvSpPr>
        <p:spPr>
          <a:xfrm>
            <a:off x="457200" y="685800"/>
            <a:ext cx="11247120" cy="274320"/>
          </a:xfrm>
          <a:prstGeom prst="rect">
            <a:avLst/>
          </a:prstGeom>
          <a:noFill/>
          <a:ln/>
        </p:spPr>
        <p:txBody>
          <a:bodyPr wrap="square" lIns="0" tIns="0" rIns="0" bIns="0" rtlCol="0" anchor="ctr"/>
          <a:lstStyle/>
          <a:p>
            <a:pPr marL="0" indent="0">
              <a:buNone/>
            </a:pPr>
            <a:r>
              <a:rPr lang="en-US" sz="1100" b="1" kern="0" spc="400" dirty="0">
                <a:solidFill>
                  <a:srgbClr val="EF4444"/>
                </a:solidFill>
                <a:latin typeface="Calibri" pitchFamily="34" charset="0"/>
                <a:ea typeface="Calibri" pitchFamily="34" charset="-122"/>
                <a:cs typeface="Calibri" pitchFamily="34" charset="-120"/>
              </a:rPr>
              <a:t>THINGS YOUR TEXTBOOK WILL NOT TELL YOU</a:t>
            </a:r>
            <a:endParaRPr lang="en-US" sz="1100" dirty="0"/>
          </a:p>
        </p:txBody>
      </p:sp>
      <p:sp>
        <p:nvSpPr>
          <p:cNvPr id="5" name="Text 3"/>
          <p:cNvSpPr/>
          <p:nvPr/>
        </p:nvSpPr>
        <p:spPr>
          <a:xfrm>
            <a:off x="457200" y="932688"/>
            <a:ext cx="1124712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War stories  ·  how this breaks in production.</a:t>
            </a:r>
            <a:endParaRPr lang="en-US" sz="3000" dirty="0"/>
          </a:p>
        </p:txBody>
      </p:sp>
      <p:sp>
        <p:nvSpPr>
          <p:cNvPr id="6" name="Text 4"/>
          <p:cNvSpPr/>
          <p:nvPr/>
        </p:nvSpPr>
        <p:spPr>
          <a:xfrm>
            <a:off x="457200" y="1572768"/>
            <a:ext cx="11247120" cy="45720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Three failure modes. Nobody teaches them. Everybody hits them.</a:t>
            </a:r>
            <a:endParaRPr lang="en-US" sz="1300" dirty="0"/>
          </a:p>
        </p:txBody>
      </p:sp>
      <p:sp>
        <p:nvSpPr>
          <p:cNvPr id="7" name="Shape 5"/>
          <p:cNvSpPr/>
          <p:nvPr/>
        </p:nvSpPr>
        <p:spPr>
          <a:xfrm>
            <a:off x="457200" y="2103120"/>
            <a:ext cx="3749040" cy="4023360"/>
          </a:xfrm>
          <a:prstGeom prst="rect">
            <a:avLst/>
          </a:prstGeom>
          <a:solidFill>
            <a:srgbClr val="F8FAFC"/>
          </a:solidFill>
          <a:ln/>
          <a:effectLst>
            <a:outerShdw blurRad="101600" dist="25400" dir="8100000" algn="bl" rotWithShape="0">
              <a:srgbClr val="000000">
                <a:alpha val="10000"/>
              </a:srgbClr>
            </a:outerShdw>
          </a:effectLst>
        </p:spPr>
        <p:txBody>
          <a:bodyPr/>
          <a:lstStyle/>
          <a:p>
            <a:endParaRPr lang="en-AE"/>
          </a:p>
        </p:txBody>
      </p:sp>
      <p:sp>
        <p:nvSpPr>
          <p:cNvPr id="8" name="Shape 6"/>
          <p:cNvSpPr/>
          <p:nvPr/>
        </p:nvSpPr>
        <p:spPr>
          <a:xfrm>
            <a:off x="457200" y="2103120"/>
            <a:ext cx="3749040" cy="640080"/>
          </a:xfrm>
          <a:prstGeom prst="rect">
            <a:avLst/>
          </a:prstGeom>
          <a:solidFill>
            <a:srgbClr val="EF4444"/>
          </a:solidFill>
          <a:ln/>
        </p:spPr>
        <p:txBody>
          <a:bodyPr/>
          <a:lstStyle/>
          <a:p>
            <a:endParaRPr lang="en-AE"/>
          </a:p>
        </p:txBody>
      </p:sp>
      <p:sp>
        <p:nvSpPr>
          <p:cNvPr id="9" name="Text 7"/>
          <p:cNvSpPr/>
          <p:nvPr/>
        </p:nvSpPr>
        <p:spPr>
          <a:xfrm>
            <a:off x="640080" y="2103120"/>
            <a:ext cx="3383280" cy="640080"/>
          </a:xfrm>
          <a:prstGeom prst="rect">
            <a:avLst/>
          </a:prstGeom>
          <a:noFill/>
          <a:ln/>
        </p:spPr>
        <p:txBody>
          <a:bodyPr wrap="square" lIns="0" tIns="0" rIns="0" bIns="0" rtlCol="0" anchor="ctr"/>
          <a:lstStyle/>
          <a:p>
            <a:pPr marL="0" indent="0">
              <a:buNone/>
            </a:pPr>
            <a:r>
              <a:rPr lang="en-US" sz="1700" b="1" kern="0" spc="200" dirty="0">
                <a:solidFill>
                  <a:srgbClr val="FFFFFF"/>
                </a:solidFill>
                <a:latin typeface="Arial Black" pitchFamily="34" charset="0"/>
                <a:ea typeface="Arial Black" pitchFamily="34" charset="-122"/>
                <a:cs typeface="Arial Black" pitchFamily="34" charset="-120"/>
              </a:rPr>
              <a:t>SCHEMA DRIFT</a:t>
            </a:r>
            <a:endParaRPr lang="en-US" sz="1700" dirty="0"/>
          </a:p>
        </p:txBody>
      </p:sp>
      <p:sp>
        <p:nvSpPr>
          <p:cNvPr id="10" name="Text 8"/>
          <p:cNvSpPr/>
          <p:nvPr/>
        </p:nvSpPr>
        <p:spPr>
          <a:xfrm>
            <a:off x="640080" y="2880360"/>
            <a:ext cx="3383280" cy="256032"/>
          </a:xfrm>
          <a:prstGeom prst="rect">
            <a:avLst/>
          </a:prstGeom>
          <a:noFill/>
          <a:ln/>
        </p:spPr>
        <p:txBody>
          <a:bodyPr wrap="square" lIns="0" tIns="0" rIns="0" bIns="0" rtlCol="0" anchor="ctr"/>
          <a:lstStyle/>
          <a:p>
            <a:pPr marL="0" indent="0">
              <a:buNone/>
            </a:pPr>
            <a:r>
              <a:rPr lang="en-US" sz="1000" b="1" kern="0" spc="200" dirty="0">
                <a:solidFill>
                  <a:srgbClr val="64748B"/>
                </a:solidFill>
                <a:latin typeface="Calibri" pitchFamily="34" charset="0"/>
                <a:ea typeface="Calibri" pitchFamily="34" charset="-122"/>
                <a:cs typeface="Calibri" pitchFamily="34" charset="-120"/>
              </a:rPr>
              <a:t>THE SCENE</a:t>
            </a:r>
            <a:endParaRPr lang="en-US" sz="1000" dirty="0"/>
          </a:p>
        </p:txBody>
      </p:sp>
      <p:sp>
        <p:nvSpPr>
          <p:cNvPr id="11" name="Text 9"/>
          <p:cNvSpPr/>
          <p:nvPr/>
        </p:nvSpPr>
        <p:spPr>
          <a:xfrm>
            <a:off x="640080" y="3108960"/>
            <a:ext cx="3383280" cy="1463040"/>
          </a:xfrm>
          <a:prstGeom prst="rect">
            <a:avLst/>
          </a:prstGeom>
          <a:noFill/>
          <a:ln/>
        </p:spPr>
        <p:txBody>
          <a:bodyPr wrap="square" lIns="0" tIns="0" rIns="0" bIns="0" rtlCol="0" anchor="ctr"/>
          <a:lstStyle/>
          <a:p>
            <a:pPr marL="0" indent="0">
              <a:buNone/>
            </a:pPr>
            <a:r>
              <a:rPr lang="en-US" sz="1150" i="1" dirty="0">
                <a:solidFill>
                  <a:srgbClr val="1E293B"/>
                </a:solidFill>
                <a:latin typeface="Calibri" pitchFamily="34" charset="0"/>
                <a:ea typeface="Calibri" pitchFamily="34" charset="-122"/>
                <a:cs typeface="Calibri" pitchFamily="34" charset="-120"/>
              </a:rPr>
              <a:t>Upstream team renames a column. Your pipeline silently writes NULL for 3 weeks. CFO notices in a board meeting.</a:t>
            </a:r>
            <a:endParaRPr lang="en-US" sz="1150" dirty="0"/>
          </a:p>
        </p:txBody>
      </p:sp>
      <p:sp>
        <p:nvSpPr>
          <p:cNvPr id="12" name="Text 10"/>
          <p:cNvSpPr/>
          <p:nvPr/>
        </p:nvSpPr>
        <p:spPr>
          <a:xfrm>
            <a:off x="640080" y="4754880"/>
            <a:ext cx="3383280" cy="256032"/>
          </a:xfrm>
          <a:prstGeom prst="rect">
            <a:avLst/>
          </a:prstGeom>
          <a:noFill/>
          <a:ln/>
        </p:spPr>
        <p:txBody>
          <a:bodyPr wrap="square" lIns="0" tIns="0" rIns="0" bIns="0" rtlCol="0" anchor="ctr"/>
          <a:lstStyle/>
          <a:p>
            <a:pPr marL="0" indent="0">
              <a:buNone/>
            </a:pPr>
            <a:r>
              <a:rPr lang="en-US" sz="1000" b="1" kern="0" spc="200" dirty="0">
                <a:solidFill>
                  <a:srgbClr val="EF4444"/>
                </a:solidFill>
                <a:latin typeface="Calibri" pitchFamily="34" charset="0"/>
                <a:ea typeface="Calibri" pitchFamily="34" charset="-122"/>
                <a:cs typeface="Calibri" pitchFamily="34" charset="-120"/>
              </a:rPr>
              <a:t>THE LESSON</a:t>
            </a:r>
            <a:endParaRPr lang="en-US" sz="1000" dirty="0"/>
          </a:p>
        </p:txBody>
      </p:sp>
      <p:sp>
        <p:nvSpPr>
          <p:cNvPr id="13" name="Text 11"/>
          <p:cNvSpPr/>
          <p:nvPr/>
        </p:nvSpPr>
        <p:spPr>
          <a:xfrm>
            <a:off x="640080" y="4983480"/>
            <a:ext cx="3383280" cy="1005840"/>
          </a:xfrm>
          <a:prstGeom prst="rect">
            <a:avLst/>
          </a:prstGeom>
          <a:noFill/>
          <a:ln/>
        </p:spPr>
        <p:txBody>
          <a:bodyPr wrap="square" lIns="0" tIns="0" rIns="0" bIns="0" rtlCol="0" anchor="ctr"/>
          <a:lstStyle/>
          <a:p>
            <a:pPr marL="0" indent="0">
              <a:buNone/>
            </a:pPr>
            <a:r>
              <a:rPr lang="en-US" sz="1150" b="1" dirty="0">
                <a:solidFill>
                  <a:srgbClr val="0F172A"/>
                </a:solidFill>
                <a:latin typeface="Calibri" pitchFamily="34" charset="0"/>
                <a:ea typeface="Calibri" pitchFamily="34" charset="-122"/>
                <a:cs typeface="Calibri" pitchFamily="34" charset="-120"/>
              </a:rPr>
              <a:t>Validate schemas at every boundary. Great Expectations · Soda · dbt tests.</a:t>
            </a:r>
            <a:endParaRPr lang="en-US" sz="1150" dirty="0"/>
          </a:p>
        </p:txBody>
      </p:sp>
      <p:sp>
        <p:nvSpPr>
          <p:cNvPr id="14" name="Shape 12"/>
          <p:cNvSpPr/>
          <p:nvPr/>
        </p:nvSpPr>
        <p:spPr>
          <a:xfrm>
            <a:off x="4343400" y="2103120"/>
            <a:ext cx="3749040" cy="4023360"/>
          </a:xfrm>
          <a:prstGeom prst="rect">
            <a:avLst/>
          </a:prstGeom>
          <a:solidFill>
            <a:srgbClr val="F8FAFC"/>
          </a:solidFill>
          <a:ln/>
          <a:effectLst>
            <a:outerShdw blurRad="101600" dist="25400" dir="8100000" algn="bl" rotWithShape="0">
              <a:srgbClr val="000000">
                <a:alpha val="10000"/>
              </a:srgbClr>
            </a:outerShdw>
          </a:effectLst>
        </p:spPr>
        <p:txBody>
          <a:bodyPr/>
          <a:lstStyle/>
          <a:p>
            <a:endParaRPr lang="en-AE"/>
          </a:p>
        </p:txBody>
      </p:sp>
      <p:sp>
        <p:nvSpPr>
          <p:cNvPr id="15" name="Shape 13"/>
          <p:cNvSpPr/>
          <p:nvPr/>
        </p:nvSpPr>
        <p:spPr>
          <a:xfrm>
            <a:off x="4343400" y="2103120"/>
            <a:ext cx="3749040" cy="640080"/>
          </a:xfrm>
          <a:prstGeom prst="rect">
            <a:avLst/>
          </a:prstGeom>
          <a:solidFill>
            <a:srgbClr val="FF6B35"/>
          </a:solidFill>
          <a:ln/>
        </p:spPr>
        <p:txBody>
          <a:bodyPr/>
          <a:lstStyle/>
          <a:p>
            <a:endParaRPr lang="en-AE"/>
          </a:p>
        </p:txBody>
      </p:sp>
      <p:sp>
        <p:nvSpPr>
          <p:cNvPr id="16" name="Text 14"/>
          <p:cNvSpPr/>
          <p:nvPr/>
        </p:nvSpPr>
        <p:spPr>
          <a:xfrm>
            <a:off x="4526280" y="2103120"/>
            <a:ext cx="3383280" cy="640080"/>
          </a:xfrm>
          <a:prstGeom prst="rect">
            <a:avLst/>
          </a:prstGeom>
          <a:noFill/>
          <a:ln/>
        </p:spPr>
        <p:txBody>
          <a:bodyPr wrap="square" lIns="0" tIns="0" rIns="0" bIns="0" rtlCol="0" anchor="ctr"/>
          <a:lstStyle/>
          <a:p>
            <a:pPr marL="0" indent="0">
              <a:buNone/>
            </a:pPr>
            <a:r>
              <a:rPr lang="en-US" sz="1700" b="1" kern="0" spc="200" dirty="0">
                <a:solidFill>
                  <a:srgbClr val="FFFFFF"/>
                </a:solidFill>
                <a:latin typeface="Arial Black" pitchFamily="34" charset="0"/>
                <a:ea typeface="Arial Black" pitchFamily="34" charset="-122"/>
                <a:cs typeface="Arial Black" pitchFamily="34" charset="-120"/>
              </a:rPr>
              <a:t>SILENT QUALITY</a:t>
            </a:r>
            <a:endParaRPr lang="en-US" sz="1700" dirty="0"/>
          </a:p>
        </p:txBody>
      </p:sp>
      <p:sp>
        <p:nvSpPr>
          <p:cNvPr id="17" name="Text 15"/>
          <p:cNvSpPr/>
          <p:nvPr/>
        </p:nvSpPr>
        <p:spPr>
          <a:xfrm>
            <a:off x="4526280" y="2880360"/>
            <a:ext cx="3383280" cy="256032"/>
          </a:xfrm>
          <a:prstGeom prst="rect">
            <a:avLst/>
          </a:prstGeom>
          <a:noFill/>
          <a:ln/>
        </p:spPr>
        <p:txBody>
          <a:bodyPr wrap="square" lIns="0" tIns="0" rIns="0" bIns="0" rtlCol="0" anchor="ctr"/>
          <a:lstStyle/>
          <a:p>
            <a:pPr marL="0" indent="0">
              <a:buNone/>
            </a:pPr>
            <a:r>
              <a:rPr lang="en-US" sz="1000" b="1" kern="0" spc="200" dirty="0">
                <a:solidFill>
                  <a:srgbClr val="64748B"/>
                </a:solidFill>
                <a:latin typeface="Calibri" pitchFamily="34" charset="0"/>
                <a:ea typeface="Calibri" pitchFamily="34" charset="-122"/>
                <a:cs typeface="Calibri" pitchFamily="34" charset="-120"/>
              </a:rPr>
              <a:t>THE SCENE</a:t>
            </a:r>
            <a:endParaRPr lang="en-US" sz="1000" dirty="0"/>
          </a:p>
        </p:txBody>
      </p:sp>
      <p:sp>
        <p:nvSpPr>
          <p:cNvPr id="18" name="Text 16"/>
          <p:cNvSpPr/>
          <p:nvPr/>
        </p:nvSpPr>
        <p:spPr>
          <a:xfrm>
            <a:off x="4526280" y="3108960"/>
            <a:ext cx="3383280" cy="1463040"/>
          </a:xfrm>
          <a:prstGeom prst="rect">
            <a:avLst/>
          </a:prstGeom>
          <a:noFill/>
          <a:ln/>
        </p:spPr>
        <p:txBody>
          <a:bodyPr wrap="square" lIns="0" tIns="0" rIns="0" bIns="0" rtlCol="0" anchor="ctr"/>
          <a:lstStyle/>
          <a:p>
            <a:pPr marL="0" indent="0">
              <a:buNone/>
            </a:pPr>
            <a:r>
              <a:rPr lang="en-US" sz="1150" i="1" dirty="0">
                <a:solidFill>
                  <a:srgbClr val="1E293B"/>
                </a:solidFill>
                <a:latin typeface="Calibri" pitchFamily="34" charset="0"/>
                <a:ea typeface="Calibri" pitchFamily="34" charset="-122"/>
                <a:cs typeface="Calibri" pitchFamily="34" charset="-120"/>
              </a:rPr>
              <a:t>Source feed doubles a record. Dashboard shows 2× revenue. Everyone high-fives. Until the auditor shows up.</a:t>
            </a:r>
            <a:endParaRPr lang="en-US" sz="1150" dirty="0"/>
          </a:p>
        </p:txBody>
      </p:sp>
      <p:sp>
        <p:nvSpPr>
          <p:cNvPr id="19" name="Text 17"/>
          <p:cNvSpPr/>
          <p:nvPr/>
        </p:nvSpPr>
        <p:spPr>
          <a:xfrm>
            <a:off x="4526280" y="4754880"/>
            <a:ext cx="3383280" cy="256032"/>
          </a:xfrm>
          <a:prstGeom prst="rect">
            <a:avLst/>
          </a:prstGeom>
          <a:noFill/>
          <a:ln/>
        </p:spPr>
        <p:txBody>
          <a:bodyPr wrap="square" lIns="0" tIns="0" rIns="0" bIns="0" rtlCol="0" anchor="ctr"/>
          <a:lstStyle/>
          <a:p>
            <a:pPr marL="0" indent="0">
              <a:buNone/>
            </a:pPr>
            <a:r>
              <a:rPr lang="en-US" sz="1000" b="1" kern="0" spc="200" dirty="0">
                <a:solidFill>
                  <a:srgbClr val="FF6B35"/>
                </a:solidFill>
                <a:latin typeface="Calibri" pitchFamily="34" charset="0"/>
                <a:ea typeface="Calibri" pitchFamily="34" charset="-122"/>
                <a:cs typeface="Calibri" pitchFamily="34" charset="-120"/>
              </a:rPr>
              <a:t>THE LESSON</a:t>
            </a:r>
            <a:endParaRPr lang="en-US" sz="1000" dirty="0"/>
          </a:p>
        </p:txBody>
      </p:sp>
      <p:sp>
        <p:nvSpPr>
          <p:cNvPr id="20" name="Text 18"/>
          <p:cNvSpPr/>
          <p:nvPr/>
        </p:nvSpPr>
        <p:spPr>
          <a:xfrm>
            <a:off x="4526280" y="4983480"/>
            <a:ext cx="3383280" cy="1005840"/>
          </a:xfrm>
          <a:prstGeom prst="rect">
            <a:avLst/>
          </a:prstGeom>
          <a:noFill/>
          <a:ln/>
        </p:spPr>
        <p:txBody>
          <a:bodyPr wrap="square" lIns="0" tIns="0" rIns="0" bIns="0" rtlCol="0" anchor="ctr"/>
          <a:lstStyle/>
          <a:p>
            <a:pPr marL="0" indent="0">
              <a:buNone/>
            </a:pPr>
            <a:r>
              <a:rPr lang="en-US" sz="1150" b="1" dirty="0">
                <a:solidFill>
                  <a:srgbClr val="0F172A"/>
                </a:solidFill>
                <a:latin typeface="Calibri" pitchFamily="34" charset="0"/>
                <a:ea typeface="Calibri" pitchFamily="34" charset="-122"/>
                <a:cs typeface="Calibri" pitchFamily="34" charset="-120"/>
              </a:rPr>
              <a:t>Monitor row counts, freshness, and distributions. If it moves 3σ, alert.</a:t>
            </a:r>
            <a:endParaRPr lang="en-US" sz="1150" dirty="0"/>
          </a:p>
        </p:txBody>
      </p:sp>
      <p:sp>
        <p:nvSpPr>
          <p:cNvPr id="21" name="Shape 19"/>
          <p:cNvSpPr/>
          <p:nvPr/>
        </p:nvSpPr>
        <p:spPr>
          <a:xfrm>
            <a:off x="8229600" y="2103120"/>
            <a:ext cx="3749040" cy="4023360"/>
          </a:xfrm>
          <a:prstGeom prst="rect">
            <a:avLst/>
          </a:prstGeom>
          <a:solidFill>
            <a:srgbClr val="F8FAFC"/>
          </a:solidFill>
          <a:ln/>
          <a:effectLst>
            <a:outerShdw blurRad="101600" dist="25400" dir="8100000" algn="bl" rotWithShape="0">
              <a:srgbClr val="000000">
                <a:alpha val="10000"/>
              </a:srgbClr>
            </a:outerShdw>
          </a:effectLst>
        </p:spPr>
        <p:txBody>
          <a:bodyPr/>
          <a:lstStyle/>
          <a:p>
            <a:endParaRPr lang="en-AE"/>
          </a:p>
        </p:txBody>
      </p:sp>
      <p:sp>
        <p:nvSpPr>
          <p:cNvPr id="22" name="Shape 20"/>
          <p:cNvSpPr/>
          <p:nvPr/>
        </p:nvSpPr>
        <p:spPr>
          <a:xfrm>
            <a:off x="8229600" y="2103120"/>
            <a:ext cx="3749040" cy="640080"/>
          </a:xfrm>
          <a:prstGeom prst="rect">
            <a:avLst/>
          </a:prstGeom>
          <a:solidFill>
            <a:srgbClr val="DB2777"/>
          </a:solidFill>
          <a:ln/>
        </p:spPr>
        <p:txBody>
          <a:bodyPr/>
          <a:lstStyle/>
          <a:p>
            <a:endParaRPr lang="en-AE"/>
          </a:p>
        </p:txBody>
      </p:sp>
      <p:sp>
        <p:nvSpPr>
          <p:cNvPr id="23" name="Text 21"/>
          <p:cNvSpPr/>
          <p:nvPr/>
        </p:nvSpPr>
        <p:spPr>
          <a:xfrm>
            <a:off x="8412480" y="2103120"/>
            <a:ext cx="3383280" cy="640080"/>
          </a:xfrm>
          <a:prstGeom prst="rect">
            <a:avLst/>
          </a:prstGeom>
          <a:noFill/>
          <a:ln/>
        </p:spPr>
        <p:txBody>
          <a:bodyPr wrap="square" lIns="0" tIns="0" rIns="0" bIns="0" rtlCol="0" anchor="ctr"/>
          <a:lstStyle/>
          <a:p>
            <a:pPr marL="0" indent="0">
              <a:buNone/>
            </a:pPr>
            <a:r>
              <a:rPr lang="en-US" sz="1700" b="1" kern="0" spc="200" dirty="0">
                <a:solidFill>
                  <a:srgbClr val="FFFFFF"/>
                </a:solidFill>
                <a:latin typeface="Arial Black" pitchFamily="34" charset="0"/>
                <a:ea typeface="Arial Black" pitchFamily="34" charset="-122"/>
                <a:cs typeface="Arial Black" pitchFamily="34" charset="-120"/>
              </a:rPr>
              <a:t>MODEL DECAY</a:t>
            </a:r>
            <a:endParaRPr lang="en-US" sz="1700" dirty="0"/>
          </a:p>
        </p:txBody>
      </p:sp>
      <p:sp>
        <p:nvSpPr>
          <p:cNvPr id="24" name="Text 22"/>
          <p:cNvSpPr/>
          <p:nvPr/>
        </p:nvSpPr>
        <p:spPr>
          <a:xfrm>
            <a:off x="8412480" y="2880360"/>
            <a:ext cx="3383280" cy="256032"/>
          </a:xfrm>
          <a:prstGeom prst="rect">
            <a:avLst/>
          </a:prstGeom>
          <a:noFill/>
          <a:ln/>
        </p:spPr>
        <p:txBody>
          <a:bodyPr wrap="square" lIns="0" tIns="0" rIns="0" bIns="0" rtlCol="0" anchor="ctr"/>
          <a:lstStyle/>
          <a:p>
            <a:pPr marL="0" indent="0">
              <a:buNone/>
            </a:pPr>
            <a:r>
              <a:rPr lang="en-US" sz="1000" b="1" kern="0" spc="200" dirty="0">
                <a:solidFill>
                  <a:srgbClr val="64748B"/>
                </a:solidFill>
                <a:latin typeface="Calibri" pitchFamily="34" charset="0"/>
                <a:ea typeface="Calibri" pitchFamily="34" charset="-122"/>
                <a:cs typeface="Calibri" pitchFamily="34" charset="-120"/>
              </a:rPr>
              <a:t>THE SCENE</a:t>
            </a:r>
            <a:endParaRPr lang="en-US" sz="1000" dirty="0"/>
          </a:p>
        </p:txBody>
      </p:sp>
      <p:sp>
        <p:nvSpPr>
          <p:cNvPr id="25" name="Text 23"/>
          <p:cNvSpPr/>
          <p:nvPr/>
        </p:nvSpPr>
        <p:spPr>
          <a:xfrm>
            <a:off x="8412480" y="3108960"/>
            <a:ext cx="3383280" cy="1463040"/>
          </a:xfrm>
          <a:prstGeom prst="rect">
            <a:avLst/>
          </a:prstGeom>
          <a:noFill/>
          <a:ln/>
        </p:spPr>
        <p:txBody>
          <a:bodyPr wrap="square" lIns="0" tIns="0" rIns="0" bIns="0" rtlCol="0" anchor="ctr"/>
          <a:lstStyle/>
          <a:p>
            <a:pPr marL="0" indent="0">
              <a:buNone/>
            </a:pPr>
            <a:r>
              <a:rPr lang="en-US" sz="1150" i="1" dirty="0">
                <a:solidFill>
                  <a:srgbClr val="1E293B"/>
                </a:solidFill>
                <a:latin typeface="Calibri" pitchFamily="34" charset="0"/>
                <a:ea typeface="Calibri" pitchFamily="34" charset="-122"/>
                <a:cs typeface="Calibri" pitchFamily="34" charset="-120"/>
              </a:rPr>
              <a:t>Fraud model was 94% in training. Six months later it's 61% and nobody noticed the dashboard was static.</a:t>
            </a:r>
            <a:endParaRPr lang="en-US" sz="1150" dirty="0"/>
          </a:p>
        </p:txBody>
      </p:sp>
      <p:sp>
        <p:nvSpPr>
          <p:cNvPr id="26" name="Text 24"/>
          <p:cNvSpPr/>
          <p:nvPr/>
        </p:nvSpPr>
        <p:spPr>
          <a:xfrm>
            <a:off x="8412480" y="4754880"/>
            <a:ext cx="3383280" cy="256032"/>
          </a:xfrm>
          <a:prstGeom prst="rect">
            <a:avLst/>
          </a:prstGeom>
          <a:noFill/>
          <a:ln/>
        </p:spPr>
        <p:txBody>
          <a:bodyPr wrap="square" lIns="0" tIns="0" rIns="0" bIns="0" rtlCol="0" anchor="ctr"/>
          <a:lstStyle/>
          <a:p>
            <a:pPr marL="0" indent="0">
              <a:buNone/>
            </a:pPr>
            <a:r>
              <a:rPr lang="en-US" sz="1000" b="1" kern="0" spc="200" dirty="0">
                <a:solidFill>
                  <a:srgbClr val="DB2777"/>
                </a:solidFill>
                <a:latin typeface="Calibri" pitchFamily="34" charset="0"/>
                <a:ea typeface="Calibri" pitchFamily="34" charset="-122"/>
                <a:cs typeface="Calibri" pitchFamily="34" charset="-120"/>
              </a:rPr>
              <a:t>THE LESSON</a:t>
            </a:r>
            <a:endParaRPr lang="en-US" sz="1000" dirty="0"/>
          </a:p>
        </p:txBody>
      </p:sp>
      <p:sp>
        <p:nvSpPr>
          <p:cNvPr id="27" name="Text 25"/>
          <p:cNvSpPr/>
          <p:nvPr/>
        </p:nvSpPr>
        <p:spPr>
          <a:xfrm>
            <a:off x="8412480" y="4983480"/>
            <a:ext cx="3383280" cy="1005840"/>
          </a:xfrm>
          <a:prstGeom prst="rect">
            <a:avLst/>
          </a:prstGeom>
          <a:noFill/>
          <a:ln/>
        </p:spPr>
        <p:txBody>
          <a:bodyPr wrap="square" lIns="0" tIns="0" rIns="0" bIns="0" rtlCol="0" anchor="ctr"/>
          <a:lstStyle/>
          <a:p>
            <a:pPr marL="0" indent="0">
              <a:buNone/>
            </a:pPr>
            <a:r>
              <a:rPr lang="en-US" sz="1150" b="1" dirty="0">
                <a:solidFill>
                  <a:srgbClr val="0F172A"/>
                </a:solidFill>
                <a:latin typeface="Calibri" pitchFamily="34" charset="0"/>
                <a:ea typeface="Calibri" pitchFamily="34" charset="-122"/>
                <a:cs typeface="Calibri" pitchFamily="34" charset="-120"/>
              </a:rPr>
              <a:t>Every model needs a drift monitor + retrain cadence from day one.</a:t>
            </a:r>
            <a:endParaRPr lang="en-US" sz="1150" dirty="0"/>
          </a:p>
        </p:txBody>
      </p:sp>
      <p:sp>
        <p:nvSpPr>
          <p:cNvPr id="28" name="Shape 26"/>
          <p:cNvSpPr/>
          <p:nvPr/>
        </p:nvSpPr>
        <p:spPr>
          <a:xfrm>
            <a:off x="457200" y="6263640"/>
            <a:ext cx="11247120" cy="274320"/>
          </a:xfrm>
          <a:prstGeom prst="rect">
            <a:avLst/>
          </a:prstGeom>
          <a:solidFill>
            <a:srgbClr val="0B1437"/>
          </a:solidFill>
          <a:ln/>
        </p:spPr>
        <p:txBody>
          <a:bodyPr/>
          <a:lstStyle/>
          <a:p>
            <a:endParaRPr lang="en-AE"/>
          </a:p>
        </p:txBody>
      </p:sp>
      <p:sp>
        <p:nvSpPr>
          <p:cNvPr id="29" name="Text 27"/>
          <p:cNvSpPr/>
          <p:nvPr/>
        </p:nvSpPr>
        <p:spPr>
          <a:xfrm>
            <a:off x="640080" y="6291072"/>
            <a:ext cx="10972800" cy="228600"/>
          </a:xfrm>
          <a:prstGeom prst="rect">
            <a:avLst/>
          </a:prstGeom>
          <a:noFill/>
          <a:ln/>
        </p:spPr>
        <p:txBody>
          <a:bodyPr wrap="square" lIns="0" tIns="0" rIns="0" bIns="0"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COMMON THREAD  ·  </a:t>
            </a:r>
            <a:r>
              <a:rPr lang="en-US" sz="1100" i="1" dirty="0">
                <a:solidFill>
                  <a:srgbClr val="FFFFFF"/>
                </a:solidFill>
                <a:latin typeface="Calibri" pitchFamily="34" charset="0"/>
                <a:ea typeface="Calibri" pitchFamily="34" charset="-122"/>
                <a:cs typeface="Calibri" pitchFamily="34" charset="-120"/>
              </a:rPr>
              <a:t>data quality is not a stage. It's a religion. Build monitoring BEFORE you build dashboards.</a:t>
            </a:r>
            <a:endParaRPr lang="en-US" sz="1100" dirty="0"/>
          </a:p>
        </p:txBody>
      </p:sp>
      <p:sp>
        <p:nvSpPr>
          <p:cNvPr id="30" name="Text 28"/>
          <p:cNvSpPr/>
          <p:nvPr/>
        </p:nvSpPr>
        <p:spPr>
          <a:xfrm>
            <a:off x="10332720" y="6510528"/>
            <a:ext cx="173736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24 / 32  ·  DATA &amp; AI</a:t>
            </a:r>
            <a:endParaRPr lang="en-US" sz="900" dirty="0"/>
          </a:p>
        </p:txBody>
      </p:sp>
      <p:sp>
        <p:nvSpPr>
          <p:cNvPr id="31" name="Text 29"/>
          <p:cNvSpPr/>
          <p:nvPr/>
        </p:nvSpPr>
        <p:spPr>
          <a:xfrm>
            <a:off x="457200" y="6510528"/>
            <a:ext cx="5486400" cy="256032"/>
          </a:xfrm>
          <a:prstGeom prst="rect">
            <a:avLst/>
          </a:prstGeom>
          <a:noFill/>
          <a:ln/>
        </p:spPr>
        <p:txBody>
          <a:bodyPr wrap="square" lIns="0" tIns="0" rIns="0" bIns="0" rtlCol="0" anchor="ctr"/>
          <a:lstStyle/>
          <a:p>
            <a:pPr marL="0" indent="0">
              <a:buNone/>
            </a:pPr>
            <a:r>
              <a:rPr lang="en-US" sz="900" b="1" kern="0" spc="200" dirty="0">
                <a:solidFill>
                  <a:srgbClr val="94A3B8"/>
                </a:solidFill>
                <a:latin typeface="Calibri" pitchFamily="34" charset="0"/>
                <a:ea typeface="Calibri" pitchFamily="34" charset="-122"/>
                <a:cs typeface="Calibri" pitchFamily="34" charset="-120"/>
              </a:rPr>
              <a:t>DATA MINING → AI</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437"/>
        </a:solidFill>
        <a:effectLst/>
      </p:bgPr>
    </p:bg>
    <p:spTree>
      <p:nvGrpSpPr>
        <p:cNvPr id="1" name=""/>
        <p:cNvGrpSpPr/>
        <p:nvPr/>
      </p:nvGrpSpPr>
      <p:grpSpPr>
        <a:xfrm>
          <a:off x="0" y="0"/>
          <a:ext cx="0" cy="0"/>
          <a:chOff x="0" y="0"/>
          <a:chExt cx="0" cy="0"/>
        </a:xfrm>
      </p:grpSpPr>
      <p:sp>
        <p:nvSpPr>
          <p:cNvPr id="2" name="Text 0"/>
          <p:cNvSpPr/>
          <p:nvPr/>
        </p:nvSpPr>
        <p:spPr>
          <a:xfrm>
            <a:off x="457200" y="1828800"/>
            <a:ext cx="4572000" cy="3200400"/>
          </a:xfrm>
          <a:prstGeom prst="rect">
            <a:avLst/>
          </a:prstGeom>
          <a:noFill/>
          <a:ln/>
        </p:spPr>
        <p:txBody>
          <a:bodyPr wrap="square" lIns="0" tIns="0" rIns="0" bIns="0" rtlCol="0" anchor="ctr"/>
          <a:lstStyle/>
          <a:p>
            <a:pPr marL="0" indent="0" algn="l">
              <a:buNone/>
            </a:pPr>
            <a:r>
              <a:rPr lang="en-US" sz="18000" b="1" dirty="0">
                <a:solidFill>
                  <a:srgbClr val="FF6B35"/>
                </a:solidFill>
                <a:latin typeface="Arial Black" pitchFamily="34" charset="0"/>
                <a:ea typeface="Arial Black" pitchFamily="34" charset="-122"/>
                <a:cs typeface="Arial Black" pitchFamily="34" charset="-120"/>
              </a:rPr>
              <a:t>06</a:t>
            </a:r>
            <a:endParaRPr lang="en-US" sz="18000" dirty="0"/>
          </a:p>
        </p:txBody>
      </p:sp>
      <p:sp>
        <p:nvSpPr>
          <p:cNvPr id="3" name="Text 1"/>
          <p:cNvSpPr/>
          <p:nvPr/>
        </p:nvSpPr>
        <p:spPr>
          <a:xfrm>
            <a:off x="5303520" y="2377440"/>
            <a:ext cx="6400800" cy="365760"/>
          </a:xfrm>
          <a:prstGeom prst="rect">
            <a:avLst/>
          </a:prstGeom>
          <a:noFill/>
          <a:ln/>
        </p:spPr>
        <p:txBody>
          <a:bodyPr wrap="square" lIns="0" tIns="0" rIns="0" bIns="0" rtlCol="0" anchor="ctr"/>
          <a:lstStyle/>
          <a:p>
            <a:pPr marL="0" indent="0">
              <a:buNone/>
            </a:pPr>
            <a:r>
              <a:rPr lang="en-US" sz="1300" b="1" kern="0" spc="400" dirty="0">
                <a:solidFill>
                  <a:srgbClr val="22D3EE"/>
                </a:solidFill>
                <a:latin typeface="Calibri" pitchFamily="34" charset="0"/>
                <a:ea typeface="Calibri" pitchFamily="34" charset="-122"/>
                <a:cs typeface="Calibri" pitchFamily="34" charset="-120"/>
              </a:rPr>
              <a:t>YOUR LAUNCHPAD</a:t>
            </a:r>
            <a:endParaRPr lang="en-US" sz="1300" dirty="0"/>
          </a:p>
        </p:txBody>
      </p:sp>
      <p:sp>
        <p:nvSpPr>
          <p:cNvPr id="4" name="Shape 2"/>
          <p:cNvSpPr/>
          <p:nvPr/>
        </p:nvSpPr>
        <p:spPr>
          <a:xfrm>
            <a:off x="5303520" y="2834640"/>
            <a:ext cx="457200" cy="73152"/>
          </a:xfrm>
          <a:prstGeom prst="rect">
            <a:avLst/>
          </a:prstGeom>
          <a:solidFill>
            <a:srgbClr val="FF6B35"/>
          </a:solidFill>
          <a:ln/>
        </p:spPr>
        <p:txBody>
          <a:bodyPr/>
          <a:lstStyle/>
          <a:p>
            <a:endParaRPr lang="en-AE"/>
          </a:p>
        </p:txBody>
      </p:sp>
      <p:sp>
        <p:nvSpPr>
          <p:cNvPr id="5" name="Text 3"/>
          <p:cNvSpPr/>
          <p:nvPr/>
        </p:nvSpPr>
        <p:spPr>
          <a:xfrm>
            <a:off x="5303520" y="3017520"/>
            <a:ext cx="6400800" cy="1828800"/>
          </a:xfrm>
          <a:prstGeom prst="rect">
            <a:avLst/>
          </a:prstGeom>
          <a:noFill/>
          <a:ln/>
        </p:spPr>
        <p:txBody>
          <a:bodyPr wrap="square" lIns="0" tIns="0" rIns="0" bIns="0" rtlCol="0" anchor="ctr"/>
          <a:lstStyle/>
          <a:p>
            <a:pPr marL="0" indent="0">
              <a:buNone/>
            </a:pPr>
            <a:r>
              <a:rPr lang="en-US" sz="4000" b="1" dirty="0">
                <a:solidFill>
                  <a:srgbClr val="FFFFFF"/>
                </a:solidFill>
                <a:latin typeface="Arial Black" pitchFamily="34" charset="0"/>
                <a:ea typeface="Arial Black" pitchFamily="34" charset="-122"/>
                <a:cs typeface="Arial Black" pitchFamily="34" charset="-120"/>
              </a:rPr>
              <a:t>Free courses, student programs,</a:t>
            </a:r>
            <a:endParaRPr lang="en-US" sz="4000" dirty="0"/>
          </a:p>
          <a:p>
            <a:pPr marL="0" indent="0">
              <a:buNone/>
            </a:pPr>
            <a:r>
              <a:rPr lang="en-US" sz="4000" b="1" dirty="0">
                <a:solidFill>
                  <a:srgbClr val="FFFFFF"/>
                </a:solidFill>
                <a:latin typeface="Arial Black" pitchFamily="34" charset="0"/>
                <a:ea typeface="Arial Black" pitchFamily="34" charset="-122"/>
                <a:cs typeface="Arial Black" pitchFamily="34" charset="-120"/>
              </a:rPr>
              <a:t>and the certs that matter.</a:t>
            </a:r>
            <a:endParaRPr lang="en-US" sz="4000" dirty="0"/>
          </a:p>
        </p:txBody>
      </p:sp>
      <p:sp>
        <p:nvSpPr>
          <p:cNvPr id="6" name="Text 4"/>
          <p:cNvSpPr/>
          <p:nvPr/>
        </p:nvSpPr>
        <p:spPr>
          <a:xfrm>
            <a:off x="5303520" y="5120640"/>
            <a:ext cx="6400800" cy="45720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Screenshot this section.</a:t>
            </a:r>
            <a:endParaRPr lang="en-US" sz="1400" dirty="0"/>
          </a:p>
        </p:txBody>
      </p:sp>
      <p:sp>
        <p:nvSpPr>
          <p:cNvPr id="7" name="Text 5"/>
          <p:cNvSpPr/>
          <p:nvPr/>
        </p:nvSpPr>
        <p:spPr>
          <a:xfrm>
            <a:off x="10332720" y="6510528"/>
            <a:ext cx="173736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25 / 32  ·  DATA &amp; AI</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DB2777"/>
          </a:solidFill>
          <a:ln/>
        </p:spPr>
        <p:txBody>
          <a:bodyPr/>
          <a:lstStyle/>
          <a:p>
            <a:endParaRPr lang="en-AE"/>
          </a:p>
        </p:txBody>
      </p:sp>
      <p:sp>
        <p:nvSpPr>
          <p:cNvPr id="3" name="Shape 1"/>
          <p:cNvSpPr/>
          <p:nvPr/>
        </p:nvSpPr>
        <p:spPr>
          <a:xfrm>
            <a:off x="621792" y="457200"/>
            <a:ext cx="54864" cy="128016"/>
          </a:xfrm>
          <a:prstGeom prst="rect">
            <a:avLst/>
          </a:prstGeom>
          <a:solidFill>
            <a:srgbClr val="0B1437"/>
          </a:solidFill>
          <a:ln/>
        </p:spPr>
        <p:txBody>
          <a:bodyPr/>
          <a:lstStyle/>
          <a:p>
            <a:endParaRPr lang="en-AE"/>
          </a:p>
        </p:txBody>
      </p:sp>
      <p:sp>
        <p:nvSpPr>
          <p:cNvPr id="4" name="Text 2"/>
          <p:cNvSpPr/>
          <p:nvPr/>
        </p:nvSpPr>
        <p:spPr>
          <a:xfrm>
            <a:off x="457200" y="685800"/>
            <a:ext cx="11247120" cy="274320"/>
          </a:xfrm>
          <a:prstGeom prst="rect">
            <a:avLst/>
          </a:prstGeom>
          <a:noFill/>
          <a:ln/>
        </p:spPr>
        <p:txBody>
          <a:bodyPr wrap="square" lIns="0" tIns="0" rIns="0" bIns="0" rtlCol="0" anchor="ctr"/>
          <a:lstStyle/>
          <a:p>
            <a:pPr marL="0" indent="0">
              <a:buNone/>
            </a:pPr>
            <a:r>
              <a:rPr lang="en-US" sz="1100" b="1" kern="0" spc="400" dirty="0">
                <a:solidFill>
                  <a:srgbClr val="DB2777"/>
                </a:solidFill>
                <a:latin typeface="Calibri" pitchFamily="34" charset="0"/>
                <a:ea typeface="Calibri" pitchFamily="34" charset="-122"/>
                <a:cs typeface="Calibri" pitchFamily="34" charset="-120"/>
              </a:rPr>
              <a:t>FREE COURSES</a:t>
            </a:r>
            <a:endParaRPr lang="en-US" sz="1100" dirty="0"/>
          </a:p>
        </p:txBody>
      </p:sp>
      <p:sp>
        <p:nvSpPr>
          <p:cNvPr id="5" name="Text 3"/>
          <p:cNvSpPr/>
          <p:nvPr/>
        </p:nvSpPr>
        <p:spPr>
          <a:xfrm>
            <a:off x="457200" y="932688"/>
            <a:ext cx="1124712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Free courses from the OEMs themselves.</a:t>
            </a:r>
            <a:endParaRPr lang="en-US" sz="3000" dirty="0"/>
          </a:p>
        </p:txBody>
      </p:sp>
      <p:sp>
        <p:nvSpPr>
          <p:cNvPr id="6" name="Text 4"/>
          <p:cNvSpPr/>
          <p:nvPr/>
        </p:nvSpPr>
        <p:spPr>
          <a:xfrm>
            <a:off x="457200" y="1572768"/>
            <a:ext cx="11247120" cy="45720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These companies WANT you certified. They give it away. Use them.</a:t>
            </a:r>
            <a:endParaRPr lang="en-US" sz="1300" dirty="0"/>
          </a:p>
        </p:txBody>
      </p:sp>
      <p:sp>
        <p:nvSpPr>
          <p:cNvPr id="7" name="Shape 5"/>
          <p:cNvSpPr/>
          <p:nvPr/>
        </p:nvSpPr>
        <p:spPr>
          <a:xfrm>
            <a:off x="457200" y="1920240"/>
            <a:ext cx="2743200" cy="1920240"/>
          </a:xfrm>
          <a:prstGeom prst="rect">
            <a:avLst/>
          </a:prstGeom>
          <a:solidFill>
            <a:srgbClr val="F8FAFC"/>
          </a:solidFill>
          <a:ln/>
        </p:spPr>
        <p:txBody>
          <a:bodyPr/>
          <a:lstStyle/>
          <a:p>
            <a:endParaRPr lang="en-AE"/>
          </a:p>
        </p:txBody>
      </p:sp>
      <p:sp>
        <p:nvSpPr>
          <p:cNvPr id="8" name="Shape 6"/>
          <p:cNvSpPr/>
          <p:nvPr/>
        </p:nvSpPr>
        <p:spPr>
          <a:xfrm>
            <a:off x="457200" y="1920240"/>
            <a:ext cx="2743200" cy="73152"/>
          </a:xfrm>
          <a:prstGeom prst="rect">
            <a:avLst/>
          </a:prstGeom>
          <a:solidFill>
            <a:srgbClr val="FF6B35"/>
          </a:solidFill>
          <a:ln/>
        </p:spPr>
        <p:txBody>
          <a:bodyPr/>
          <a:lstStyle/>
          <a:p>
            <a:endParaRPr lang="en-AE"/>
          </a:p>
        </p:txBody>
      </p:sp>
      <p:sp>
        <p:nvSpPr>
          <p:cNvPr id="9" name="Text 7"/>
          <p:cNvSpPr/>
          <p:nvPr/>
        </p:nvSpPr>
        <p:spPr>
          <a:xfrm>
            <a:off x="594360" y="2057400"/>
            <a:ext cx="2468880" cy="274320"/>
          </a:xfrm>
          <a:prstGeom prst="rect">
            <a:avLst/>
          </a:prstGeom>
          <a:noFill/>
          <a:ln/>
        </p:spPr>
        <p:txBody>
          <a:bodyPr wrap="square" lIns="0" tIns="0" rIns="0" bIns="0" rtlCol="0" anchor="ctr"/>
          <a:lstStyle/>
          <a:p>
            <a:pPr marL="0" indent="0">
              <a:buNone/>
            </a:pPr>
            <a:r>
              <a:rPr lang="en-US" sz="1050" b="1" kern="0" spc="200" dirty="0">
                <a:solidFill>
                  <a:srgbClr val="FF6B35"/>
                </a:solidFill>
                <a:latin typeface="Arial Black" pitchFamily="34" charset="0"/>
                <a:ea typeface="Arial Black" pitchFamily="34" charset="-122"/>
                <a:cs typeface="Arial Black" pitchFamily="34" charset="-120"/>
              </a:rPr>
              <a:t>DATABRICKS</a:t>
            </a:r>
            <a:endParaRPr lang="en-US" sz="1050" dirty="0"/>
          </a:p>
        </p:txBody>
      </p:sp>
      <p:sp>
        <p:nvSpPr>
          <p:cNvPr id="10" name="Text 8"/>
          <p:cNvSpPr/>
          <p:nvPr/>
        </p:nvSpPr>
        <p:spPr>
          <a:xfrm>
            <a:off x="594360" y="2331720"/>
            <a:ext cx="2468880" cy="32004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Databricks Academy</a:t>
            </a:r>
            <a:endParaRPr lang="en-US" sz="1400" dirty="0"/>
          </a:p>
        </p:txBody>
      </p:sp>
      <p:sp>
        <p:nvSpPr>
          <p:cNvPr id="11" name="Text 9"/>
          <p:cNvSpPr/>
          <p:nvPr/>
        </p:nvSpPr>
        <p:spPr>
          <a:xfrm>
            <a:off x="594360" y="2670048"/>
            <a:ext cx="2468880" cy="59436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Lakehouse, Spark, Delta, </a:t>
            </a:r>
            <a:r>
              <a:rPr lang="en-US" sz="1050" dirty="0" err="1">
                <a:solidFill>
                  <a:srgbClr val="1E293B"/>
                </a:solidFill>
                <a:latin typeface="Calibri" pitchFamily="34" charset="0"/>
                <a:ea typeface="Calibri" pitchFamily="34" charset="-122"/>
                <a:cs typeface="Calibri" pitchFamily="34" charset="-120"/>
              </a:rPr>
              <a:t>MLflow</a:t>
            </a:r>
            <a:r>
              <a:rPr lang="en-US" sz="1050" dirty="0">
                <a:solidFill>
                  <a:srgbClr val="1E293B"/>
                </a:solidFill>
                <a:latin typeface="Calibri" pitchFamily="34" charset="0"/>
                <a:ea typeface="Calibri" pitchFamily="34" charset="-122"/>
                <a:cs typeface="Calibri" pitchFamily="34" charset="-120"/>
              </a:rPr>
              <a:t> all free</a:t>
            </a:r>
            <a:endParaRPr lang="en-US" sz="1050" dirty="0"/>
          </a:p>
        </p:txBody>
      </p:sp>
      <p:sp>
        <p:nvSpPr>
          <p:cNvPr id="12" name="Text 10"/>
          <p:cNvSpPr/>
          <p:nvPr/>
        </p:nvSpPr>
        <p:spPr>
          <a:xfrm>
            <a:off x="594360" y="3429000"/>
            <a:ext cx="2468880" cy="274320"/>
          </a:xfrm>
          <a:prstGeom prst="rect">
            <a:avLst/>
          </a:prstGeom>
          <a:noFill/>
          <a:ln/>
        </p:spPr>
        <p:txBody>
          <a:bodyPr wrap="square" lIns="0" tIns="0" rIns="0" bIns="0" rtlCol="0" anchor="ctr"/>
          <a:lstStyle/>
          <a:p>
            <a:pPr marL="0" indent="0">
              <a:buNone/>
            </a:pPr>
            <a:r>
              <a:rPr lang="en-US" sz="950" b="1" dirty="0">
                <a:solidFill>
                  <a:srgbClr val="FF6B35"/>
                </a:solidFill>
                <a:latin typeface="Consolas" pitchFamily="34" charset="0"/>
                <a:ea typeface="Consolas" pitchFamily="34" charset="-122"/>
                <a:cs typeface="Consolas" pitchFamily="34" charset="-120"/>
              </a:rPr>
              <a:t>customer-academy.databricks.com</a:t>
            </a:r>
            <a:endParaRPr lang="en-US" sz="950" dirty="0"/>
          </a:p>
        </p:txBody>
      </p:sp>
      <p:sp>
        <p:nvSpPr>
          <p:cNvPr id="13" name="Shape 11"/>
          <p:cNvSpPr/>
          <p:nvPr/>
        </p:nvSpPr>
        <p:spPr>
          <a:xfrm>
            <a:off x="3291840" y="1920240"/>
            <a:ext cx="2743200" cy="1920240"/>
          </a:xfrm>
          <a:prstGeom prst="rect">
            <a:avLst/>
          </a:prstGeom>
          <a:solidFill>
            <a:srgbClr val="F8FAFC"/>
          </a:solidFill>
          <a:ln/>
        </p:spPr>
        <p:txBody>
          <a:bodyPr/>
          <a:lstStyle/>
          <a:p>
            <a:endParaRPr lang="en-AE"/>
          </a:p>
        </p:txBody>
      </p:sp>
      <p:sp>
        <p:nvSpPr>
          <p:cNvPr id="14" name="Shape 12"/>
          <p:cNvSpPr/>
          <p:nvPr/>
        </p:nvSpPr>
        <p:spPr>
          <a:xfrm>
            <a:off x="3291840" y="1920240"/>
            <a:ext cx="2743200" cy="73152"/>
          </a:xfrm>
          <a:prstGeom prst="rect">
            <a:avLst/>
          </a:prstGeom>
          <a:solidFill>
            <a:srgbClr val="22D3EE"/>
          </a:solidFill>
          <a:ln/>
        </p:spPr>
        <p:txBody>
          <a:bodyPr/>
          <a:lstStyle/>
          <a:p>
            <a:endParaRPr lang="en-AE"/>
          </a:p>
        </p:txBody>
      </p:sp>
      <p:sp>
        <p:nvSpPr>
          <p:cNvPr id="15" name="Text 13"/>
          <p:cNvSpPr/>
          <p:nvPr/>
        </p:nvSpPr>
        <p:spPr>
          <a:xfrm>
            <a:off x="3429000" y="2057400"/>
            <a:ext cx="2468880" cy="274320"/>
          </a:xfrm>
          <a:prstGeom prst="rect">
            <a:avLst/>
          </a:prstGeom>
          <a:noFill/>
          <a:ln/>
        </p:spPr>
        <p:txBody>
          <a:bodyPr wrap="square" lIns="0" tIns="0" rIns="0" bIns="0" rtlCol="0" anchor="ctr"/>
          <a:lstStyle/>
          <a:p>
            <a:pPr marL="0" indent="0">
              <a:buNone/>
            </a:pPr>
            <a:r>
              <a:rPr lang="en-US" sz="1050" b="1" kern="0" spc="200" dirty="0">
                <a:solidFill>
                  <a:srgbClr val="22D3EE"/>
                </a:solidFill>
                <a:latin typeface="Arial Black" pitchFamily="34" charset="0"/>
                <a:ea typeface="Arial Black" pitchFamily="34" charset="-122"/>
                <a:cs typeface="Arial Black" pitchFamily="34" charset="-120"/>
              </a:rPr>
              <a:t>SNOWFLAKE</a:t>
            </a:r>
            <a:endParaRPr lang="en-US" sz="1050" dirty="0"/>
          </a:p>
        </p:txBody>
      </p:sp>
      <p:sp>
        <p:nvSpPr>
          <p:cNvPr id="16" name="Text 14"/>
          <p:cNvSpPr/>
          <p:nvPr/>
        </p:nvSpPr>
        <p:spPr>
          <a:xfrm>
            <a:off x="3429000" y="2331720"/>
            <a:ext cx="2468880" cy="32004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Snowflake University</a:t>
            </a:r>
            <a:endParaRPr lang="en-US" sz="1400" dirty="0"/>
          </a:p>
        </p:txBody>
      </p:sp>
      <p:sp>
        <p:nvSpPr>
          <p:cNvPr id="17" name="Text 15"/>
          <p:cNvSpPr/>
          <p:nvPr/>
        </p:nvSpPr>
        <p:spPr>
          <a:xfrm>
            <a:off x="3429000" y="2670048"/>
            <a:ext cx="2468880" cy="59436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Zero-to-hero SQL + warehouse fundamentals</a:t>
            </a:r>
            <a:endParaRPr lang="en-US" sz="1050" dirty="0"/>
          </a:p>
        </p:txBody>
      </p:sp>
      <p:sp>
        <p:nvSpPr>
          <p:cNvPr id="18" name="Text 16"/>
          <p:cNvSpPr/>
          <p:nvPr/>
        </p:nvSpPr>
        <p:spPr>
          <a:xfrm>
            <a:off x="3429000" y="3429000"/>
            <a:ext cx="2468880" cy="274320"/>
          </a:xfrm>
          <a:prstGeom prst="rect">
            <a:avLst/>
          </a:prstGeom>
          <a:noFill/>
          <a:ln/>
        </p:spPr>
        <p:txBody>
          <a:bodyPr wrap="square" lIns="0" tIns="0" rIns="0" bIns="0" rtlCol="0" anchor="ctr"/>
          <a:lstStyle/>
          <a:p>
            <a:pPr marL="0" indent="0">
              <a:buNone/>
            </a:pPr>
            <a:r>
              <a:rPr lang="en-US" sz="950" b="1" dirty="0">
                <a:solidFill>
                  <a:srgbClr val="22D3EE"/>
                </a:solidFill>
                <a:latin typeface="Consolas" pitchFamily="34" charset="0"/>
                <a:ea typeface="Consolas" pitchFamily="34" charset="-122"/>
                <a:cs typeface="Consolas" pitchFamily="34" charset="-120"/>
              </a:rPr>
              <a:t>learn.snowflake.com</a:t>
            </a:r>
            <a:endParaRPr lang="en-US" sz="950" dirty="0"/>
          </a:p>
        </p:txBody>
      </p:sp>
      <p:sp>
        <p:nvSpPr>
          <p:cNvPr id="19" name="Shape 17"/>
          <p:cNvSpPr/>
          <p:nvPr/>
        </p:nvSpPr>
        <p:spPr>
          <a:xfrm>
            <a:off x="6126480" y="1920240"/>
            <a:ext cx="2743200" cy="1920240"/>
          </a:xfrm>
          <a:prstGeom prst="rect">
            <a:avLst/>
          </a:prstGeom>
          <a:solidFill>
            <a:srgbClr val="F8FAFC"/>
          </a:solidFill>
          <a:ln/>
        </p:spPr>
        <p:txBody>
          <a:bodyPr/>
          <a:lstStyle/>
          <a:p>
            <a:endParaRPr lang="en-AE"/>
          </a:p>
        </p:txBody>
      </p:sp>
      <p:sp>
        <p:nvSpPr>
          <p:cNvPr id="20" name="Shape 18"/>
          <p:cNvSpPr/>
          <p:nvPr/>
        </p:nvSpPr>
        <p:spPr>
          <a:xfrm>
            <a:off x="6126480" y="1920240"/>
            <a:ext cx="2743200" cy="73152"/>
          </a:xfrm>
          <a:prstGeom prst="rect">
            <a:avLst/>
          </a:prstGeom>
          <a:solidFill>
            <a:srgbClr val="0891B2"/>
          </a:solidFill>
          <a:ln/>
        </p:spPr>
        <p:txBody>
          <a:bodyPr/>
          <a:lstStyle/>
          <a:p>
            <a:endParaRPr lang="en-AE"/>
          </a:p>
        </p:txBody>
      </p:sp>
      <p:sp>
        <p:nvSpPr>
          <p:cNvPr id="21" name="Text 19"/>
          <p:cNvSpPr/>
          <p:nvPr/>
        </p:nvSpPr>
        <p:spPr>
          <a:xfrm>
            <a:off x="6263640" y="2057400"/>
            <a:ext cx="2468880" cy="274320"/>
          </a:xfrm>
          <a:prstGeom prst="rect">
            <a:avLst/>
          </a:prstGeom>
          <a:noFill/>
          <a:ln/>
        </p:spPr>
        <p:txBody>
          <a:bodyPr wrap="square" lIns="0" tIns="0" rIns="0" bIns="0" rtlCol="0" anchor="ctr"/>
          <a:lstStyle/>
          <a:p>
            <a:pPr marL="0" indent="0">
              <a:buNone/>
            </a:pPr>
            <a:r>
              <a:rPr lang="en-US" sz="1050" b="1" kern="0" spc="200" dirty="0">
                <a:solidFill>
                  <a:srgbClr val="0891B2"/>
                </a:solidFill>
                <a:latin typeface="Arial Black" pitchFamily="34" charset="0"/>
                <a:ea typeface="Arial Black" pitchFamily="34" charset="-122"/>
                <a:cs typeface="Arial Black" pitchFamily="34" charset="-120"/>
              </a:rPr>
              <a:t>MICROSOFT</a:t>
            </a:r>
            <a:endParaRPr lang="en-US" sz="1050" dirty="0"/>
          </a:p>
        </p:txBody>
      </p:sp>
      <p:sp>
        <p:nvSpPr>
          <p:cNvPr id="22" name="Text 20"/>
          <p:cNvSpPr/>
          <p:nvPr/>
        </p:nvSpPr>
        <p:spPr>
          <a:xfrm>
            <a:off x="6263640" y="2331720"/>
            <a:ext cx="2468880" cy="32004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Learn · Fabric / Azure</a:t>
            </a:r>
            <a:endParaRPr lang="en-US" sz="1400" dirty="0"/>
          </a:p>
        </p:txBody>
      </p:sp>
      <p:sp>
        <p:nvSpPr>
          <p:cNvPr id="23" name="Text 21"/>
          <p:cNvSpPr/>
          <p:nvPr/>
        </p:nvSpPr>
        <p:spPr>
          <a:xfrm>
            <a:off x="6263640" y="2670048"/>
            <a:ext cx="2468880" cy="59436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DP-203, DP-600, AI-900 prep free</a:t>
            </a:r>
            <a:endParaRPr lang="en-US" sz="1050" dirty="0"/>
          </a:p>
        </p:txBody>
      </p:sp>
      <p:sp>
        <p:nvSpPr>
          <p:cNvPr id="24" name="Text 22"/>
          <p:cNvSpPr/>
          <p:nvPr/>
        </p:nvSpPr>
        <p:spPr>
          <a:xfrm>
            <a:off x="6263640" y="3429000"/>
            <a:ext cx="2468880" cy="274320"/>
          </a:xfrm>
          <a:prstGeom prst="rect">
            <a:avLst/>
          </a:prstGeom>
          <a:noFill/>
          <a:ln/>
        </p:spPr>
        <p:txBody>
          <a:bodyPr wrap="square" lIns="0" tIns="0" rIns="0" bIns="0" rtlCol="0" anchor="ctr"/>
          <a:lstStyle/>
          <a:p>
            <a:pPr marL="0" indent="0">
              <a:buNone/>
            </a:pPr>
            <a:r>
              <a:rPr lang="en-US" sz="950" b="1" dirty="0">
                <a:solidFill>
                  <a:srgbClr val="0891B2"/>
                </a:solidFill>
                <a:latin typeface="Consolas" pitchFamily="34" charset="0"/>
                <a:ea typeface="Consolas" pitchFamily="34" charset="-122"/>
                <a:cs typeface="Consolas" pitchFamily="34" charset="-120"/>
              </a:rPr>
              <a:t>learn.microsoft.com</a:t>
            </a:r>
            <a:endParaRPr lang="en-US" sz="950" dirty="0"/>
          </a:p>
        </p:txBody>
      </p:sp>
      <p:sp>
        <p:nvSpPr>
          <p:cNvPr id="25" name="Shape 23"/>
          <p:cNvSpPr/>
          <p:nvPr/>
        </p:nvSpPr>
        <p:spPr>
          <a:xfrm>
            <a:off x="8961120" y="1920240"/>
            <a:ext cx="2743200" cy="1920240"/>
          </a:xfrm>
          <a:prstGeom prst="rect">
            <a:avLst/>
          </a:prstGeom>
          <a:solidFill>
            <a:srgbClr val="F8FAFC"/>
          </a:solidFill>
          <a:ln/>
        </p:spPr>
        <p:txBody>
          <a:bodyPr/>
          <a:lstStyle/>
          <a:p>
            <a:endParaRPr lang="en-AE"/>
          </a:p>
        </p:txBody>
      </p:sp>
      <p:sp>
        <p:nvSpPr>
          <p:cNvPr id="26" name="Shape 24"/>
          <p:cNvSpPr/>
          <p:nvPr/>
        </p:nvSpPr>
        <p:spPr>
          <a:xfrm>
            <a:off x="8961120" y="1920240"/>
            <a:ext cx="2743200" cy="73152"/>
          </a:xfrm>
          <a:prstGeom prst="rect">
            <a:avLst/>
          </a:prstGeom>
          <a:solidFill>
            <a:srgbClr val="F59E0B"/>
          </a:solidFill>
          <a:ln/>
        </p:spPr>
        <p:txBody>
          <a:bodyPr/>
          <a:lstStyle/>
          <a:p>
            <a:endParaRPr lang="en-AE"/>
          </a:p>
        </p:txBody>
      </p:sp>
      <p:sp>
        <p:nvSpPr>
          <p:cNvPr id="27" name="Text 25"/>
          <p:cNvSpPr/>
          <p:nvPr/>
        </p:nvSpPr>
        <p:spPr>
          <a:xfrm>
            <a:off x="9098280" y="2057400"/>
            <a:ext cx="2468880" cy="274320"/>
          </a:xfrm>
          <a:prstGeom prst="rect">
            <a:avLst/>
          </a:prstGeom>
          <a:noFill/>
          <a:ln/>
        </p:spPr>
        <p:txBody>
          <a:bodyPr wrap="square" lIns="0" tIns="0" rIns="0" bIns="0" rtlCol="0" anchor="ctr"/>
          <a:lstStyle/>
          <a:p>
            <a:pPr marL="0" indent="0">
              <a:buNone/>
            </a:pPr>
            <a:r>
              <a:rPr lang="en-US" sz="1050" b="1" kern="0" spc="200" dirty="0">
                <a:solidFill>
                  <a:srgbClr val="F59E0B"/>
                </a:solidFill>
                <a:latin typeface="Arial Black" pitchFamily="34" charset="0"/>
                <a:ea typeface="Arial Black" pitchFamily="34" charset="-122"/>
                <a:cs typeface="Arial Black" pitchFamily="34" charset="-120"/>
              </a:rPr>
              <a:t>GOOGLE CLOUD</a:t>
            </a:r>
            <a:endParaRPr lang="en-US" sz="1050" dirty="0"/>
          </a:p>
        </p:txBody>
      </p:sp>
      <p:sp>
        <p:nvSpPr>
          <p:cNvPr id="28" name="Text 26"/>
          <p:cNvSpPr/>
          <p:nvPr/>
        </p:nvSpPr>
        <p:spPr>
          <a:xfrm>
            <a:off x="9098280" y="2331720"/>
            <a:ext cx="2468880" cy="32004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Cloud Skills Boost</a:t>
            </a:r>
            <a:endParaRPr lang="en-US" sz="1400" dirty="0"/>
          </a:p>
        </p:txBody>
      </p:sp>
      <p:sp>
        <p:nvSpPr>
          <p:cNvPr id="29" name="Text 27"/>
          <p:cNvSpPr/>
          <p:nvPr/>
        </p:nvSpPr>
        <p:spPr>
          <a:xfrm>
            <a:off x="9098280" y="2670048"/>
            <a:ext cx="2468880" cy="59436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BigQuery, Dataproc, Vertex AI labs</a:t>
            </a:r>
            <a:endParaRPr lang="en-US" sz="1050" dirty="0"/>
          </a:p>
        </p:txBody>
      </p:sp>
      <p:sp>
        <p:nvSpPr>
          <p:cNvPr id="30" name="Text 28"/>
          <p:cNvSpPr/>
          <p:nvPr/>
        </p:nvSpPr>
        <p:spPr>
          <a:xfrm>
            <a:off x="9098280" y="3429000"/>
            <a:ext cx="2468880" cy="274320"/>
          </a:xfrm>
          <a:prstGeom prst="rect">
            <a:avLst/>
          </a:prstGeom>
          <a:noFill/>
          <a:ln/>
        </p:spPr>
        <p:txBody>
          <a:bodyPr wrap="square" lIns="0" tIns="0" rIns="0" bIns="0" rtlCol="0" anchor="ctr"/>
          <a:lstStyle/>
          <a:p>
            <a:pPr marL="0" indent="0">
              <a:buNone/>
            </a:pPr>
            <a:r>
              <a:rPr lang="en-US" sz="950" b="1" dirty="0">
                <a:solidFill>
                  <a:srgbClr val="F59E0B"/>
                </a:solidFill>
                <a:latin typeface="Consolas" pitchFamily="34" charset="0"/>
                <a:ea typeface="Consolas" pitchFamily="34" charset="-122"/>
                <a:cs typeface="Consolas" pitchFamily="34" charset="-120"/>
              </a:rPr>
              <a:t>cloudskillsboost.google</a:t>
            </a:r>
            <a:endParaRPr lang="en-US" sz="950" dirty="0"/>
          </a:p>
        </p:txBody>
      </p:sp>
      <p:sp>
        <p:nvSpPr>
          <p:cNvPr id="31" name="Shape 29"/>
          <p:cNvSpPr/>
          <p:nvPr/>
        </p:nvSpPr>
        <p:spPr>
          <a:xfrm>
            <a:off x="457200" y="3977640"/>
            <a:ext cx="2743200" cy="1920240"/>
          </a:xfrm>
          <a:prstGeom prst="rect">
            <a:avLst/>
          </a:prstGeom>
          <a:solidFill>
            <a:srgbClr val="F8FAFC"/>
          </a:solidFill>
          <a:ln/>
        </p:spPr>
        <p:txBody>
          <a:bodyPr/>
          <a:lstStyle/>
          <a:p>
            <a:endParaRPr lang="en-AE"/>
          </a:p>
        </p:txBody>
      </p:sp>
      <p:sp>
        <p:nvSpPr>
          <p:cNvPr id="32" name="Shape 30"/>
          <p:cNvSpPr/>
          <p:nvPr/>
        </p:nvSpPr>
        <p:spPr>
          <a:xfrm>
            <a:off x="457200" y="3977640"/>
            <a:ext cx="2743200" cy="73152"/>
          </a:xfrm>
          <a:prstGeom prst="rect">
            <a:avLst/>
          </a:prstGeom>
          <a:solidFill>
            <a:srgbClr val="E04E1A"/>
          </a:solidFill>
          <a:ln/>
        </p:spPr>
        <p:txBody>
          <a:bodyPr/>
          <a:lstStyle/>
          <a:p>
            <a:endParaRPr lang="en-AE"/>
          </a:p>
        </p:txBody>
      </p:sp>
      <p:sp>
        <p:nvSpPr>
          <p:cNvPr id="33" name="Text 31"/>
          <p:cNvSpPr/>
          <p:nvPr/>
        </p:nvSpPr>
        <p:spPr>
          <a:xfrm>
            <a:off x="594360" y="4114800"/>
            <a:ext cx="2468880" cy="274320"/>
          </a:xfrm>
          <a:prstGeom prst="rect">
            <a:avLst/>
          </a:prstGeom>
          <a:noFill/>
          <a:ln/>
        </p:spPr>
        <p:txBody>
          <a:bodyPr wrap="square" lIns="0" tIns="0" rIns="0" bIns="0" rtlCol="0" anchor="ctr"/>
          <a:lstStyle/>
          <a:p>
            <a:pPr marL="0" indent="0">
              <a:buNone/>
            </a:pPr>
            <a:r>
              <a:rPr lang="en-US" sz="1050" b="1" kern="0" spc="200" dirty="0">
                <a:solidFill>
                  <a:srgbClr val="E04E1A"/>
                </a:solidFill>
                <a:latin typeface="Arial Black" pitchFamily="34" charset="0"/>
                <a:ea typeface="Arial Black" pitchFamily="34" charset="-122"/>
                <a:cs typeface="Arial Black" pitchFamily="34" charset="-120"/>
              </a:rPr>
              <a:t>AWS</a:t>
            </a:r>
            <a:endParaRPr lang="en-US" sz="1050" dirty="0"/>
          </a:p>
        </p:txBody>
      </p:sp>
      <p:sp>
        <p:nvSpPr>
          <p:cNvPr id="34" name="Text 32"/>
          <p:cNvSpPr/>
          <p:nvPr/>
        </p:nvSpPr>
        <p:spPr>
          <a:xfrm>
            <a:off x="594360" y="4389120"/>
            <a:ext cx="2468880" cy="32004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AWS Skill Builder</a:t>
            </a:r>
            <a:endParaRPr lang="en-US" sz="1400" dirty="0"/>
          </a:p>
        </p:txBody>
      </p:sp>
      <p:sp>
        <p:nvSpPr>
          <p:cNvPr id="35" name="Text 33"/>
          <p:cNvSpPr/>
          <p:nvPr/>
        </p:nvSpPr>
        <p:spPr>
          <a:xfrm>
            <a:off x="594360" y="4727448"/>
            <a:ext cx="2468880" cy="59436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Redshift, Glue, SageMaker fundamentals</a:t>
            </a:r>
            <a:endParaRPr lang="en-US" sz="1050" dirty="0"/>
          </a:p>
        </p:txBody>
      </p:sp>
      <p:sp>
        <p:nvSpPr>
          <p:cNvPr id="36" name="Text 34"/>
          <p:cNvSpPr/>
          <p:nvPr/>
        </p:nvSpPr>
        <p:spPr>
          <a:xfrm>
            <a:off x="594360" y="5486400"/>
            <a:ext cx="2468880" cy="274320"/>
          </a:xfrm>
          <a:prstGeom prst="rect">
            <a:avLst/>
          </a:prstGeom>
          <a:noFill/>
          <a:ln/>
        </p:spPr>
        <p:txBody>
          <a:bodyPr wrap="square" lIns="0" tIns="0" rIns="0" bIns="0" rtlCol="0" anchor="ctr"/>
          <a:lstStyle/>
          <a:p>
            <a:pPr marL="0" indent="0">
              <a:buNone/>
            </a:pPr>
            <a:r>
              <a:rPr lang="en-US" sz="950" b="1" dirty="0">
                <a:solidFill>
                  <a:srgbClr val="E04E1A"/>
                </a:solidFill>
                <a:latin typeface="Consolas" pitchFamily="34" charset="0"/>
                <a:ea typeface="Consolas" pitchFamily="34" charset="-122"/>
                <a:cs typeface="Consolas" pitchFamily="34" charset="-120"/>
              </a:rPr>
              <a:t>skillbuilder.aws</a:t>
            </a:r>
            <a:endParaRPr lang="en-US" sz="950" dirty="0"/>
          </a:p>
        </p:txBody>
      </p:sp>
      <p:sp>
        <p:nvSpPr>
          <p:cNvPr id="37" name="Shape 35"/>
          <p:cNvSpPr/>
          <p:nvPr/>
        </p:nvSpPr>
        <p:spPr>
          <a:xfrm>
            <a:off x="3291840" y="3977640"/>
            <a:ext cx="2743200" cy="1920240"/>
          </a:xfrm>
          <a:prstGeom prst="rect">
            <a:avLst/>
          </a:prstGeom>
          <a:solidFill>
            <a:srgbClr val="F8FAFC"/>
          </a:solidFill>
          <a:ln/>
        </p:spPr>
        <p:txBody>
          <a:bodyPr/>
          <a:lstStyle/>
          <a:p>
            <a:endParaRPr lang="en-AE"/>
          </a:p>
        </p:txBody>
      </p:sp>
      <p:sp>
        <p:nvSpPr>
          <p:cNvPr id="38" name="Shape 36"/>
          <p:cNvSpPr/>
          <p:nvPr/>
        </p:nvSpPr>
        <p:spPr>
          <a:xfrm>
            <a:off x="3291840" y="3977640"/>
            <a:ext cx="2743200" cy="73152"/>
          </a:xfrm>
          <a:prstGeom prst="rect">
            <a:avLst/>
          </a:prstGeom>
          <a:solidFill>
            <a:srgbClr val="10B981"/>
          </a:solidFill>
          <a:ln/>
        </p:spPr>
        <p:txBody>
          <a:bodyPr/>
          <a:lstStyle/>
          <a:p>
            <a:endParaRPr lang="en-AE"/>
          </a:p>
        </p:txBody>
      </p:sp>
      <p:sp>
        <p:nvSpPr>
          <p:cNvPr id="39" name="Text 37"/>
          <p:cNvSpPr/>
          <p:nvPr/>
        </p:nvSpPr>
        <p:spPr>
          <a:xfrm>
            <a:off x="3429000" y="4114800"/>
            <a:ext cx="2468880" cy="274320"/>
          </a:xfrm>
          <a:prstGeom prst="rect">
            <a:avLst/>
          </a:prstGeom>
          <a:noFill/>
          <a:ln/>
        </p:spPr>
        <p:txBody>
          <a:bodyPr wrap="square" lIns="0" tIns="0" rIns="0" bIns="0" rtlCol="0" anchor="ctr"/>
          <a:lstStyle/>
          <a:p>
            <a:pPr marL="0" indent="0">
              <a:buNone/>
            </a:pPr>
            <a:r>
              <a:rPr lang="en-US" sz="1050" b="1" kern="0" spc="200" dirty="0">
                <a:solidFill>
                  <a:srgbClr val="10B981"/>
                </a:solidFill>
                <a:latin typeface="Arial Black" pitchFamily="34" charset="0"/>
                <a:ea typeface="Arial Black" pitchFamily="34" charset="-122"/>
                <a:cs typeface="Arial Black" pitchFamily="34" charset="-120"/>
              </a:rPr>
              <a:t>NVIDIA</a:t>
            </a:r>
            <a:endParaRPr lang="en-US" sz="1050" dirty="0"/>
          </a:p>
        </p:txBody>
      </p:sp>
      <p:sp>
        <p:nvSpPr>
          <p:cNvPr id="40" name="Text 38"/>
          <p:cNvSpPr/>
          <p:nvPr/>
        </p:nvSpPr>
        <p:spPr>
          <a:xfrm>
            <a:off x="3429000" y="4389120"/>
            <a:ext cx="2468880" cy="32004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Deep Learning Institute</a:t>
            </a:r>
            <a:endParaRPr lang="en-US" sz="1400" dirty="0"/>
          </a:p>
        </p:txBody>
      </p:sp>
      <p:sp>
        <p:nvSpPr>
          <p:cNvPr id="41" name="Text 39"/>
          <p:cNvSpPr/>
          <p:nvPr/>
        </p:nvSpPr>
        <p:spPr>
          <a:xfrm>
            <a:off x="3429000" y="4727448"/>
            <a:ext cx="2468880" cy="59436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GPU computing, LLMs, RAG, Triton</a:t>
            </a:r>
            <a:endParaRPr lang="en-US" sz="1050" dirty="0"/>
          </a:p>
        </p:txBody>
      </p:sp>
      <p:sp>
        <p:nvSpPr>
          <p:cNvPr id="42" name="Text 40"/>
          <p:cNvSpPr/>
          <p:nvPr/>
        </p:nvSpPr>
        <p:spPr>
          <a:xfrm>
            <a:off x="3429000" y="5486400"/>
            <a:ext cx="2468880" cy="274320"/>
          </a:xfrm>
          <a:prstGeom prst="rect">
            <a:avLst/>
          </a:prstGeom>
          <a:noFill/>
          <a:ln/>
        </p:spPr>
        <p:txBody>
          <a:bodyPr wrap="square" lIns="0" tIns="0" rIns="0" bIns="0" rtlCol="0" anchor="ctr"/>
          <a:lstStyle/>
          <a:p>
            <a:pPr marL="0" indent="0">
              <a:buNone/>
            </a:pPr>
            <a:r>
              <a:rPr lang="en-US" sz="950" b="1" dirty="0">
                <a:solidFill>
                  <a:srgbClr val="10B981"/>
                </a:solidFill>
                <a:latin typeface="Consolas" pitchFamily="34" charset="0"/>
                <a:ea typeface="Consolas" pitchFamily="34" charset="-122"/>
                <a:cs typeface="Consolas" pitchFamily="34" charset="-120"/>
              </a:rPr>
              <a:t>nvidia.com/dli</a:t>
            </a:r>
            <a:endParaRPr lang="en-US" sz="950" dirty="0"/>
          </a:p>
        </p:txBody>
      </p:sp>
      <p:sp>
        <p:nvSpPr>
          <p:cNvPr id="43" name="Shape 41"/>
          <p:cNvSpPr/>
          <p:nvPr/>
        </p:nvSpPr>
        <p:spPr>
          <a:xfrm>
            <a:off x="6126480" y="3977640"/>
            <a:ext cx="2743200" cy="1920240"/>
          </a:xfrm>
          <a:prstGeom prst="rect">
            <a:avLst/>
          </a:prstGeom>
          <a:solidFill>
            <a:srgbClr val="F8FAFC"/>
          </a:solidFill>
          <a:ln/>
        </p:spPr>
        <p:txBody>
          <a:bodyPr/>
          <a:lstStyle/>
          <a:p>
            <a:endParaRPr lang="en-AE"/>
          </a:p>
        </p:txBody>
      </p:sp>
      <p:sp>
        <p:nvSpPr>
          <p:cNvPr id="44" name="Shape 42"/>
          <p:cNvSpPr/>
          <p:nvPr/>
        </p:nvSpPr>
        <p:spPr>
          <a:xfrm>
            <a:off x="6126480" y="3977640"/>
            <a:ext cx="2743200" cy="73152"/>
          </a:xfrm>
          <a:prstGeom prst="rect">
            <a:avLst/>
          </a:prstGeom>
          <a:solidFill>
            <a:srgbClr val="D97706"/>
          </a:solidFill>
          <a:ln/>
        </p:spPr>
        <p:txBody>
          <a:bodyPr/>
          <a:lstStyle/>
          <a:p>
            <a:endParaRPr lang="en-AE"/>
          </a:p>
        </p:txBody>
      </p:sp>
      <p:sp>
        <p:nvSpPr>
          <p:cNvPr id="45" name="Text 43"/>
          <p:cNvSpPr/>
          <p:nvPr/>
        </p:nvSpPr>
        <p:spPr>
          <a:xfrm>
            <a:off x="6263640" y="4114800"/>
            <a:ext cx="2468880" cy="274320"/>
          </a:xfrm>
          <a:prstGeom prst="rect">
            <a:avLst/>
          </a:prstGeom>
          <a:noFill/>
          <a:ln/>
        </p:spPr>
        <p:txBody>
          <a:bodyPr wrap="square" lIns="0" tIns="0" rIns="0" bIns="0" rtlCol="0" anchor="ctr"/>
          <a:lstStyle/>
          <a:p>
            <a:pPr marL="0" indent="0">
              <a:buNone/>
            </a:pPr>
            <a:r>
              <a:rPr lang="en-US" sz="1050" b="1" kern="0" spc="200" dirty="0">
                <a:solidFill>
                  <a:srgbClr val="D97706"/>
                </a:solidFill>
                <a:latin typeface="Arial Black" pitchFamily="34" charset="0"/>
                <a:ea typeface="Arial Black" pitchFamily="34" charset="-122"/>
                <a:cs typeface="Arial Black" pitchFamily="34" charset="-120"/>
              </a:rPr>
              <a:t>HUGGING FACE</a:t>
            </a:r>
            <a:endParaRPr lang="en-US" sz="1050" dirty="0"/>
          </a:p>
        </p:txBody>
      </p:sp>
      <p:sp>
        <p:nvSpPr>
          <p:cNvPr id="46" name="Text 44"/>
          <p:cNvSpPr/>
          <p:nvPr/>
        </p:nvSpPr>
        <p:spPr>
          <a:xfrm>
            <a:off x="6263640" y="4389120"/>
            <a:ext cx="2468880" cy="32004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HF Learn</a:t>
            </a:r>
            <a:endParaRPr lang="en-US" sz="1400" dirty="0"/>
          </a:p>
        </p:txBody>
      </p:sp>
      <p:sp>
        <p:nvSpPr>
          <p:cNvPr id="47" name="Text 45"/>
          <p:cNvSpPr/>
          <p:nvPr/>
        </p:nvSpPr>
        <p:spPr>
          <a:xfrm>
            <a:off x="6263640" y="4727448"/>
            <a:ext cx="2468880" cy="59436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LLMs, fine-tuning, agents, RL gold tier</a:t>
            </a:r>
            <a:endParaRPr lang="en-US" sz="1050" dirty="0"/>
          </a:p>
        </p:txBody>
      </p:sp>
      <p:sp>
        <p:nvSpPr>
          <p:cNvPr id="48" name="Text 46"/>
          <p:cNvSpPr/>
          <p:nvPr/>
        </p:nvSpPr>
        <p:spPr>
          <a:xfrm>
            <a:off x="6263640" y="5486400"/>
            <a:ext cx="2468880" cy="274320"/>
          </a:xfrm>
          <a:prstGeom prst="rect">
            <a:avLst/>
          </a:prstGeom>
          <a:noFill/>
          <a:ln/>
        </p:spPr>
        <p:txBody>
          <a:bodyPr wrap="square" lIns="0" tIns="0" rIns="0" bIns="0" rtlCol="0" anchor="ctr"/>
          <a:lstStyle/>
          <a:p>
            <a:pPr marL="0" indent="0">
              <a:buNone/>
            </a:pPr>
            <a:r>
              <a:rPr lang="en-US" sz="950" b="1" dirty="0">
                <a:solidFill>
                  <a:srgbClr val="D97706"/>
                </a:solidFill>
                <a:latin typeface="Consolas" pitchFamily="34" charset="0"/>
                <a:ea typeface="Consolas" pitchFamily="34" charset="-122"/>
                <a:cs typeface="Consolas" pitchFamily="34" charset="-120"/>
              </a:rPr>
              <a:t>huggingface.co/learn</a:t>
            </a:r>
            <a:endParaRPr lang="en-US" sz="950" dirty="0"/>
          </a:p>
        </p:txBody>
      </p:sp>
      <p:sp>
        <p:nvSpPr>
          <p:cNvPr id="49" name="Shape 47"/>
          <p:cNvSpPr/>
          <p:nvPr/>
        </p:nvSpPr>
        <p:spPr>
          <a:xfrm>
            <a:off x="8961120" y="3977640"/>
            <a:ext cx="2743200" cy="1920240"/>
          </a:xfrm>
          <a:prstGeom prst="rect">
            <a:avLst/>
          </a:prstGeom>
          <a:solidFill>
            <a:srgbClr val="F8FAFC"/>
          </a:solidFill>
          <a:ln/>
        </p:spPr>
        <p:txBody>
          <a:bodyPr/>
          <a:lstStyle/>
          <a:p>
            <a:endParaRPr lang="en-AE"/>
          </a:p>
        </p:txBody>
      </p:sp>
      <p:sp>
        <p:nvSpPr>
          <p:cNvPr id="50" name="Shape 48"/>
          <p:cNvSpPr/>
          <p:nvPr/>
        </p:nvSpPr>
        <p:spPr>
          <a:xfrm>
            <a:off x="8961120" y="3977640"/>
            <a:ext cx="2743200" cy="73152"/>
          </a:xfrm>
          <a:prstGeom prst="rect">
            <a:avLst/>
          </a:prstGeom>
          <a:solidFill>
            <a:srgbClr val="DB2777"/>
          </a:solidFill>
          <a:ln/>
        </p:spPr>
        <p:txBody>
          <a:bodyPr/>
          <a:lstStyle/>
          <a:p>
            <a:endParaRPr lang="en-AE"/>
          </a:p>
        </p:txBody>
      </p:sp>
      <p:sp>
        <p:nvSpPr>
          <p:cNvPr id="51" name="Text 49"/>
          <p:cNvSpPr/>
          <p:nvPr/>
        </p:nvSpPr>
        <p:spPr>
          <a:xfrm>
            <a:off x="9098280" y="4114800"/>
            <a:ext cx="2468880" cy="274320"/>
          </a:xfrm>
          <a:prstGeom prst="rect">
            <a:avLst/>
          </a:prstGeom>
          <a:noFill/>
          <a:ln/>
        </p:spPr>
        <p:txBody>
          <a:bodyPr wrap="square" lIns="0" tIns="0" rIns="0" bIns="0" rtlCol="0" anchor="ctr"/>
          <a:lstStyle/>
          <a:p>
            <a:pPr marL="0" indent="0">
              <a:buNone/>
            </a:pPr>
            <a:r>
              <a:rPr lang="en-US" sz="1050" b="1" kern="0" spc="200" dirty="0">
                <a:solidFill>
                  <a:srgbClr val="DB2777"/>
                </a:solidFill>
                <a:latin typeface="Arial Black" pitchFamily="34" charset="0"/>
                <a:ea typeface="Arial Black" pitchFamily="34" charset="-122"/>
                <a:cs typeface="Arial Black" pitchFamily="34" charset="-120"/>
              </a:rPr>
              <a:t>DEEPLEARNING.AI</a:t>
            </a:r>
            <a:endParaRPr lang="en-US" sz="1050" dirty="0"/>
          </a:p>
        </p:txBody>
      </p:sp>
      <p:sp>
        <p:nvSpPr>
          <p:cNvPr id="52" name="Text 50"/>
          <p:cNvSpPr/>
          <p:nvPr/>
        </p:nvSpPr>
        <p:spPr>
          <a:xfrm>
            <a:off x="9098280" y="4389120"/>
            <a:ext cx="2468880" cy="32004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Andrew Ng courses</a:t>
            </a:r>
            <a:endParaRPr lang="en-US" sz="1400" dirty="0"/>
          </a:p>
        </p:txBody>
      </p:sp>
      <p:sp>
        <p:nvSpPr>
          <p:cNvPr id="53" name="Text 51"/>
          <p:cNvSpPr/>
          <p:nvPr/>
        </p:nvSpPr>
        <p:spPr>
          <a:xfrm>
            <a:off x="9098280" y="4727448"/>
            <a:ext cx="2468880" cy="59436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ML, deep learning, GenAI, MLOps</a:t>
            </a:r>
            <a:endParaRPr lang="en-US" sz="1050" dirty="0"/>
          </a:p>
        </p:txBody>
      </p:sp>
      <p:sp>
        <p:nvSpPr>
          <p:cNvPr id="54" name="Text 52"/>
          <p:cNvSpPr/>
          <p:nvPr/>
        </p:nvSpPr>
        <p:spPr>
          <a:xfrm>
            <a:off x="9098280" y="5486400"/>
            <a:ext cx="2468880" cy="274320"/>
          </a:xfrm>
          <a:prstGeom prst="rect">
            <a:avLst/>
          </a:prstGeom>
          <a:noFill/>
          <a:ln/>
        </p:spPr>
        <p:txBody>
          <a:bodyPr wrap="square" lIns="0" tIns="0" rIns="0" bIns="0" rtlCol="0" anchor="ctr"/>
          <a:lstStyle/>
          <a:p>
            <a:pPr marL="0" indent="0">
              <a:buNone/>
            </a:pPr>
            <a:r>
              <a:rPr lang="en-US" sz="950" b="1" dirty="0">
                <a:solidFill>
                  <a:srgbClr val="DB2777"/>
                </a:solidFill>
                <a:latin typeface="Consolas" pitchFamily="34" charset="0"/>
                <a:ea typeface="Consolas" pitchFamily="34" charset="-122"/>
                <a:cs typeface="Consolas" pitchFamily="34" charset="-120"/>
              </a:rPr>
              <a:t>deeplearning.ai</a:t>
            </a:r>
            <a:endParaRPr lang="en-US" sz="950" dirty="0"/>
          </a:p>
        </p:txBody>
      </p:sp>
      <p:sp>
        <p:nvSpPr>
          <p:cNvPr id="55" name="Text 53"/>
          <p:cNvSpPr/>
          <p:nvPr/>
        </p:nvSpPr>
        <p:spPr>
          <a:xfrm>
            <a:off x="10332720" y="6510528"/>
            <a:ext cx="173736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26 / 32  ·  DATA &amp; AI</a:t>
            </a:r>
            <a:endParaRPr lang="en-US" sz="900" dirty="0"/>
          </a:p>
        </p:txBody>
      </p:sp>
      <p:sp>
        <p:nvSpPr>
          <p:cNvPr id="56" name="Text 54"/>
          <p:cNvSpPr/>
          <p:nvPr/>
        </p:nvSpPr>
        <p:spPr>
          <a:xfrm>
            <a:off x="457200" y="6510528"/>
            <a:ext cx="5486400" cy="256032"/>
          </a:xfrm>
          <a:prstGeom prst="rect">
            <a:avLst/>
          </a:prstGeom>
          <a:noFill/>
          <a:ln/>
        </p:spPr>
        <p:txBody>
          <a:bodyPr wrap="square" lIns="0" tIns="0" rIns="0" bIns="0" rtlCol="0" anchor="ctr"/>
          <a:lstStyle/>
          <a:p>
            <a:pPr marL="0" indent="0">
              <a:buNone/>
            </a:pPr>
            <a:r>
              <a:rPr lang="en-US" sz="900" b="1" kern="0" spc="200" dirty="0">
                <a:solidFill>
                  <a:srgbClr val="94A3B8"/>
                </a:solidFill>
                <a:latin typeface="Calibri" pitchFamily="34" charset="0"/>
                <a:ea typeface="Calibri" pitchFamily="34" charset="-122"/>
                <a:cs typeface="Calibri" pitchFamily="34" charset="-120"/>
              </a:rPr>
              <a:t>YOUR LAUNCHPAD</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DB2777"/>
          </a:solidFill>
          <a:ln/>
        </p:spPr>
        <p:txBody>
          <a:bodyPr/>
          <a:lstStyle/>
          <a:p>
            <a:endParaRPr lang="en-AE"/>
          </a:p>
        </p:txBody>
      </p:sp>
      <p:sp>
        <p:nvSpPr>
          <p:cNvPr id="3" name="Shape 1"/>
          <p:cNvSpPr/>
          <p:nvPr/>
        </p:nvSpPr>
        <p:spPr>
          <a:xfrm>
            <a:off x="621792" y="457200"/>
            <a:ext cx="54864" cy="128016"/>
          </a:xfrm>
          <a:prstGeom prst="rect">
            <a:avLst/>
          </a:prstGeom>
          <a:solidFill>
            <a:srgbClr val="0B1437"/>
          </a:solidFill>
          <a:ln/>
        </p:spPr>
        <p:txBody>
          <a:bodyPr/>
          <a:lstStyle/>
          <a:p>
            <a:endParaRPr lang="en-AE"/>
          </a:p>
        </p:txBody>
      </p:sp>
      <p:sp>
        <p:nvSpPr>
          <p:cNvPr id="4" name="Text 2"/>
          <p:cNvSpPr/>
          <p:nvPr/>
        </p:nvSpPr>
        <p:spPr>
          <a:xfrm>
            <a:off x="457200" y="685800"/>
            <a:ext cx="11247120" cy="274320"/>
          </a:xfrm>
          <a:prstGeom prst="rect">
            <a:avLst/>
          </a:prstGeom>
          <a:noFill/>
          <a:ln/>
        </p:spPr>
        <p:txBody>
          <a:bodyPr wrap="square" lIns="0" tIns="0" rIns="0" bIns="0" rtlCol="0" anchor="ctr"/>
          <a:lstStyle/>
          <a:p>
            <a:pPr marL="0" indent="0">
              <a:buNone/>
            </a:pPr>
            <a:r>
              <a:rPr lang="en-US" sz="1100" b="1" kern="0" spc="400" dirty="0">
                <a:solidFill>
                  <a:srgbClr val="DB2777"/>
                </a:solidFill>
                <a:latin typeface="Calibri" pitchFamily="34" charset="0"/>
                <a:ea typeface="Calibri" pitchFamily="34" charset="-122"/>
                <a:cs typeface="Calibri" pitchFamily="34" charset="-120"/>
              </a:rPr>
              <a:t>STUDENT PROGRAMS</a:t>
            </a:r>
            <a:endParaRPr lang="en-US" sz="1100" dirty="0"/>
          </a:p>
        </p:txBody>
      </p:sp>
      <p:sp>
        <p:nvSpPr>
          <p:cNvPr id="5" name="Text 3"/>
          <p:cNvSpPr/>
          <p:nvPr/>
        </p:nvSpPr>
        <p:spPr>
          <a:xfrm>
            <a:off x="457200" y="932688"/>
            <a:ext cx="1124712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Your .edu email unlocks thousands in cloud credits.</a:t>
            </a:r>
            <a:endParaRPr lang="en-US" sz="3000" dirty="0"/>
          </a:p>
        </p:txBody>
      </p:sp>
      <p:sp>
        <p:nvSpPr>
          <p:cNvPr id="6" name="Text 4"/>
          <p:cNvSpPr/>
          <p:nvPr/>
        </p:nvSpPr>
        <p:spPr>
          <a:xfrm>
            <a:off x="457200" y="1572768"/>
            <a:ext cx="11247120" cy="45720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It expires when you graduate. Claim it THIS WEEK.</a:t>
            </a:r>
            <a:endParaRPr lang="en-US" sz="1300" dirty="0"/>
          </a:p>
        </p:txBody>
      </p:sp>
      <p:sp>
        <p:nvSpPr>
          <p:cNvPr id="7" name="Shape 5"/>
          <p:cNvSpPr/>
          <p:nvPr/>
        </p:nvSpPr>
        <p:spPr>
          <a:xfrm>
            <a:off x="457200" y="2103120"/>
            <a:ext cx="5577840" cy="914400"/>
          </a:xfrm>
          <a:prstGeom prst="rect">
            <a:avLst/>
          </a:prstGeom>
          <a:solidFill>
            <a:srgbClr val="F8FAFC"/>
          </a:solidFill>
          <a:ln/>
        </p:spPr>
        <p:txBody>
          <a:bodyPr/>
          <a:lstStyle/>
          <a:p>
            <a:endParaRPr lang="en-AE"/>
          </a:p>
        </p:txBody>
      </p:sp>
      <p:sp>
        <p:nvSpPr>
          <p:cNvPr id="8" name="Shape 6"/>
          <p:cNvSpPr/>
          <p:nvPr/>
        </p:nvSpPr>
        <p:spPr>
          <a:xfrm>
            <a:off x="457200" y="2103120"/>
            <a:ext cx="91440" cy="914400"/>
          </a:xfrm>
          <a:prstGeom prst="rect">
            <a:avLst/>
          </a:prstGeom>
          <a:solidFill>
            <a:srgbClr val="0B1437"/>
          </a:solidFill>
          <a:ln/>
        </p:spPr>
        <p:txBody>
          <a:bodyPr/>
          <a:lstStyle/>
          <a:p>
            <a:endParaRPr lang="en-AE"/>
          </a:p>
        </p:txBody>
      </p:sp>
      <p:sp>
        <p:nvSpPr>
          <p:cNvPr id="9" name="Text 7"/>
          <p:cNvSpPr/>
          <p:nvPr/>
        </p:nvSpPr>
        <p:spPr>
          <a:xfrm>
            <a:off x="685800" y="2194560"/>
            <a:ext cx="3200400" cy="36576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GitHub Student Developer Pack</a:t>
            </a:r>
            <a:endParaRPr lang="en-US" sz="1300" dirty="0"/>
          </a:p>
        </p:txBody>
      </p:sp>
      <p:sp>
        <p:nvSpPr>
          <p:cNvPr id="10" name="Text 8"/>
          <p:cNvSpPr/>
          <p:nvPr/>
        </p:nvSpPr>
        <p:spPr>
          <a:xfrm>
            <a:off x="685800" y="2542032"/>
            <a:ext cx="3291840" cy="45720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Copilot Pro, JetBrains, 100+ premium tools</a:t>
            </a:r>
            <a:endParaRPr lang="en-US" sz="1050" dirty="0"/>
          </a:p>
        </p:txBody>
      </p:sp>
      <p:sp>
        <p:nvSpPr>
          <p:cNvPr id="11" name="Text 9"/>
          <p:cNvSpPr/>
          <p:nvPr/>
        </p:nvSpPr>
        <p:spPr>
          <a:xfrm>
            <a:off x="4023360" y="2194560"/>
            <a:ext cx="2011680" cy="777240"/>
          </a:xfrm>
          <a:prstGeom prst="rect">
            <a:avLst/>
          </a:prstGeom>
          <a:noFill/>
          <a:ln/>
        </p:spPr>
        <p:txBody>
          <a:bodyPr wrap="square" lIns="0" tIns="0" rIns="0" bIns="0" rtlCol="0" anchor="ctr"/>
          <a:lstStyle/>
          <a:p>
            <a:pPr marL="0" indent="0" algn="r">
              <a:buNone/>
            </a:pPr>
            <a:r>
              <a:rPr lang="en-US" sz="1300" b="1" dirty="0">
                <a:solidFill>
                  <a:srgbClr val="0B1437"/>
                </a:solidFill>
                <a:latin typeface="Arial Black" pitchFamily="34" charset="0"/>
                <a:ea typeface="Arial Black" pitchFamily="34" charset="-122"/>
                <a:cs typeface="Arial Black" pitchFamily="34" charset="-120"/>
              </a:rPr>
              <a:t>$200K+</a:t>
            </a:r>
            <a:endParaRPr lang="en-US" sz="1300" dirty="0"/>
          </a:p>
        </p:txBody>
      </p:sp>
      <p:sp>
        <p:nvSpPr>
          <p:cNvPr id="12" name="Shape 10"/>
          <p:cNvSpPr/>
          <p:nvPr/>
        </p:nvSpPr>
        <p:spPr>
          <a:xfrm>
            <a:off x="6172200" y="2103120"/>
            <a:ext cx="5577840" cy="914400"/>
          </a:xfrm>
          <a:prstGeom prst="rect">
            <a:avLst/>
          </a:prstGeom>
          <a:solidFill>
            <a:srgbClr val="F8FAFC"/>
          </a:solidFill>
          <a:ln/>
        </p:spPr>
        <p:txBody>
          <a:bodyPr/>
          <a:lstStyle/>
          <a:p>
            <a:endParaRPr lang="en-AE"/>
          </a:p>
        </p:txBody>
      </p:sp>
      <p:sp>
        <p:nvSpPr>
          <p:cNvPr id="13" name="Shape 11"/>
          <p:cNvSpPr/>
          <p:nvPr/>
        </p:nvSpPr>
        <p:spPr>
          <a:xfrm>
            <a:off x="6172200" y="2103120"/>
            <a:ext cx="91440" cy="914400"/>
          </a:xfrm>
          <a:prstGeom prst="rect">
            <a:avLst/>
          </a:prstGeom>
          <a:solidFill>
            <a:srgbClr val="FF6B35"/>
          </a:solidFill>
          <a:ln/>
        </p:spPr>
        <p:txBody>
          <a:bodyPr/>
          <a:lstStyle/>
          <a:p>
            <a:endParaRPr lang="en-AE"/>
          </a:p>
        </p:txBody>
      </p:sp>
      <p:sp>
        <p:nvSpPr>
          <p:cNvPr id="14" name="Text 12"/>
          <p:cNvSpPr/>
          <p:nvPr/>
        </p:nvSpPr>
        <p:spPr>
          <a:xfrm>
            <a:off x="6400800" y="2194560"/>
            <a:ext cx="3200400" cy="36576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AWS Educate</a:t>
            </a:r>
            <a:endParaRPr lang="en-US" sz="1300" dirty="0"/>
          </a:p>
        </p:txBody>
      </p:sp>
      <p:sp>
        <p:nvSpPr>
          <p:cNvPr id="15" name="Text 13"/>
          <p:cNvSpPr/>
          <p:nvPr/>
        </p:nvSpPr>
        <p:spPr>
          <a:xfrm>
            <a:off x="6400800" y="2542032"/>
            <a:ext cx="3291840" cy="45720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Free training + AWS cloud credits</a:t>
            </a:r>
            <a:endParaRPr lang="en-US" sz="1050" dirty="0"/>
          </a:p>
        </p:txBody>
      </p:sp>
      <p:sp>
        <p:nvSpPr>
          <p:cNvPr id="16" name="Text 14"/>
          <p:cNvSpPr/>
          <p:nvPr/>
        </p:nvSpPr>
        <p:spPr>
          <a:xfrm>
            <a:off x="9738360" y="2194560"/>
            <a:ext cx="2011680" cy="777240"/>
          </a:xfrm>
          <a:prstGeom prst="rect">
            <a:avLst/>
          </a:prstGeom>
          <a:noFill/>
          <a:ln/>
        </p:spPr>
        <p:txBody>
          <a:bodyPr wrap="square" lIns="0" tIns="0" rIns="0" bIns="0" rtlCol="0" anchor="ctr"/>
          <a:lstStyle/>
          <a:p>
            <a:pPr marL="0" indent="0" algn="r">
              <a:buNone/>
            </a:pPr>
            <a:r>
              <a:rPr lang="en-US" sz="1300" b="1" dirty="0">
                <a:solidFill>
                  <a:srgbClr val="FF6B35"/>
                </a:solidFill>
                <a:latin typeface="Arial Black" pitchFamily="34" charset="0"/>
                <a:ea typeface="Arial Black" pitchFamily="34" charset="-122"/>
                <a:cs typeface="Arial Black" pitchFamily="34" charset="-120"/>
              </a:rPr>
              <a:t>$50–$200</a:t>
            </a:r>
            <a:endParaRPr lang="en-US" sz="1300" dirty="0"/>
          </a:p>
        </p:txBody>
      </p:sp>
      <p:sp>
        <p:nvSpPr>
          <p:cNvPr id="17" name="Shape 15"/>
          <p:cNvSpPr/>
          <p:nvPr/>
        </p:nvSpPr>
        <p:spPr>
          <a:xfrm>
            <a:off x="457200" y="3108960"/>
            <a:ext cx="5577840" cy="914400"/>
          </a:xfrm>
          <a:prstGeom prst="rect">
            <a:avLst/>
          </a:prstGeom>
          <a:solidFill>
            <a:srgbClr val="F8FAFC"/>
          </a:solidFill>
          <a:ln/>
        </p:spPr>
        <p:txBody>
          <a:bodyPr/>
          <a:lstStyle/>
          <a:p>
            <a:endParaRPr lang="en-AE"/>
          </a:p>
        </p:txBody>
      </p:sp>
      <p:sp>
        <p:nvSpPr>
          <p:cNvPr id="18" name="Shape 16"/>
          <p:cNvSpPr/>
          <p:nvPr/>
        </p:nvSpPr>
        <p:spPr>
          <a:xfrm>
            <a:off x="457200" y="3108960"/>
            <a:ext cx="91440" cy="914400"/>
          </a:xfrm>
          <a:prstGeom prst="rect">
            <a:avLst/>
          </a:prstGeom>
          <a:solidFill>
            <a:srgbClr val="0891B2"/>
          </a:solidFill>
          <a:ln/>
        </p:spPr>
        <p:txBody>
          <a:bodyPr/>
          <a:lstStyle/>
          <a:p>
            <a:endParaRPr lang="en-AE"/>
          </a:p>
        </p:txBody>
      </p:sp>
      <p:sp>
        <p:nvSpPr>
          <p:cNvPr id="19" name="Text 17"/>
          <p:cNvSpPr/>
          <p:nvPr/>
        </p:nvSpPr>
        <p:spPr>
          <a:xfrm>
            <a:off x="685800" y="3200400"/>
            <a:ext cx="3200400" cy="36576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Google Cloud for Students</a:t>
            </a:r>
            <a:endParaRPr lang="en-US" sz="1300" dirty="0"/>
          </a:p>
        </p:txBody>
      </p:sp>
      <p:sp>
        <p:nvSpPr>
          <p:cNvPr id="20" name="Text 18"/>
          <p:cNvSpPr/>
          <p:nvPr/>
        </p:nvSpPr>
        <p:spPr>
          <a:xfrm>
            <a:off x="685800" y="3547872"/>
            <a:ext cx="3291840" cy="45720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Skills Boost subscription + credits on request</a:t>
            </a:r>
            <a:endParaRPr lang="en-US" sz="1050" dirty="0"/>
          </a:p>
        </p:txBody>
      </p:sp>
      <p:sp>
        <p:nvSpPr>
          <p:cNvPr id="21" name="Text 19"/>
          <p:cNvSpPr/>
          <p:nvPr/>
        </p:nvSpPr>
        <p:spPr>
          <a:xfrm>
            <a:off x="4023360" y="3200400"/>
            <a:ext cx="2011680" cy="777240"/>
          </a:xfrm>
          <a:prstGeom prst="rect">
            <a:avLst/>
          </a:prstGeom>
          <a:noFill/>
          <a:ln/>
        </p:spPr>
        <p:txBody>
          <a:bodyPr wrap="square" lIns="0" tIns="0" rIns="0" bIns="0" rtlCol="0" anchor="ctr"/>
          <a:lstStyle/>
          <a:p>
            <a:pPr marL="0" indent="0" algn="r">
              <a:buNone/>
            </a:pPr>
            <a:r>
              <a:rPr lang="en-US" sz="1300" b="1" dirty="0">
                <a:solidFill>
                  <a:srgbClr val="0891B2"/>
                </a:solidFill>
                <a:latin typeface="Arial Black" pitchFamily="34" charset="0"/>
                <a:ea typeface="Arial Black" pitchFamily="34" charset="-122"/>
                <a:cs typeface="Arial Black" pitchFamily="34" charset="-120"/>
              </a:rPr>
              <a:t>$300 + extras</a:t>
            </a:r>
            <a:endParaRPr lang="en-US" sz="1300" dirty="0"/>
          </a:p>
        </p:txBody>
      </p:sp>
      <p:sp>
        <p:nvSpPr>
          <p:cNvPr id="22" name="Shape 20"/>
          <p:cNvSpPr/>
          <p:nvPr/>
        </p:nvSpPr>
        <p:spPr>
          <a:xfrm>
            <a:off x="6172200" y="3108960"/>
            <a:ext cx="5577840" cy="914400"/>
          </a:xfrm>
          <a:prstGeom prst="rect">
            <a:avLst/>
          </a:prstGeom>
          <a:solidFill>
            <a:srgbClr val="F8FAFC"/>
          </a:solidFill>
          <a:ln/>
        </p:spPr>
        <p:txBody>
          <a:bodyPr/>
          <a:lstStyle/>
          <a:p>
            <a:endParaRPr lang="en-AE"/>
          </a:p>
        </p:txBody>
      </p:sp>
      <p:sp>
        <p:nvSpPr>
          <p:cNvPr id="23" name="Shape 21"/>
          <p:cNvSpPr/>
          <p:nvPr/>
        </p:nvSpPr>
        <p:spPr>
          <a:xfrm>
            <a:off x="6172200" y="3108960"/>
            <a:ext cx="91440" cy="914400"/>
          </a:xfrm>
          <a:prstGeom prst="rect">
            <a:avLst/>
          </a:prstGeom>
          <a:solidFill>
            <a:srgbClr val="22D3EE"/>
          </a:solidFill>
          <a:ln/>
        </p:spPr>
        <p:txBody>
          <a:bodyPr/>
          <a:lstStyle/>
          <a:p>
            <a:endParaRPr lang="en-AE"/>
          </a:p>
        </p:txBody>
      </p:sp>
      <p:sp>
        <p:nvSpPr>
          <p:cNvPr id="24" name="Text 22"/>
          <p:cNvSpPr/>
          <p:nvPr/>
        </p:nvSpPr>
        <p:spPr>
          <a:xfrm>
            <a:off x="6400800" y="3200400"/>
            <a:ext cx="3200400" cy="36576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Microsoft Azure for Students</a:t>
            </a:r>
            <a:endParaRPr lang="en-US" sz="1300" dirty="0"/>
          </a:p>
        </p:txBody>
      </p:sp>
      <p:sp>
        <p:nvSpPr>
          <p:cNvPr id="25" name="Text 23"/>
          <p:cNvSpPr/>
          <p:nvPr/>
        </p:nvSpPr>
        <p:spPr>
          <a:xfrm>
            <a:off x="6400800" y="3547872"/>
            <a:ext cx="3291840" cy="45720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$100 credit, no credit card, free dev tools</a:t>
            </a:r>
            <a:endParaRPr lang="en-US" sz="1050" dirty="0"/>
          </a:p>
        </p:txBody>
      </p:sp>
      <p:sp>
        <p:nvSpPr>
          <p:cNvPr id="26" name="Text 24"/>
          <p:cNvSpPr/>
          <p:nvPr/>
        </p:nvSpPr>
        <p:spPr>
          <a:xfrm>
            <a:off x="9738360" y="3200400"/>
            <a:ext cx="2011680" cy="777240"/>
          </a:xfrm>
          <a:prstGeom prst="rect">
            <a:avLst/>
          </a:prstGeom>
          <a:noFill/>
          <a:ln/>
        </p:spPr>
        <p:txBody>
          <a:bodyPr wrap="square" lIns="0" tIns="0" rIns="0" bIns="0" rtlCol="0" anchor="ctr"/>
          <a:lstStyle/>
          <a:p>
            <a:pPr marL="0" indent="0" algn="r">
              <a:buNone/>
            </a:pPr>
            <a:r>
              <a:rPr lang="en-US" sz="1300" b="1" dirty="0">
                <a:solidFill>
                  <a:srgbClr val="22D3EE"/>
                </a:solidFill>
                <a:latin typeface="Arial Black" pitchFamily="34" charset="0"/>
                <a:ea typeface="Arial Black" pitchFamily="34" charset="-122"/>
                <a:cs typeface="Arial Black" pitchFamily="34" charset="-120"/>
              </a:rPr>
              <a:t>$100 renewable</a:t>
            </a:r>
            <a:endParaRPr lang="en-US" sz="1300" dirty="0"/>
          </a:p>
        </p:txBody>
      </p:sp>
      <p:sp>
        <p:nvSpPr>
          <p:cNvPr id="27" name="Shape 25"/>
          <p:cNvSpPr/>
          <p:nvPr/>
        </p:nvSpPr>
        <p:spPr>
          <a:xfrm>
            <a:off x="457200" y="4114800"/>
            <a:ext cx="5577840" cy="914400"/>
          </a:xfrm>
          <a:prstGeom prst="rect">
            <a:avLst/>
          </a:prstGeom>
          <a:solidFill>
            <a:srgbClr val="F8FAFC"/>
          </a:solidFill>
          <a:ln/>
        </p:spPr>
        <p:txBody>
          <a:bodyPr/>
          <a:lstStyle/>
          <a:p>
            <a:endParaRPr lang="en-AE"/>
          </a:p>
        </p:txBody>
      </p:sp>
      <p:sp>
        <p:nvSpPr>
          <p:cNvPr id="28" name="Shape 26"/>
          <p:cNvSpPr/>
          <p:nvPr/>
        </p:nvSpPr>
        <p:spPr>
          <a:xfrm>
            <a:off x="457200" y="4114800"/>
            <a:ext cx="91440" cy="914400"/>
          </a:xfrm>
          <a:prstGeom prst="rect">
            <a:avLst/>
          </a:prstGeom>
          <a:solidFill>
            <a:srgbClr val="E04E1A"/>
          </a:solidFill>
          <a:ln/>
        </p:spPr>
        <p:txBody>
          <a:bodyPr/>
          <a:lstStyle/>
          <a:p>
            <a:endParaRPr lang="en-AE"/>
          </a:p>
        </p:txBody>
      </p:sp>
      <p:sp>
        <p:nvSpPr>
          <p:cNvPr id="29" name="Text 27"/>
          <p:cNvSpPr/>
          <p:nvPr/>
        </p:nvSpPr>
        <p:spPr>
          <a:xfrm>
            <a:off x="685800" y="4206240"/>
            <a:ext cx="3200400" cy="36576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Databricks Community Edition</a:t>
            </a:r>
            <a:endParaRPr lang="en-US" sz="1300" dirty="0"/>
          </a:p>
        </p:txBody>
      </p:sp>
      <p:sp>
        <p:nvSpPr>
          <p:cNvPr id="30" name="Text 28"/>
          <p:cNvSpPr/>
          <p:nvPr/>
        </p:nvSpPr>
        <p:spPr>
          <a:xfrm>
            <a:off x="685800" y="4553712"/>
            <a:ext cx="3291840" cy="45720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Free Spark + notebook cluster</a:t>
            </a:r>
            <a:endParaRPr lang="en-US" sz="1050" dirty="0"/>
          </a:p>
        </p:txBody>
      </p:sp>
      <p:sp>
        <p:nvSpPr>
          <p:cNvPr id="31" name="Text 29"/>
          <p:cNvSpPr/>
          <p:nvPr/>
        </p:nvSpPr>
        <p:spPr>
          <a:xfrm>
            <a:off x="4023360" y="4206240"/>
            <a:ext cx="2011680" cy="777240"/>
          </a:xfrm>
          <a:prstGeom prst="rect">
            <a:avLst/>
          </a:prstGeom>
          <a:noFill/>
          <a:ln/>
        </p:spPr>
        <p:txBody>
          <a:bodyPr wrap="square" lIns="0" tIns="0" rIns="0" bIns="0" rtlCol="0" anchor="ctr"/>
          <a:lstStyle/>
          <a:p>
            <a:pPr marL="0" indent="0" algn="r">
              <a:buNone/>
            </a:pPr>
            <a:r>
              <a:rPr lang="en-US" sz="1300" b="1" dirty="0">
                <a:solidFill>
                  <a:srgbClr val="E04E1A"/>
                </a:solidFill>
                <a:latin typeface="Arial Black" pitchFamily="34" charset="0"/>
                <a:ea typeface="Arial Black" pitchFamily="34" charset="-122"/>
                <a:cs typeface="Arial Black" pitchFamily="34" charset="-120"/>
              </a:rPr>
              <a:t>Unlimited · free forever</a:t>
            </a:r>
            <a:endParaRPr lang="en-US" sz="1300" dirty="0"/>
          </a:p>
        </p:txBody>
      </p:sp>
      <p:sp>
        <p:nvSpPr>
          <p:cNvPr id="32" name="Shape 30"/>
          <p:cNvSpPr/>
          <p:nvPr/>
        </p:nvSpPr>
        <p:spPr>
          <a:xfrm>
            <a:off x="6172200" y="4114800"/>
            <a:ext cx="5577840" cy="914400"/>
          </a:xfrm>
          <a:prstGeom prst="rect">
            <a:avLst/>
          </a:prstGeom>
          <a:solidFill>
            <a:srgbClr val="F8FAFC"/>
          </a:solidFill>
          <a:ln/>
        </p:spPr>
        <p:txBody>
          <a:bodyPr/>
          <a:lstStyle/>
          <a:p>
            <a:endParaRPr lang="en-AE"/>
          </a:p>
        </p:txBody>
      </p:sp>
      <p:sp>
        <p:nvSpPr>
          <p:cNvPr id="33" name="Shape 31"/>
          <p:cNvSpPr/>
          <p:nvPr/>
        </p:nvSpPr>
        <p:spPr>
          <a:xfrm>
            <a:off x="6172200" y="4114800"/>
            <a:ext cx="91440" cy="914400"/>
          </a:xfrm>
          <a:prstGeom prst="rect">
            <a:avLst/>
          </a:prstGeom>
          <a:solidFill>
            <a:srgbClr val="14B8A6"/>
          </a:solidFill>
          <a:ln/>
        </p:spPr>
        <p:txBody>
          <a:bodyPr/>
          <a:lstStyle/>
          <a:p>
            <a:endParaRPr lang="en-AE"/>
          </a:p>
        </p:txBody>
      </p:sp>
      <p:sp>
        <p:nvSpPr>
          <p:cNvPr id="34" name="Text 32"/>
          <p:cNvSpPr/>
          <p:nvPr/>
        </p:nvSpPr>
        <p:spPr>
          <a:xfrm>
            <a:off x="6400800" y="4206240"/>
            <a:ext cx="3200400" cy="36576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Snowflake Student Trial</a:t>
            </a:r>
            <a:endParaRPr lang="en-US" sz="1300" dirty="0"/>
          </a:p>
        </p:txBody>
      </p:sp>
      <p:sp>
        <p:nvSpPr>
          <p:cNvPr id="35" name="Text 33"/>
          <p:cNvSpPr/>
          <p:nvPr/>
        </p:nvSpPr>
        <p:spPr>
          <a:xfrm>
            <a:off x="6400800" y="4553712"/>
            <a:ext cx="3291840" cy="45720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120 days of Snowflake + training path</a:t>
            </a:r>
            <a:endParaRPr lang="en-US" sz="1050" dirty="0"/>
          </a:p>
        </p:txBody>
      </p:sp>
      <p:sp>
        <p:nvSpPr>
          <p:cNvPr id="36" name="Text 34"/>
          <p:cNvSpPr/>
          <p:nvPr/>
        </p:nvSpPr>
        <p:spPr>
          <a:xfrm>
            <a:off x="9738360" y="4206240"/>
            <a:ext cx="2011680" cy="777240"/>
          </a:xfrm>
          <a:prstGeom prst="rect">
            <a:avLst/>
          </a:prstGeom>
          <a:noFill/>
          <a:ln/>
        </p:spPr>
        <p:txBody>
          <a:bodyPr wrap="square" lIns="0" tIns="0" rIns="0" bIns="0" rtlCol="0" anchor="ctr"/>
          <a:lstStyle/>
          <a:p>
            <a:pPr marL="0" indent="0" algn="r">
              <a:buNone/>
            </a:pPr>
            <a:r>
              <a:rPr lang="en-US" sz="1300" b="1" dirty="0">
                <a:solidFill>
                  <a:srgbClr val="14B8A6"/>
                </a:solidFill>
                <a:latin typeface="Arial Black" pitchFamily="34" charset="0"/>
                <a:ea typeface="Arial Black" pitchFamily="34" charset="-122"/>
                <a:cs typeface="Arial Black" pitchFamily="34" charset="-120"/>
              </a:rPr>
              <a:t>$400 credits · 120d</a:t>
            </a:r>
            <a:endParaRPr lang="en-US" sz="1300" dirty="0"/>
          </a:p>
        </p:txBody>
      </p:sp>
      <p:sp>
        <p:nvSpPr>
          <p:cNvPr id="37" name="Shape 35"/>
          <p:cNvSpPr/>
          <p:nvPr/>
        </p:nvSpPr>
        <p:spPr>
          <a:xfrm>
            <a:off x="457200" y="5120640"/>
            <a:ext cx="5577840" cy="914400"/>
          </a:xfrm>
          <a:prstGeom prst="rect">
            <a:avLst/>
          </a:prstGeom>
          <a:solidFill>
            <a:srgbClr val="F8FAFC"/>
          </a:solidFill>
          <a:ln/>
        </p:spPr>
        <p:txBody>
          <a:bodyPr/>
          <a:lstStyle/>
          <a:p>
            <a:endParaRPr lang="en-AE"/>
          </a:p>
        </p:txBody>
      </p:sp>
      <p:sp>
        <p:nvSpPr>
          <p:cNvPr id="38" name="Shape 36"/>
          <p:cNvSpPr/>
          <p:nvPr/>
        </p:nvSpPr>
        <p:spPr>
          <a:xfrm>
            <a:off x="457200" y="5120640"/>
            <a:ext cx="91440" cy="914400"/>
          </a:xfrm>
          <a:prstGeom prst="rect">
            <a:avLst/>
          </a:prstGeom>
          <a:solidFill>
            <a:srgbClr val="10B981"/>
          </a:solidFill>
          <a:ln/>
        </p:spPr>
        <p:txBody>
          <a:bodyPr/>
          <a:lstStyle/>
          <a:p>
            <a:endParaRPr lang="en-AE"/>
          </a:p>
        </p:txBody>
      </p:sp>
      <p:sp>
        <p:nvSpPr>
          <p:cNvPr id="39" name="Text 37"/>
          <p:cNvSpPr/>
          <p:nvPr/>
        </p:nvSpPr>
        <p:spPr>
          <a:xfrm>
            <a:off x="685800" y="5212080"/>
            <a:ext cx="3200400" cy="36576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NVIDIA DLI Teaching Kits</a:t>
            </a:r>
            <a:endParaRPr lang="en-US" sz="1300" dirty="0"/>
          </a:p>
        </p:txBody>
      </p:sp>
      <p:sp>
        <p:nvSpPr>
          <p:cNvPr id="40" name="Text 38"/>
          <p:cNvSpPr/>
          <p:nvPr/>
        </p:nvSpPr>
        <p:spPr>
          <a:xfrm>
            <a:off x="685800" y="5559552"/>
            <a:ext cx="3291840" cy="45720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Self-paced DL/GenAI courses + certs</a:t>
            </a:r>
            <a:endParaRPr lang="en-US" sz="1050" dirty="0"/>
          </a:p>
        </p:txBody>
      </p:sp>
      <p:sp>
        <p:nvSpPr>
          <p:cNvPr id="41" name="Text 39"/>
          <p:cNvSpPr/>
          <p:nvPr/>
        </p:nvSpPr>
        <p:spPr>
          <a:xfrm>
            <a:off x="4023360" y="5212080"/>
            <a:ext cx="2011680" cy="777240"/>
          </a:xfrm>
          <a:prstGeom prst="rect">
            <a:avLst/>
          </a:prstGeom>
          <a:noFill/>
          <a:ln/>
        </p:spPr>
        <p:txBody>
          <a:bodyPr wrap="square" lIns="0" tIns="0" rIns="0" bIns="0" rtlCol="0" anchor="ctr"/>
          <a:lstStyle/>
          <a:p>
            <a:pPr marL="0" indent="0" algn="r">
              <a:buNone/>
            </a:pPr>
            <a:r>
              <a:rPr lang="en-US" sz="1300" b="1" dirty="0">
                <a:solidFill>
                  <a:srgbClr val="10B981"/>
                </a:solidFill>
                <a:latin typeface="Arial Black" pitchFamily="34" charset="0"/>
                <a:ea typeface="Arial Black" pitchFamily="34" charset="-122"/>
                <a:cs typeface="Arial Black" pitchFamily="34" charset="-120"/>
              </a:rPr>
              <a:t>Free, certified</a:t>
            </a:r>
            <a:endParaRPr lang="en-US" sz="1300" dirty="0"/>
          </a:p>
        </p:txBody>
      </p:sp>
      <p:sp>
        <p:nvSpPr>
          <p:cNvPr id="42" name="Shape 40"/>
          <p:cNvSpPr/>
          <p:nvPr/>
        </p:nvSpPr>
        <p:spPr>
          <a:xfrm>
            <a:off x="6172200" y="5120640"/>
            <a:ext cx="5577840" cy="914400"/>
          </a:xfrm>
          <a:prstGeom prst="rect">
            <a:avLst/>
          </a:prstGeom>
          <a:solidFill>
            <a:srgbClr val="F8FAFC"/>
          </a:solidFill>
          <a:ln/>
        </p:spPr>
        <p:txBody>
          <a:bodyPr/>
          <a:lstStyle/>
          <a:p>
            <a:endParaRPr lang="en-AE"/>
          </a:p>
        </p:txBody>
      </p:sp>
      <p:sp>
        <p:nvSpPr>
          <p:cNvPr id="43" name="Shape 41"/>
          <p:cNvSpPr/>
          <p:nvPr/>
        </p:nvSpPr>
        <p:spPr>
          <a:xfrm>
            <a:off x="6172200" y="5120640"/>
            <a:ext cx="91440" cy="914400"/>
          </a:xfrm>
          <a:prstGeom prst="rect">
            <a:avLst/>
          </a:prstGeom>
          <a:solidFill>
            <a:srgbClr val="F59E0B"/>
          </a:solidFill>
          <a:ln/>
        </p:spPr>
        <p:txBody>
          <a:bodyPr/>
          <a:lstStyle/>
          <a:p>
            <a:endParaRPr lang="en-AE"/>
          </a:p>
        </p:txBody>
      </p:sp>
      <p:sp>
        <p:nvSpPr>
          <p:cNvPr id="44" name="Text 42"/>
          <p:cNvSpPr/>
          <p:nvPr/>
        </p:nvSpPr>
        <p:spPr>
          <a:xfrm>
            <a:off x="6400800" y="5212080"/>
            <a:ext cx="3200400" cy="36576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Kaggle</a:t>
            </a:r>
            <a:endParaRPr lang="en-US" sz="1300" dirty="0"/>
          </a:p>
        </p:txBody>
      </p:sp>
      <p:sp>
        <p:nvSpPr>
          <p:cNvPr id="45" name="Text 43"/>
          <p:cNvSpPr/>
          <p:nvPr/>
        </p:nvSpPr>
        <p:spPr>
          <a:xfrm>
            <a:off x="6400800" y="5559552"/>
            <a:ext cx="3291840" cy="45720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Also: your portfolio. Competitions + datasets</a:t>
            </a:r>
            <a:endParaRPr lang="en-US" sz="1050" dirty="0"/>
          </a:p>
        </p:txBody>
      </p:sp>
      <p:sp>
        <p:nvSpPr>
          <p:cNvPr id="46" name="Text 44"/>
          <p:cNvSpPr/>
          <p:nvPr/>
        </p:nvSpPr>
        <p:spPr>
          <a:xfrm>
            <a:off x="9738360" y="5212080"/>
            <a:ext cx="2011680" cy="777240"/>
          </a:xfrm>
          <a:prstGeom prst="rect">
            <a:avLst/>
          </a:prstGeom>
          <a:noFill/>
          <a:ln/>
        </p:spPr>
        <p:txBody>
          <a:bodyPr wrap="square" lIns="0" tIns="0" rIns="0" bIns="0" rtlCol="0" anchor="ctr"/>
          <a:lstStyle/>
          <a:p>
            <a:pPr marL="0" indent="0" algn="r">
              <a:buNone/>
            </a:pPr>
            <a:r>
              <a:rPr lang="en-US" sz="1300" b="1" dirty="0">
                <a:solidFill>
                  <a:srgbClr val="F59E0B"/>
                </a:solidFill>
                <a:latin typeface="Arial Black" pitchFamily="34" charset="0"/>
                <a:ea typeface="Arial Black" pitchFamily="34" charset="-122"/>
                <a:cs typeface="Arial Black" pitchFamily="34" charset="-120"/>
              </a:rPr>
              <a:t>Free GPUs/TPUs</a:t>
            </a:r>
            <a:endParaRPr lang="en-US" sz="1300" dirty="0"/>
          </a:p>
        </p:txBody>
      </p:sp>
      <p:sp>
        <p:nvSpPr>
          <p:cNvPr id="47" name="Shape 45"/>
          <p:cNvSpPr/>
          <p:nvPr/>
        </p:nvSpPr>
        <p:spPr>
          <a:xfrm>
            <a:off x="457200" y="6217920"/>
            <a:ext cx="11247120" cy="320040"/>
          </a:xfrm>
          <a:prstGeom prst="rect">
            <a:avLst/>
          </a:prstGeom>
          <a:solidFill>
            <a:srgbClr val="FF6B35"/>
          </a:solidFill>
          <a:ln/>
        </p:spPr>
        <p:txBody>
          <a:bodyPr/>
          <a:lstStyle/>
          <a:p>
            <a:endParaRPr lang="en-AE"/>
          </a:p>
        </p:txBody>
      </p:sp>
      <p:sp>
        <p:nvSpPr>
          <p:cNvPr id="48" name="Text 46"/>
          <p:cNvSpPr/>
          <p:nvPr/>
        </p:nvSpPr>
        <p:spPr>
          <a:xfrm>
            <a:off x="640080" y="6236208"/>
            <a:ext cx="10972800" cy="274320"/>
          </a:xfrm>
          <a:prstGeom prst="rect">
            <a:avLst/>
          </a:prstGeom>
          <a:noFill/>
          <a:ln/>
        </p:spPr>
        <p:txBody>
          <a:bodyPr wrap="square" lIns="0" tIns="0" rIns="0" bIns="0" rtlCol="0" anchor="ctr"/>
          <a:lstStyle/>
          <a:p>
            <a:pPr marL="0" indent="0">
              <a:buNone/>
            </a:pPr>
            <a:r>
              <a:rPr lang="en-US" sz="1150" b="1" dirty="0">
                <a:solidFill>
                  <a:srgbClr val="0B1437"/>
                </a:solidFill>
                <a:latin typeface="Calibri" pitchFamily="34" charset="0"/>
                <a:ea typeface="Calibri" pitchFamily="34" charset="-122"/>
                <a:cs typeface="Calibri" pitchFamily="34" charset="-120"/>
              </a:rPr>
              <a:t>DO THIS THIS WEEK  ·  </a:t>
            </a:r>
            <a:r>
              <a:rPr lang="en-US" sz="1150" i="1" dirty="0">
                <a:solidFill>
                  <a:srgbClr val="0B1437"/>
                </a:solidFill>
                <a:latin typeface="Calibri" pitchFamily="34" charset="0"/>
                <a:ea typeface="Calibri" pitchFamily="34" charset="-122"/>
                <a:cs typeface="Calibri" pitchFamily="34" charset="-120"/>
              </a:rPr>
              <a:t>every semester you delay, you're leaving thousands of dollars of compute on the table.</a:t>
            </a:r>
            <a:endParaRPr lang="en-US" sz="1150" dirty="0"/>
          </a:p>
        </p:txBody>
      </p:sp>
      <p:sp>
        <p:nvSpPr>
          <p:cNvPr id="49" name="Text 47"/>
          <p:cNvSpPr/>
          <p:nvPr/>
        </p:nvSpPr>
        <p:spPr>
          <a:xfrm>
            <a:off x="10332720" y="6510528"/>
            <a:ext cx="173736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27 / 32  ·  DATA &amp; AI</a:t>
            </a:r>
            <a:endParaRPr lang="en-US" sz="900" dirty="0"/>
          </a:p>
        </p:txBody>
      </p:sp>
      <p:sp>
        <p:nvSpPr>
          <p:cNvPr id="50" name="Text 48"/>
          <p:cNvSpPr/>
          <p:nvPr/>
        </p:nvSpPr>
        <p:spPr>
          <a:xfrm>
            <a:off x="457200" y="6510528"/>
            <a:ext cx="5486400" cy="256032"/>
          </a:xfrm>
          <a:prstGeom prst="rect">
            <a:avLst/>
          </a:prstGeom>
          <a:noFill/>
          <a:ln/>
        </p:spPr>
        <p:txBody>
          <a:bodyPr wrap="square" lIns="0" tIns="0" rIns="0" bIns="0" rtlCol="0" anchor="ctr"/>
          <a:lstStyle/>
          <a:p>
            <a:pPr marL="0" indent="0">
              <a:buNone/>
            </a:pPr>
            <a:r>
              <a:rPr lang="en-US" sz="900" b="1" kern="0" spc="200" dirty="0">
                <a:solidFill>
                  <a:srgbClr val="94A3B8"/>
                </a:solidFill>
                <a:latin typeface="Calibri" pitchFamily="34" charset="0"/>
                <a:ea typeface="Calibri" pitchFamily="34" charset="-122"/>
                <a:cs typeface="Calibri" pitchFamily="34" charset="-120"/>
              </a:rPr>
              <a:t>YOUR LAUNCHPAD</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DB2777"/>
          </a:solidFill>
          <a:ln/>
        </p:spPr>
        <p:txBody>
          <a:bodyPr/>
          <a:lstStyle/>
          <a:p>
            <a:endParaRPr lang="en-AE"/>
          </a:p>
        </p:txBody>
      </p:sp>
      <p:sp>
        <p:nvSpPr>
          <p:cNvPr id="3" name="Shape 1"/>
          <p:cNvSpPr/>
          <p:nvPr/>
        </p:nvSpPr>
        <p:spPr>
          <a:xfrm>
            <a:off x="621792" y="457200"/>
            <a:ext cx="54864" cy="128016"/>
          </a:xfrm>
          <a:prstGeom prst="rect">
            <a:avLst/>
          </a:prstGeom>
          <a:solidFill>
            <a:srgbClr val="0B1437"/>
          </a:solidFill>
          <a:ln/>
        </p:spPr>
        <p:txBody>
          <a:bodyPr/>
          <a:lstStyle/>
          <a:p>
            <a:endParaRPr lang="en-AE"/>
          </a:p>
        </p:txBody>
      </p:sp>
      <p:sp>
        <p:nvSpPr>
          <p:cNvPr id="4" name="Text 2"/>
          <p:cNvSpPr/>
          <p:nvPr/>
        </p:nvSpPr>
        <p:spPr>
          <a:xfrm>
            <a:off x="457200" y="685800"/>
            <a:ext cx="11247120" cy="274320"/>
          </a:xfrm>
          <a:prstGeom prst="rect">
            <a:avLst/>
          </a:prstGeom>
          <a:noFill/>
          <a:ln/>
        </p:spPr>
        <p:txBody>
          <a:bodyPr wrap="square" lIns="0" tIns="0" rIns="0" bIns="0" rtlCol="0" anchor="ctr"/>
          <a:lstStyle/>
          <a:p>
            <a:pPr marL="0" indent="0">
              <a:buNone/>
            </a:pPr>
            <a:r>
              <a:rPr lang="en-US" sz="1100" b="1" kern="0" spc="400" dirty="0">
                <a:solidFill>
                  <a:srgbClr val="DB2777"/>
                </a:solidFill>
                <a:latin typeface="Calibri" pitchFamily="34" charset="0"/>
                <a:ea typeface="Calibri" pitchFamily="34" charset="-122"/>
                <a:cs typeface="Calibri" pitchFamily="34" charset="-120"/>
              </a:rPr>
              <a:t>CERTS + COMMUNITIES</a:t>
            </a:r>
            <a:endParaRPr lang="en-US" sz="1100" dirty="0"/>
          </a:p>
        </p:txBody>
      </p:sp>
      <p:sp>
        <p:nvSpPr>
          <p:cNvPr id="5" name="Text 3"/>
          <p:cNvSpPr/>
          <p:nvPr/>
        </p:nvSpPr>
        <p:spPr>
          <a:xfrm>
            <a:off x="457200" y="932688"/>
            <a:ext cx="1124712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The certs that matter  ·  the rooms that keep you current.</a:t>
            </a:r>
            <a:endParaRPr lang="en-US" sz="3000" dirty="0"/>
          </a:p>
        </p:txBody>
      </p:sp>
      <p:sp>
        <p:nvSpPr>
          <p:cNvPr id="6" name="Text 4"/>
          <p:cNvSpPr/>
          <p:nvPr/>
        </p:nvSpPr>
        <p:spPr>
          <a:xfrm>
            <a:off x="457200" y="1572768"/>
            <a:ext cx="11247120" cy="45720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Not an exhaustive list. A deliberately short one.</a:t>
            </a:r>
            <a:endParaRPr lang="en-US" sz="1300" dirty="0"/>
          </a:p>
        </p:txBody>
      </p:sp>
      <p:sp>
        <p:nvSpPr>
          <p:cNvPr id="7" name="Shape 5"/>
          <p:cNvSpPr/>
          <p:nvPr/>
        </p:nvSpPr>
        <p:spPr>
          <a:xfrm>
            <a:off x="457200" y="2057400"/>
            <a:ext cx="5532120" cy="4206240"/>
          </a:xfrm>
          <a:prstGeom prst="rect">
            <a:avLst/>
          </a:prstGeom>
          <a:solidFill>
            <a:srgbClr val="F8FAFC"/>
          </a:solidFill>
          <a:ln/>
        </p:spPr>
        <p:txBody>
          <a:bodyPr/>
          <a:lstStyle/>
          <a:p>
            <a:endParaRPr lang="en-AE"/>
          </a:p>
        </p:txBody>
      </p:sp>
      <p:sp>
        <p:nvSpPr>
          <p:cNvPr id="8" name="Shape 6"/>
          <p:cNvSpPr/>
          <p:nvPr/>
        </p:nvSpPr>
        <p:spPr>
          <a:xfrm>
            <a:off x="457200" y="2057400"/>
            <a:ext cx="5532120" cy="502920"/>
          </a:xfrm>
          <a:prstGeom prst="rect">
            <a:avLst/>
          </a:prstGeom>
          <a:solidFill>
            <a:srgbClr val="0B1437"/>
          </a:solidFill>
          <a:ln/>
        </p:spPr>
        <p:txBody>
          <a:bodyPr/>
          <a:lstStyle/>
          <a:p>
            <a:endParaRPr lang="en-AE"/>
          </a:p>
        </p:txBody>
      </p:sp>
      <p:sp>
        <p:nvSpPr>
          <p:cNvPr id="9" name="Text 7"/>
          <p:cNvSpPr/>
          <p:nvPr/>
        </p:nvSpPr>
        <p:spPr>
          <a:xfrm>
            <a:off x="640080" y="2057400"/>
            <a:ext cx="5303520" cy="502920"/>
          </a:xfrm>
          <a:prstGeom prst="rect">
            <a:avLst/>
          </a:prstGeom>
          <a:noFill/>
          <a:ln/>
        </p:spPr>
        <p:txBody>
          <a:bodyPr wrap="square" lIns="0" tIns="0" rIns="0" bIns="0" rtlCol="0" anchor="ctr"/>
          <a:lstStyle/>
          <a:p>
            <a:pPr marL="0" indent="0">
              <a:buNone/>
            </a:pPr>
            <a:r>
              <a:rPr lang="en-US" sz="1400" b="1" kern="0" spc="200" dirty="0">
                <a:solidFill>
                  <a:srgbClr val="FF6B35"/>
                </a:solidFill>
                <a:latin typeface="Arial Black" pitchFamily="34" charset="0"/>
                <a:ea typeface="Arial Black" pitchFamily="34" charset="-122"/>
                <a:cs typeface="Arial Black" pitchFamily="34" charset="-120"/>
              </a:rPr>
              <a:t>CERTS THAT MATTER IN 2026</a:t>
            </a:r>
            <a:endParaRPr lang="en-US" sz="1400" dirty="0"/>
          </a:p>
        </p:txBody>
      </p:sp>
      <p:sp>
        <p:nvSpPr>
          <p:cNvPr id="10" name="Shape 8"/>
          <p:cNvSpPr/>
          <p:nvPr/>
        </p:nvSpPr>
        <p:spPr>
          <a:xfrm>
            <a:off x="640080" y="2871216"/>
            <a:ext cx="109728" cy="109728"/>
          </a:xfrm>
          <a:prstGeom prst="rect">
            <a:avLst/>
          </a:prstGeom>
          <a:solidFill>
            <a:srgbClr val="FF6B35"/>
          </a:solidFill>
          <a:ln/>
        </p:spPr>
        <p:txBody>
          <a:bodyPr/>
          <a:lstStyle/>
          <a:p>
            <a:endParaRPr lang="en-AE"/>
          </a:p>
        </p:txBody>
      </p:sp>
      <p:sp>
        <p:nvSpPr>
          <p:cNvPr id="11" name="Text 9"/>
          <p:cNvSpPr/>
          <p:nvPr/>
        </p:nvSpPr>
        <p:spPr>
          <a:xfrm>
            <a:off x="822960" y="2761488"/>
            <a:ext cx="5074920" cy="365760"/>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Databricks Data Engineer Associate</a:t>
            </a:r>
            <a:endParaRPr lang="en-US" sz="1200" dirty="0"/>
          </a:p>
        </p:txBody>
      </p:sp>
      <p:sp>
        <p:nvSpPr>
          <p:cNvPr id="12" name="Shape 10"/>
          <p:cNvSpPr/>
          <p:nvPr/>
        </p:nvSpPr>
        <p:spPr>
          <a:xfrm>
            <a:off x="640080" y="3346704"/>
            <a:ext cx="109728" cy="109728"/>
          </a:xfrm>
          <a:prstGeom prst="rect">
            <a:avLst/>
          </a:prstGeom>
          <a:solidFill>
            <a:srgbClr val="FF6B35"/>
          </a:solidFill>
          <a:ln/>
        </p:spPr>
        <p:txBody>
          <a:bodyPr/>
          <a:lstStyle/>
          <a:p>
            <a:endParaRPr lang="en-AE"/>
          </a:p>
        </p:txBody>
      </p:sp>
      <p:sp>
        <p:nvSpPr>
          <p:cNvPr id="13" name="Text 11"/>
          <p:cNvSpPr/>
          <p:nvPr/>
        </p:nvSpPr>
        <p:spPr>
          <a:xfrm>
            <a:off x="822960" y="3236976"/>
            <a:ext cx="5074920" cy="365760"/>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Azure DP-700 Fabric Analytics Engineer</a:t>
            </a:r>
            <a:endParaRPr lang="en-US" sz="1200" dirty="0"/>
          </a:p>
        </p:txBody>
      </p:sp>
      <p:sp>
        <p:nvSpPr>
          <p:cNvPr id="14" name="Shape 12"/>
          <p:cNvSpPr/>
          <p:nvPr/>
        </p:nvSpPr>
        <p:spPr>
          <a:xfrm>
            <a:off x="640080" y="3822192"/>
            <a:ext cx="109728" cy="109728"/>
          </a:xfrm>
          <a:prstGeom prst="rect">
            <a:avLst/>
          </a:prstGeom>
          <a:solidFill>
            <a:srgbClr val="FF6B35"/>
          </a:solidFill>
          <a:ln/>
        </p:spPr>
        <p:txBody>
          <a:bodyPr/>
          <a:lstStyle/>
          <a:p>
            <a:endParaRPr lang="en-AE"/>
          </a:p>
        </p:txBody>
      </p:sp>
      <p:sp>
        <p:nvSpPr>
          <p:cNvPr id="15" name="Text 13"/>
          <p:cNvSpPr/>
          <p:nvPr/>
        </p:nvSpPr>
        <p:spPr>
          <a:xfrm>
            <a:off x="822960" y="3712464"/>
            <a:ext cx="5074920" cy="365760"/>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AWS Data Engineer Associate (DEA-C01)</a:t>
            </a:r>
            <a:endParaRPr lang="en-US" sz="1200" dirty="0"/>
          </a:p>
        </p:txBody>
      </p:sp>
      <p:sp>
        <p:nvSpPr>
          <p:cNvPr id="16" name="Shape 14"/>
          <p:cNvSpPr/>
          <p:nvPr/>
        </p:nvSpPr>
        <p:spPr>
          <a:xfrm>
            <a:off x="640080" y="4297680"/>
            <a:ext cx="109728" cy="109728"/>
          </a:xfrm>
          <a:prstGeom prst="rect">
            <a:avLst/>
          </a:prstGeom>
          <a:solidFill>
            <a:srgbClr val="FF6B35"/>
          </a:solidFill>
          <a:ln/>
        </p:spPr>
        <p:txBody>
          <a:bodyPr/>
          <a:lstStyle/>
          <a:p>
            <a:endParaRPr lang="en-AE"/>
          </a:p>
        </p:txBody>
      </p:sp>
      <p:sp>
        <p:nvSpPr>
          <p:cNvPr id="17" name="Text 15"/>
          <p:cNvSpPr/>
          <p:nvPr/>
        </p:nvSpPr>
        <p:spPr>
          <a:xfrm>
            <a:off x="822960" y="4187952"/>
            <a:ext cx="5074920" cy="365760"/>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Google Cloud Professional Data Engineer</a:t>
            </a:r>
            <a:endParaRPr lang="en-US" sz="1200" dirty="0"/>
          </a:p>
        </p:txBody>
      </p:sp>
      <p:sp>
        <p:nvSpPr>
          <p:cNvPr id="18" name="Shape 16"/>
          <p:cNvSpPr/>
          <p:nvPr/>
        </p:nvSpPr>
        <p:spPr>
          <a:xfrm>
            <a:off x="640080" y="4773168"/>
            <a:ext cx="109728" cy="109728"/>
          </a:xfrm>
          <a:prstGeom prst="rect">
            <a:avLst/>
          </a:prstGeom>
          <a:solidFill>
            <a:srgbClr val="FF6B35"/>
          </a:solidFill>
          <a:ln/>
        </p:spPr>
        <p:txBody>
          <a:bodyPr/>
          <a:lstStyle/>
          <a:p>
            <a:endParaRPr lang="en-AE"/>
          </a:p>
        </p:txBody>
      </p:sp>
      <p:sp>
        <p:nvSpPr>
          <p:cNvPr id="19" name="Text 17"/>
          <p:cNvSpPr/>
          <p:nvPr/>
        </p:nvSpPr>
        <p:spPr>
          <a:xfrm>
            <a:off x="822960" y="4663440"/>
            <a:ext cx="5074920" cy="365760"/>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Snowflake </a:t>
            </a:r>
            <a:r>
              <a:rPr lang="en-US" sz="1200" dirty="0" err="1">
                <a:solidFill>
                  <a:srgbClr val="0F172A"/>
                </a:solidFill>
                <a:latin typeface="Calibri" pitchFamily="34" charset="0"/>
                <a:ea typeface="Calibri" pitchFamily="34" charset="-122"/>
                <a:cs typeface="Calibri" pitchFamily="34" charset="-120"/>
              </a:rPr>
              <a:t>SnowPro</a:t>
            </a:r>
            <a:r>
              <a:rPr lang="en-US" sz="1200" dirty="0">
                <a:solidFill>
                  <a:srgbClr val="0F172A"/>
                </a:solidFill>
                <a:latin typeface="Calibri" pitchFamily="34" charset="0"/>
                <a:ea typeface="Calibri" pitchFamily="34" charset="-122"/>
                <a:cs typeface="Calibri" pitchFamily="34" charset="-120"/>
              </a:rPr>
              <a:t> Core</a:t>
            </a:r>
            <a:endParaRPr lang="en-US" sz="1200" dirty="0"/>
          </a:p>
        </p:txBody>
      </p:sp>
      <p:sp>
        <p:nvSpPr>
          <p:cNvPr id="20" name="Shape 18"/>
          <p:cNvSpPr/>
          <p:nvPr/>
        </p:nvSpPr>
        <p:spPr>
          <a:xfrm>
            <a:off x="640080" y="5248656"/>
            <a:ext cx="109728" cy="109728"/>
          </a:xfrm>
          <a:prstGeom prst="rect">
            <a:avLst/>
          </a:prstGeom>
          <a:solidFill>
            <a:srgbClr val="FF6B35"/>
          </a:solidFill>
          <a:ln/>
        </p:spPr>
        <p:txBody>
          <a:bodyPr/>
          <a:lstStyle/>
          <a:p>
            <a:endParaRPr lang="en-AE"/>
          </a:p>
        </p:txBody>
      </p:sp>
      <p:sp>
        <p:nvSpPr>
          <p:cNvPr id="21" name="Text 19"/>
          <p:cNvSpPr/>
          <p:nvPr/>
        </p:nvSpPr>
        <p:spPr>
          <a:xfrm>
            <a:off x="822960" y="5138928"/>
            <a:ext cx="5074920" cy="365760"/>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NVIDIA Generative AI with LLMs</a:t>
            </a:r>
            <a:endParaRPr lang="en-US" sz="1200" dirty="0"/>
          </a:p>
        </p:txBody>
      </p:sp>
      <p:sp>
        <p:nvSpPr>
          <p:cNvPr id="22" name="Shape 20"/>
          <p:cNvSpPr/>
          <p:nvPr/>
        </p:nvSpPr>
        <p:spPr>
          <a:xfrm>
            <a:off x="640080" y="5724144"/>
            <a:ext cx="109728" cy="109728"/>
          </a:xfrm>
          <a:prstGeom prst="rect">
            <a:avLst/>
          </a:prstGeom>
          <a:solidFill>
            <a:srgbClr val="FF6B35"/>
          </a:solidFill>
          <a:ln/>
        </p:spPr>
        <p:txBody>
          <a:bodyPr/>
          <a:lstStyle/>
          <a:p>
            <a:endParaRPr lang="en-AE"/>
          </a:p>
        </p:txBody>
      </p:sp>
      <p:sp>
        <p:nvSpPr>
          <p:cNvPr id="23" name="Text 21"/>
          <p:cNvSpPr/>
          <p:nvPr/>
        </p:nvSpPr>
        <p:spPr>
          <a:xfrm>
            <a:off x="822960" y="5614416"/>
            <a:ext cx="5074920" cy="365760"/>
          </a:xfrm>
          <a:prstGeom prst="rect">
            <a:avLst/>
          </a:prstGeom>
          <a:noFill/>
          <a:ln/>
        </p:spPr>
        <p:txBody>
          <a:bodyPr wrap="square" lIns="0" tIns="0" rIns="0" bIns="0" rtlCol="0" anchor="ctr"/>
          <a:lstStyle/>
          <a:p>
            <a:pPr marL="0" indent="0">
              <a:buNone/>
            </a:pPr>
            <a:r>
              <a:rPr lang="en-US" sz="1200" dirty="0" err="1">
                <a:solidFill>
                  <a:srgbClr val="0F172A"/>
                </a:solidFill>
                <a:latin typeface="Calibri" pitchFamily="34" charset="0"/>
                <a:ea typeface="Calibri" pitchFamily="34" charset="-122"/>
                <a:cs typeface="Calibri" pitchFamily="34" charset="-120"/>
              </a:rPr>
              <a:t>dbt</a:t>
            </a:r>
            <a:r>
              <a:rPr lang="en-US" sz="1200" dirty="0">
                <a:solidFill>
                  <a:srgbClr val="0F172A"/>
                </a:solidFill>
                <a:latin typeface="Calibri" pitchFamily="34" charset="0"/>
                <a:ea typeface="Calibri" pitchFamily="34" charset="-122"/>
                <a:cs typeface="Calibri" pitchFamily="34" charset="-120"/>
              </a:rPr>
              <a:t> </a:t>
            </a:r>
            <a:r>
              <a:rPr lang="en-US" sz="1200" dirty="0" err="1">
                <a:solidFill>
                  <a:srgbClr val="0F172A"/>
                </a:solidFill>
                <a:latin typeface="Calibri" pitchFamily="34" charset="0"/>
                <a:ea typeface="Calibri" pitchFamily="34" charset="-122"/>
                <a:cs typeface="Calibri" pitchFamily="34" charset="-120"/>
              </a:rPr>
              <a:t>dbt</a:t>
            </a:r>
            <a:r>
              <a:rPr lang="en-US" sz="1200" dirty="0">
                <a:solidFill>
                  <a:srgbClr val="0F172A"/>
                </a:solidFill>
                <a:latin typeface="Calibri" pitchFamily="34" charset="0"/>
                <a:ea typeface="Calibri" pitchFamily="34" charset="-122"/>
                <a:cs typeface="Calibri" pitchFamily="34" charset="-120"/>
              </a:rPr>
              <a:t> Analytics Engineering Cert</a:t>
            </a:r>
            <a:endParaRPr lang="en-US" sz="1200" dirty="0"/>
          </a:p>
        </p:txBody>
      </p:sp>
      <p:sp>
        <p:nvSpPr>
          <p:cNvPr id="24" name="Shape 22"/>
          <p:cNvSpPr/>
          <p:nvPr/>
        </p:nvSpPr>
        <p:spPr>
          <a:xfrm>
            <a:off x="6172200" y="2057400"/>
            <a:ext cx="5532120" cy="4206240"/>
          </a:xfrm>
          <a:prstGeom prst="rect">
            <a:avLst/>
          </a:prstGeom>
          <a:solidFill>
            <a:srgbClr val="F8FAFC"/>
          </a:solidFill>
          <a:ln/>
        </p:spPr>
        <p:txBody>
          <a:bodyPr/>
          <a:lstStyle/>
          <a:p>
            <a:endParaRPr lang="en-AE"/>
          </a:p>
        </p:txBody>
      </p:sp>
      <p:sp>
        <p:nvSpPr>
          <p:cNvPr id="25" name="Shape 23"/>
          <p:cNvSpPr/>
          <p:nvPr/>
        </p:nvSpPr>
        <p:spPr>
          <a:xfrm>
            <a:off x="6172200" y="2057400"/>
            <a:ext cx="5532120" cy="502920"/>
          </a:xfrm>
          <a:prstGeom prst="rect">
            <a:avLst/>
          </a:prstGeom>
          <a:solidFill>
            <a:srgbClr val="0B1437"/>
          </a:solidFill>
          <a:ln/>
        </p:spPr>
        <p:txBody>
          <a:bodyPr/>
          <a:lstStyle/>
          <a:p>
            <a:endParaRPr lang="en-AE"/>
          </a:p>
        </p:txBody>
      </p:sp>
      <p:sp>
        <p:nvSpPr>
          <p:cNvPr id="26" name="Text 24"/>
          <p:cNvSpPr/>
          <p:nvPr/>
        </p:nvSpPr>
        <p:spPr>
          <a:xfrm>
            <a:off x="6355080" y="2057400"/>
            <a:ext cx="5303520" cy="502920"/>
          </a:xfrm>
          <a:prstGeom prst="rect">
            <a:avLst/>
          </a:prstGeom>
          <a:noFill/>
          <a:ln/>
        </p:spPr>
        <p:txBody>
          <a:bodyPr wrap="square" lIns="0" tIns="0" rIns="0" bIns="0" rtlCol="0" anchor="ctr"/>
          <a:lstStyle/>
          <a:p>
            <a:pPr marL="0" indent="0">
              <a:buNone/>
            </a:pPr>
            <a:r>
              <a:rPr lang="en-US" sz="1400" b="1" kern="0" spc="200" dirty="0">
                <a:solidFill>
                  <a:srgbClr val="22D3EE"/>
                </a:solidFill>
                <a:latin typeface="Arial Black" pitchFamily="34" charset="0"/>
                <a:ea typeface="Arial Black" pitchFamily="34" charset="-122"/>
                <a:cs typeface="Arial Black" pitchFamily="34" charset="-120"/>
              </a:rPr>
              <a:t>COMMUNITIES TO STAY CURRENT</a:t>
            </a:r>
            <a:endParaRPr lang="en-US" sz="1400" dirty="0"/>
          </a:p>
        </p:txBody>
      </p:sp>
      <p:sp>
        <p:nvSpPr>
          <p:cNvPr id="27" name="Shape 25"/>
          <p:cNvSpPr/>
          <p:nvPr/>
        </p:nvSpPr>
        <p:spPr>
          <a:xfrm>
            <a:off x="6355080" y="2871216"/>
            <a:ext cx="109728" cy="109728"/>
          </a:xfrm>
          <a:prstGeom prst="rect">
            <a:avLst/>
          </a:prstGeom>
          <a:solidFill>
            <a:srgbClr val="22D3EE"/>
          </a:solidFill>
          <a:ln/>
        </p:spPr>
        <p:txBody>
          <a:bodyPr/>
          <a:lstStyle/>
          <a:p>
            <a:endParaRPr lang="en-AE"/>
          </a:p>
        </p:txBody>
      </p:sp>
      <p:sp>
        <p:nvSpPr>
          <p:cNvPr id="28" name="Text 26"/>
          <p:cNvSpPr/>
          <p:nvPr/>
        </p:nvSpPr>
        <p:spPr>
          <a:xfrm>
            <a:off x="6537960" y="2761488"/>
            <a:ext cx="5074920" cy="365760"/>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r/dataengineering  ·  r/MachineLearning</a:t>
            </a:r>
            <a:endParaRPr lang="en-US" sz="1200" dirty="0"/>
          </a:p>
        </p:txBody>
      </p:sp>
      <p:sp>
        <p:nvSpPr>
          <p:cNvPr id="29" name="Shape 27"/>
          <p:cNvSpPr/>
          <p:nvPr/>
        </p:nvSpPr>
        <p:spPr>
          <a:xfrm>
            <a:off x="6355080" y="3346704"/>
            <a:ext cx="109728" cy="109728"/>
          </a:xfrm>
          <a:prstGeom prst="rect">
            <a:avLst/>
          </a:prstGeom>
          <a:solidFill>
            <a:srgbClr val="22D3EE"/>
          </a:solidFill>
          <a:ln/>
        </p:spPr>
        <p:txBody>
          <a:bodyPr/>
          <a:lstStyle/>
          <a:p>
            <a:endParaRPr lang="en-AE"/>
          </a:p>
        </p:txBody>
      </p:sp>
      <p:sp>
        <p:nvSpPr>
          <p:cNvPr id="30" name="Text 28"/>
          <p:cNvSpPr/>
          <p:nvPr/>
        </p:nvSpPr>
        <p:spPr>
          <a:xfrm>
            <a:off x="6537960" y="3236976"/>
            <a:ext cx="5074920" cy="365760"/>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Locally Optimistic (Slack) analytics eng</a:t>
            </a:r>
            <a:endParaRPr lang="en-US" sz="1200" dirty="0"/>
          </a:p>
        </p:txBody>
      </p:sp>
      <p:sp>
        <p:nvSpPr>
          <p:cNvPr id="31" name="Shape 29"/>
          <p:cNvSpPr/>
          <p:nvPr/>
        </p:nvSpPr>
        <p:spPr>
          <a:xfrm>
            <a:off x="6355080" y="3822192"/>
            <a:ext cx="109728" cy="109728"/>
          </a:xfrm>
          <a:prstGeom prst="rect">
            <a:avLst/>
          </a:prstGeom>
          <a:solidFill>
            <a:srgbClr val="22D3EE"/>
          </a:solidFill>
          <a:ln/>
        </p:spPr>
        <p:txBody>
          <a:bodyPr/>
          <a:lstStyle/>
          <a:p>
            <a:endParaRPr lang="en-AE"/>
          </a:p>
        </p:txBody>
      </p:sp>
      <p:sp>
        <p:nvSpPr>
          <p:cNvPr id="32" name="Text 30"/>
          <p:cNvSpPr/>
          <p:nvPr/>
        </p:nvSpPr>
        <p:spPr>
          <a:xfrm>
            <a:off x="6537960" y="3712464"/>
            <a:ext cx="5074920" cy="365760"/>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dbt Slack </a:t>
            </a:r>
            <a:r>
              <a:rPr lang="en-US" sz="1200" dirty="0" err="1">
                <a:solidFill>
                  <a:srgbClr val="0F172A"/>
                </a:solidFill>
                <a:latin typeface="Calibri" pitchFamily="34" charset="0"/>
                <a:ea typeface="Calibri" pitchFamily="34" charset="-122"/>
                <a:cs typeface="Calibri" pitchFamily="34" charset="-120"/>
              </a:rPr>
              <a:t>dbt</a:t>
            </a:r>
            <a:r>
              <a:rPr lang="en-US" sz="1200" dirty="0">
                <a:solidFill>
                  <a:srgbClr val="0F172A"/>
                </a:solidFill>
                <a:latin typeface="Calibri" pitchFamily="34" charset="0"/>
                <a:ea typeface="Calibri" pitchFamily="34" charset="-122"/>
                <a:cs typeface="Calibri" pitchFamily="34" charset="-120"/>
              </a:rPr>
              <a:t> + modern data stack</a:t>
            </a:r>
            <a:endParaRPr lang="en-US" sz="1200" dirty="0"/>
          </a:p>
        </p:txBody>
      </p:sp>
      <p:sp>
        <p:nvSpPr>
          <p:cNvPr id="33" name="Shape 31"/>
          <p:cNvSpPr/>
          <p:nvPr/>
        </p:nvSpPr>
        <p:spPr>
          <a:xfrm>
            <a:off x="6355080" y="4297680"/>
            <a:ext cx="109728" cy="109728"/>
          </a:xfrm>
          <a:prstGeom prst="rect">
            <a:avLst/>
          </a:prstGeom>
          <a:solidFill>
            <a:srgbClr val="22D3EE"/>
          </a:solidFill>
          <a:ln/>
        </p:spPr>
        <p:txBody>
          <a:bodyPr/>
          <a:lstStyle/>
          <a:p>
            <a:endParaRPr lang="en-AE"/>
          </a:p>
        </p:txBody>
      </p:sp>
      <p:sp>
        <p:nvSpPr>
          <p:cNvPr id="34" name="Text 32"/>
          <p:cNvSpPr/>
          <p:nvPr/>
        </p:nvSpPr>
        <p:spPr>
          <a:xfrm>
            <a:off x="6537960" y="4187952"/>
            <a:ext cx="5074920" cy="365760"/>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MLOps Community (Slack)</a:t>
            </a:r>
            <a:endParaRPr lang="en-US" sz="1200" dirty="0"/>
          </a:p>
        </p:txBody>
      </p:sp>
      <p:sp>
        <p:nvSpPr>
          <p:cNvPr id="35" name="Shape 33"/>
          <p:cNvSpPr/>
          <p:nvPr/>
        </p:nvSpPr>
        <p:spPr>
          <a:xfrm>
            <a:off x="6355080" y="4773168"/>
            <a:ext cx="109728" cy="109728"/>
          </a:xfrm>
          <a:prstGeom prst="rect">
            <a:avLst/>
          </a:prstGeom>
          <a:solidFill>
            <a:srgbClr val="22D3EE"/>
          </a:solidFill>
          <a:ln/>
        </p:spPr>
        <p:txBody>
          <a:bodyPr/>
          <a:lstStyle/>
          <a:p>
            <a:endParaRPr lang="en-AE"/>
          </a:p>
        </p:txBody>
      </p:sp>
      <p:sp>
        <p:nvSpPr>
          <p:cNvPr id="36" name="Text 34"/>
          <p:cNvSpPr/>
          <p:nvPr/>
        </p:nvSpPr>
        <p:spPr>
          <a:xfrm>
            <a:off x="6537960" y="4663440"/>
            <a:ext cx="5074920" cy="365760"/>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Hugging Face Discord</a:t>
            </a:r>
            <a:endParaRPr lang="en-US" sz="1200" dirty="0"/>
          </a:p>
        </p:txBody>
      </p:sp>
      <p:sp>
        <p:nvSpPr>
          <p:cNvPr id="37" name="Shape 35"/>
          <p:cNvSpPr/>
          <p:nvPr/>
        </p:nvSpPr>
        <p:spPr>
          <a:xfrm>
            <a:off x="6355080" y="5248656"/>
            <a:ext cx="109728" cy="109728"/>
          </a:xfrm>
          <a:prstGeom prst="rect">
            <a:avLst/>
          </a:prstGeom>
          <a:solidFill>
            <a:srgbClr val="22D3EE"/>
          </a:solidFill>
          <a:ln/>
        </p:spPr>
        <p:txBody>
          <a:bodyPr/>
          <a:lstStyle/>
          <a:p>
            <a:endParaRPr lang="en-AE"/>
          </a:p>
        </p:txBody>
      </p:sp>
      <p:sp>
        <p:nvSpPr>
          <p:cNvPr id="38" name="Text 36"/>
          <p:cNvSpPr/>
          <p:nvPr/>
        </p:nvSpPr>
        <p:spPr>
          <a:xfrm>
            <a:off x="6537960" y="5138928"/>
            <a:ext cx="5074920" cy="365760"/>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Kaggle forums</a:t>
            </a:r>
            <a:endParaRPr lang="en-US" sz="1200" dirty="0"/>
          </a:p>
        </p:txBody>
      </p:sp>
      <p:sp>
        <p:nvSpPr>
          <p:cNvPr id="39" name="Shape 37"/>
          <p:cNvSpPr/>
          <p:nvPr/>
        </p:nvSpPr>
        <p:spPr>
          <a:xfrm>
            <a:off x="6355080" y="5724144"/>
            <a:ext cx="109728" cy="109728"/>
          </a:xfrm>
          <a:prstGeom prst="rect">
            <a:avLst/>
          </a:prstGeom>
          <a:solidFill>
            <a:srgbClr val="22D3EE"/>
          </a:solidFill>
          <a:ln/>
        </p:spPr>
        <p:txBody>
          <a:bodyPr/>
          <a:lstStyle/>
          <a:p>
            <a:endParaRPr lang="en-AE"/>
          </a:p>
        </p:txBody>
      </p:sp>
      <p:sp>
        <p:nvSpPr>
          <p:cNvPr id="40" name="Text 38"/>
          <p:cNvSpPr/>
          <p:nvPr/>
        </p:nvSpPr>
        <p:spPr>
          <a:xfrm>
            <a:off x="6537960" y="5614416"/>
            <a:ext cx="5074920" cy="365760"/>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Podcasts: Data Engineering · Latent Space · DataFramed</a:t>
            </a:r>
            <a:endParaRPr lang="en-US" sz="1200" dirty="0"/>
          </a:p>
        </p:txBody>
      </p:sp>
      <p:sp>
        <p:nvSpPr>
          <p:cNvPr id="41" name="Shape 39"/>
          <p:cNvSpPr/>
          <p:nvPr/>
        </p:nvSpPr>
        <p:spPr>
          <a:xfrm>
            <a:off x="457200" y="6355080"/>
            <a:ext cx="11247120" cy="182880"/>
          </a:xfrm>
          <a:prstGeom prst="rect">
            <a:avLst/>
          </a:prstGeom>
          <a:solidFill>
            <a:srgbClr val="F59E0B"/>
          </a:solidFill>
          <a:ln/>
        </p:spPr>
        <p:txBody>
          <a:bodyPr/>
          <a:lstStyle/>
          <a:p>
            <a:endParaRPr lang="en-AE"/>
          </a:p>
        </p:txBody>
      </p:sp>
      <p:sp>
        <p:nvSpPr>
          <p:cNvPr id="42" name="Text 40"/>
          <p:cNvSpPr/>
          <p:nvPr/>
        </p:nvSpPr>
        <p:spPr>
          <a:xfrm>
            <a:off x="640080" y="6355080"/>
            <a:ext cx="10972800" cy="182880"/>
          </a:xfrm>
          <a:prstGeom prst="rect">
            <a:avLst/>
          </a:prstGeom>
          <a:noFill/>
          <a:ln/>
        </p:spPr>
        <p:txBody>
          <a:bodyPr wrap="square" lIns="0" tIns="0" rIns="0" bIns="0" rtlCol="0" anchor="ctr"/>
          <a:lstStyle/>
          <a:p>
            <a:pPr marL="0" indent="0">
              <a:buNone/>
            </a:pPr>
            <a:r>
              <a:rPr lang="en-US" sz="1050" b="1" dirty="0">
                <a:solidFill>
                  <a:srgbClr val="0B1437"/>
                </a:solidFill>
                <a:latin typeface="Calibri" pitchFamily="34" charset="0"/>
                <a:ea typeface="Calibri" pitchFamily="34" charset="-122"/>
                <a:cs typeface="Calibri" pitchFamily="34" charset="-120"/>
              </a:rPr>
              <a:t>TRUTH BOMB  ·  </a:t>
            </a:r>
            <a:r>
              <a:rPr lang="en-US" sz="1050" i="1" dirty="0">
                <a:solidFill>
                  <a:srgbClr val="0B1437"/>
                </a:solidFill>
                <a:latin typeface="Calibri" pitchFamily="34" charset="0"/>
                <a:ea typeface="Calibri" pitchFamily="34" charset="-122"/>
                <a:cs typeface="Calibri" pitchFamily="34" charset="-120"/>
              </a:rPr>
              <a:t>build ONE end-to-end project, push to GitHub, write it up on LinkedIn stands out more than any cert.</a:t>
            </a:r>
            <a:endParaRPr lang="en-US" sz="1050" dirty="0"/>
          </a:p>
        </p:txBody>
      </p:sp>
      <p:sp>
        <p:nvSpPr>
          <p:cNvPr id="43" name="Text 41"/>
          <p:cNvSpPr/>
          <p:nvPr/>
        </p:nvSpPr>
        <p:spPr>
          <a:xfrm>
            <a:off x="10332720" y="6510528"/>
            <a:ext cx="173736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28 / 32  ·  DATA &amp; AI</a:t>
            </a:r>
            <a:endParaRPr lang="en-US" sz="900" dirty="0"/>
          </a:p>
        </p:txBody>
      </p:sp>
      <p:sp>
        <p:nvSpPr>
          <p:cNvPr id="44" name="Text 42"/>
          <p:cNvSpPr/>
          <p:nvPr/>
        </p:nvSpPr>
        <p:spPr>
          <a:xfrm>
            <a:off x="457200" y="6510528"/>
            <a:ext cx="5486400" cy="256032"/>
          </a:xfrm>
          <a:prstGeom prst="rect">
            <a:avLst/>
          </a:prstGeom>
          <a:noFill/>
          <a:ln/>
        </p:spPr>
        <p:txBody>
          <a:bodyPr wrap="square" lIns="0" tIns="0" rIns="0" bIns="0" rtlCol="0" anchor="ctr"/>
          <a:lstStyle/>
          <a:p>
            <a:pPr marL="0" indent="0">
              <a:buNone/>
            </a:pPr>
            <a:r>
              <a:rPr lang="en-US" sz="900" b="1" kern="0" spc="200" dirty="0">
                <a:solidFill>
                  <a:srgbClr val="94A3B8"/>
                </a:solidFill>
                <a:latin typeface="Calibri" pitchFamily="34" charset="0"/>
                <a:ea typeface="Calibri" pitchFamily="34" charset="-122"/>
                <a:cs typeface="Calibri" pitchFamily="34" charset="-120"/>
              </a:rPr>
              <a:t>YOUR LAUNCHPAD</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DB2777"/>
          </a:solidFill>
          <a:ln/>
        </p:spPr>
        <p:txBody>
          <a:bodyPr/>
          <a:lstStyle/>
          <a:p>
            <a:endParaRPr lang="en-AE"/>
          </a:p>
        </p:txBody>
      </p:sp>
      <p:sp>
        <p:nvSpPr>
          <p:cNvPr id="3" name="Shape 1"/>
          <p:cNvSpPr/>
          <p:nvPr/>
        </p:nvSpPr>
        <p:spPr>
          <a:xfrm>
            <a:off x="621792" y="457200"/>
            <a:ext cx="54864" cy="128016"/>
          </a:xfrm>
          <a:prstGeom prst="rect">
            <a:avLst/>
          </a:prstGeom>
          <a:solidFill>
            <a:srgbClr val="0B1437"/>
          </a:solidFill>
          <a:ln/>
        </p:spPr>
        <p:txBody>
          <a:bodyPr/>
          <a:lstStyle/>
          <a:p>
            <a:endParaRPr lang="en-AE"/>
          </a:p>
        </p:txBody>
      </p:sp>
      <p:sp>
        <p:nvSpPr>
          <p:cNvPr id="4" name="Text 2"/>
          <p:cNvSpPr/>
          <p:nvPr/>
        </p:nvSpPr>
        <p:spPr>
          <a:xfrm>
            <a:off x="457200" y="685800"/>
            <a:ext cx="11247120" cy="274320"/>
          </a:xfrm>
          <a:prstGeom prst="rect">
            <a:avLst/>
          </a:prstGeom>
          <a:noFill/>
          <a:ln/>
        </p:spPr>
        <p:txBody>
          <a:bodyPr wrap="square" lIns="0" tIns="0" rIns="0" bIns="0" rtlCol="0" anchor="ctr"/>
          <a:lstStyle/>
          <a:p>
            <a:pPr marL="0" indent="0">
              <a:buNone/>
            </a:pPr>
            <a:r>
              <a:rPr lang="en-US" sz="1100" b="1" kern="0" spc="400" dirty="0">
                <a:solidFill>
                  <a:srgbClr val="DB2777"/>
                </a:solidFill>
                <a:latin typeface="Calibri" pitchFamily="34" charset="0"/>
                <a:ea typeface="Calibri" pitchFamily="34" charset="-122"/>
                <a:cs typeface="Calibri" pitchFamily="34" charset="-120"/>
              </a:rPr>
              <a:t>BUILD. SHIP. BRAG.</a:t>
            </a:r>
            <a:endParaRPr lang="en-US" sz="1100" dirty="0"/>
          </a:p>
        </p:txBody>
      </p:sp>
      <p:sp>
        <p:nvSpPr>
          <p:cNvPr id="5" name="Text 3"/>
          <p:cNvSpPr/>
          <p:nvPr/>
        </p:nvSpPr>
        <p:spPr>
          <a:xfrm>
            <a:off x="457200" y="932688"/>
            <a:ext cx="1124712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5 portfolio projects that don't suck.</a:t>
            </a:r>
            <a:endParaRPr lang="en-US" sz="3000" dirty="0"/>
          </a:p>
        </p:txBody>
      </p:sp>
      <p:sp>
        <p:nvSpPr>
          <p:cNvPr id="6" name="Text 4"/>
          <p:cNvSpPr/>
          <p:nvPr/>
        </p:nvSpPr>
        <p:spPr>
          <a:xfrm>
            <a:off x="457200" y="1572768"/>
            <a:ext cx="11247120" cy="45720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Each teaches one concept from this lecture. Each looks great on a resume.</a:t>
            </a:r>
            <a:endParaRPr lang="en-US" sz="1300" dirty="0"/>
          </a:p>
        </p:txBody>
      </p:sp>
      <p:sp>
        <p:nvSpPr>
          <p:cNvPr id="7" name="Shape 5"/>
          <p:cNvSpPr/>
          <p:nvPr/>
        </p:nvSpPr>
        <p:spPr>
          <a:xfrm>
            <a:off x="457200" y="2103120"/>
            <a:ext cx="11247120" cy="685800"/>
          </a:xfrm>
          <a:prstGeom prst="rect">
            <a:avLst/>
          </a:prstGeom>
          <a:solidFill>
            <a:srgbClr val="F8FAFC"/>
          </a:solidFill>
          <a:ln/>
        </p:spPr>
        <p:txBody>
          <a:bodyPr/>
          <a:lstStyle/>
          <a:p>
            <a:endParaRPr lang="en-AE"/>
          </a:p>
        </p:txBody>
      </p:sp>
      <p:sp>
        <p:nvSpPr>
          <p:cNvPr id="8" name="Shape 6"/>
          <p:cNvSpPr/>
          <p:nvPr/>
        </p:nvSpPr>
        <p:spPr>
          <a:xfrm>
            <a:off x="457200" y="2103120"/>
            <a:ext cx="685800" cy="685800"/>
          </a:xfrm>
          <a:prstGeom prst="rect">
            <a:avLst/>
          </a:prstGeom>
          <a:solidFill>
            <a:srgbClr val="F59E0B"/>
          </a:solidFill>
          <a:ln/>
        </p:spPr>
        <p:txBody>
          <a:bodyPr/>
          <a:lstStyle/>
          <a:p>
            <a:endParaRPr lang="en-AE"/>
          </a:p>
        </p:txBody>
      </p:sp>
      <p:sp>
        <p:nvSpPr>
          <p:cNvPr id="9" name="Text 7"/>
          <p:cNvSpPr/>
          <p:nvPr/>
        </p:nvSpPr>
        <p:spPr>
          <a:xfrm>
            <a:off x="457200" y="2103120"/>
            <a:ext cx="685800" cy="685800"/>
          </a:xfrm>
          <a:prstGeom prst="rect">
            <a:avLst/>
          </a:prstGeom>
          <a:noFill/>
          <a:ln/>
        </p:spPr>
        <p:txBody>
          <a:bodyPr wrap="square" lIns="0" tIns="0" rIns="0" bIns="0" rtlCol="0" anchor="ctr"/>
          <a:lstStyle/>
          <a:p>
            <a:pPr marL="0" indent="0" algn="ctr">
              <a:buNone/>
            </a:pPr>
            <a:r>
              <a:rPr lang="en-US" sz="2800" b="1" dirty="0">
                <a:solidFill>
                  <a:srgbClr val="FFFFFF"/>
                </a:solidFill>
                <a:latin typeface="Arial Black" pitchFamily="34" charset="0"/>
                <a:ea typeface="Arial Black" pitchFamily="34" charset="-122"/>
                <a:cs typeface="Arial Black" pitchFamily="34" charset="-120"/>
              </a:rPr>
              <a:t>1</a:t>
            </a:r>
            <a:endParaRPr lang="en-US" sz="2800" dirty="0"/>
          </a:p>
        </p:txBody>
      </p:sp>
      <p:sp>
        <p:nvSpPr>
          <p:cNvPr id="10" name="Text 8"/>
          <p:cNvSpPr/>
          <p:nvPr/>
        </p:nvSpPr>
        <p:spPr>
          <a:xfrm>
            <a:off x="1280160" y="2148840"/>
            <a:ext cx="4754880" cy="32004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Mini Medallion Warehouse</a:t>
            </a:r>
            <a:endParaRPr lang="en-US" sz="1500" dirty="0"/>
          </a:p>
        </p:txBody>
      </p:sp>
      <p:sp>
        <p:nvSpPr>
          <p:cNvPr id="11" name="Text 9"/>
          <p:cNvSpPr/>
          <p:nvPr/>
        </p:nvSpPr>
        <p:spPr>
          <a:xfrm>
            <a:off x="1280160" y="2468880"/>
            <a:ext cx="4754880" cy="27432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Python + DuckDB + dbt + Metabase</a:t>
            </a:r>
            <a:endParaRPr lang="en-US" sz="1050" dirty="0"/>
          </a:p>
        </p:txBody>
      </p:sp>
      <p:sp>
        <p:nvSpPr>
          <p:cNvPr id="12" name="Text 10"/>
          <p:cNvSpPr/>
          <p:nvPr/>
        </p:nvSpPr>
        <p:spPr>
          <a:xfrm>
            <a:off x="6309360" y="2157984"/>
            <a:ext cx="914400" cy="228600"/>
          </a:xfrm>
          <a:prstGeom prst="rect">
            <a:avLst/>
          </a:prstGeom>
          <a:noFill/>
          <a:ln/>
        </p:spPr>
        <p:txBody>
          <a:bodyPr wrap="square" lIns="0" tIns="0" rIns="0" bIns="0" rtlCol="0" anchor="ctr"/>
          <a:lstStyle/>
          <a:p>
            <a:pPr marL="0" indent="0">
              <a:buNone/>
            </a:pPr>
            <a:r>
              <a:rPr lang="en-US" sz="900" b="1" kern="0" spc="200" dirty="0">
                <a:solidFill>
                  <a:srgbClr val="64748B"/>
                </a:solidFill>
                <a:latin typeface="Calibri" pitchFamily="34" charset="0"/>
                <a:ea typeface="Calibri" pitchFamily="34" charset="-122"/>
                <a:cs typeface="Calibri" pitchFamily="34" charset="-120"/>
              </a:rPr>
              <a:t>TEACHES</a:t>
            </a:r>
            <a:endParaRPr lang="en-US" sz="900" dirty="0"/>
          </a:p>
        </p:txBody>
      </p:sp>
      <p:sp>
        <p:nvSpPr>
          <p:cNvPr id="13" name="Text 11"/>
          <p:cNvSpPr/>
          <p:nvPr/>
        </p:nvSpPr>
        <p:spPr>
          <a:xfrm>
            <a:off x="6309360" y="2377440"/>
            <a:ext cx="5394960" cy="365760"/>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Bronze/Silver/Gold, ELT, BI</a:t>
            </a:r>
            <a:endParaRPr lang="en-US" sz="1200" dirty="0"/>
          </a:p>
        </p:txBody>
      </p:sp>
      <p:sp>
        <p:nvSpPr>
          <p:cNvPr id="14" name="Shape 12"/>
          <p:cNvSpPr/>
          <p:nvPr/>
        </p:nvSpPr>
        <p:spPr>
          <a:xfrm>
            <a:off x="457200" y="2880360"/>
            <a:ext cx="11247120" cy="685800"/>
          </a:xfrm>
          <a:prstGeom prst="rect">
            <a:avLst/>
          </a:prstGeom>
          <a:solidFill>
            <a:srgbClr val="F8FAFC"/>
          </a:solidFill>
          <a:ln/>
        </p:spPr>
        <p:txBody>
          <a:bodyPr/>
          <a:lstStyle/>
          <a:p>
            <a:endParaRPr lang="en-AE"/>
          </a:p>
        </p:txBody>
      </p:sp>
      <p:sp>
        <p:nvSpPr>
          <p:cNvPr id="15" name="Shape 13"/>
          <p:cNvSpPr/>
          <p:nvPr/>
        </p:nvSpPr>
        <p:spPr>
          <a:xfrm>
            <a:off x="457200" y="2880360"/>
            <a:ext cx="685800" cy="685800"/>
          </a:xfrm>
          <a:prstGeom prst="rect">
            <a:avLst/>
          </a:prstGeom>
          <a:solidFill>
            <a:srgbClr val="EF4444"/>
          </a:solidFill>
          <a:ln/>
        </p:spPr>
        <p:txBody>
          <a:bodyPr/>
          <a:lstStyle/>
          <a:p>
            <a:endParaRPr lang="en-AE"/>
          </a:p>
        </p:txBody>
      </p:sp>
      <p:sp>
        <p:nvSpPr>
          <p:cNvPr id="16" name="Text 14"/>
          <p:cNvSpPr/>
          <p:nvPr/>
        </p:nvSpPr>
        <p:spPr>
          <a:xfrm>
            <a:off x="457200" y="2880360"/>
            <a:ext cx="685800" cy="685800"/>
          </a:xfrm>
          <a:prstGeom prst="rect">
            <a:avLst/>
          </a:prstGeom>
          <a:noFill/>
          <a:ln/>
        </p:spPr>
        <p:txBody>
          <a:bodyPr wrap="square" lIns="0" tIns="0" rIns="0" bIns="0" rtlCol="0" anchor="ctr"/>
          <a:lstStyle/>
          <a:p>
            <a:pPr marL="0" indent="0" algn="ctr">
              <a:buNone/>
            </a:pPr>
            <a:r>
              <a:rPr lang="en-US" sz="2800" b="1" dirty="0">
                <a:solidFill>
                  <a:srgbClr val="FFFFFF"/>
                </a:solidFill>
                <a:latin typeface="Arial Black" pitchFamily="34" charset="0"/>
                <a:ea typeface="Arial Black" pitchFamily="34" charset="-122"/>
                <a:cs typeface="Arial Black" pitchFamily="34" charset="-120"/>
              </a:rPr>
              <a:t>2</a:t>
            </a:r>
            <a:endParaRPr lang="en-US" sz="2800" dirty="0"/>
          </a:p>
        </p:txBody>
      </p:sp>
      <p:sp>
        <p:nvSpPr>
          <p:cNvPr id="17" name="Text 15"/>
          <p:cNvSpPr/>
          <p:nvPr/>
        </p:nvSpPr>
        <p:spPr>
          <a:xfrm>
            <a:off x="1280160" y="2926080"/>
            <a:ext cx="4754880" cy="32004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Streaming Fraud Detector</a:t>
            </a:r>
            <a:endParaRPr lang="en-US" sz="1500" dirty="0"/>
          </a:p>
        </p:txBody>
      </p:sp>
      <p:sp>
        <p:nvSpPr>
          <p:cNvPr id="18" name="Text 16"/>
          <p:cNvSpPr/>
          <p:nvPr/>
        </p:nvSpPr>
        <p:spPr>
          <a:xfrm>
            <a:off x="1280160" y="3246120"/>
            <a:ext cx="4754880" cy="27432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Kafka + Spark + Delta + Streamlit</a:t>
            </a:r>
            <a:endParaRPr lang="en-US" sz="1050" dirty="0"/>
          </a:p>
        </p:txBody>
      </p:sp>
      <p:sp>
        <p:nvSpPr>
          <p:cNvPr id="19" name="Text 17"/>
          <p:cNvSpPr/>
          <p:nvPr/>
        </p:nvSpPr>
        <p:spPr>
          <a:xfrm>
            <a:off x="6309360" y="2935224"/>
            <a:ext cx="914400" cy="228600"/>
          </a:xfrm>
          <a:prstGeom prst="rect">
            <a:avLst/>
          </a:prstGeom>
          <a:noFill/>
          <a:ln/>
        </p:spPr>
        <p:txBody>
          <a:bodyPr wrap="square" lIns="0" tIns="0" rIns="0" bIns="0" rtlCol="0" anchor="ctr"/>
          <a:lstStyle/>
          <a:p>
            <a:pPr marL="0" indent="0">
              <a:buNone/>
            </a:pPr>
            <a:r>
              <a:rPr lang="en-US" sz="900" b="1" kern="0" spc="200" dirty="0">
                <a:solidFill>
                  <a:srgbClr val="64748B"/>
                </a:solidFill>
                <a:latin typeface="Calibri" pitchFamily="34" charset="0"/>
                <a:ea typeface="Calibri" pitchFamily="34" charset="-122"/>
                <a:cs typeface="Calibri" pitchFamily="34" charset="-120"/>
              </a:rPr>
              <a:t>TEACHES</a:t>
            </a:r>
            <a:endParaRPr lang="en-US" sz="900" dirty="0"/>
          </a:p>
        </p:txBody>
      </p:sp>
      <p:sp>
        <p:nvSpPr>
          <p:cNvPr id="20" name="Text 18"/>
          <p:cNvSpPr/>
          <p:nvPr/>
        </p:nvSpPr>
        <p:spPr>
          <a:xfrm>
            <a:off x="6309360" y="3154680"/>
            <a:ext cx="5394960" cy="365760"/>
          </a:xfrm>
          <a:prstGeom prst="rect">
            <a:avLst/>
          </a:prstGeom>
          <a:noFill/>
          <a:ln/>
        </p:spPr>
        <p:txBody>
          <a:bodyPr wrap="square" lIns="0" tIns="0" rIns="0" bIns="0" rtlCol="0" anchor="ctr"/>
          <a:lstStyle/>
          <a:p>
            <a:pPr marL="0" indent="0">
              <a:buNone/>
            </a:pPr>
            <a:r>
              <a:rPr lang="en-US" sz="1200" b="1" dirty="0">
                <a:solidFill>
                  <a:srgbClr val="EF4444"/>
                </a:solidFill>
                <a:latin typeface="Calibri" pitchFamily="34" charset="0"/>
                <a:ea typeface="Calibri" pitchFamily="34" charset="-122"/>
                <a:cs typeface="Calibri" pitchFamily="34" charset="-120"/>
              </a:rPr>
              <a:t>Real-time pipes, anomaly detection</a:t>
            </a:r>
            <a:endParaRPr lang="en-US" sz="1200" dirty="0"/>
          </a:p>
        </p:txBody>
      </p:sp>
      <p:sp>
        <p:nvSpPr>
          <p:cNvPr id="21" name="Shape 19"/>
          <p:cNvSpPr/>
          <p:nvPr/>
        </p:nvSpPr>
        <p:spPr>
          <a:xfrm>
            <a:off x="457200" y="3657600"/>
            <a:ext cx="11247120" cy="685800"/>
          </a:xfrm>
          <a:prstGeom prst="rect">
            <a:avLst/>
          </a:prstGeom>
          <a:solidFill>
            <a:srgbClr val="F8FAFC"/>
          </a:solidFill>
          <a:ln/>
        </p:spPr>
        <p:txBody>
          <a:bodyPr/>
          <a:lstStyle/>
          <a:p>
            <a:endParaRPr lang="en-AE"/>
          </a:p>
        </p:txBody>
      </p:sp>
      <p:sp>
        <p:nvSpPr>
          <p:cNvPr id="22" name="Shape 20"/>
          <p:cNvSpPr/>
          <p:nvPr/>
        </p:nvSpPr>
        <p:spPr>
          <a:xfrm>
            <a:off x="457200" y="3657600"/>
            <a:ext cx="685800" cy="685800"/>
          </a:xfrm>
          <a:prstGeom prst="rect">
            <a:avLst/>
          </a:prstGeom>
          <a:solidFill>
            <a:srgbClr val="FF6B35"/>
          </a:solidFill>
          <a:ln/>
        </p:spPr>
        <p:txBody>
          <a:bodyPr/>
          <a:lstStyle/>
          <a:p>
            <a:endParaRPr lang="en-AE"/>
          </a:p>
        </p:txBody>
      </p:sp>
      <p:sp>
        <p:nvSpPr>
          <p:cNvPr id="23" name="Text 21"/>
          <p:cNvSpPr/>
          <p:nvPr/>
        </p:nvSpPr>
        <p:spPr>
          <a:xfrm>
            <a:off x="457200" y="3657600"/>
            <a:ext cx="685800" cy="685800"/>
          </a:xfrm>
          <a:prstGeom prst="rect">
            <a:avLst/>
          </a:prstGeom>
          <a:noFill/>
          <a:ln/>
        </p:spPr>
        <p:txBody>
          <a:bodyPr wrap="square" lIns="0" tIns="0" rIns="0" bIns="0" rtlCol="0" anchor="ctr"/>
          <a:lstStyle/>
          <a:p>
            <a:pPr marL="0" indent="0" algn="ctr">
              <a:buNone/>
            </a:pPr>
            <a:r>
              <a:rPr lang="en-US" sz="2800" b="1" dirty="0">
                <a:solidFill>
                  <a:srgbClr val="FFFFFF"/>
                </a:solidFill>
                <a:latin typeface="Arial Black" pitchFamily="34" charset="0"/>
                <a:ea typeface="Arial Black" pitchFamily="34" charset="-122"/>
                <a:cs typeface="Arial Black" pitchFamily="34" charset="-120"/>
              </a:rPr>
              <a:t>3</a:t>
            </a:r>
            <a:endParaRPr lang="en-US" sz="2800" dirty="0"/>
          </a:p>
        </p:txBody>
      </p:sp>
      <p:sp>
        <p:nvSpPr>
          <p:cNvPr id="24" name="Text 22"/>
          <p:cNvSpPr/>
          <p:nvPr/>
        </p:nvSpPr>
        <p:spPr>
          <a:xfrm>
            <a:off x="1280160" y="3703320"/>
            <a:ext cx="4754880" cy="32004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Retail Recommender</a:t>
            </a:r>
            <a:endParaRPr lang="en-US" sz="1500" dirty="0"/>
          </a:p>
        </p:txBody>
      </p:sp>
      <p:sp>
        <p:nvSpPr>
          <p:cNvPr id="25" name="Text 23"/>
          <p:cNvSpPr/>
          <p:nvPr/>
        </p:nvSpPr>
        <p:spPr>
          <a:xfrm>
            <a:off x="1280160" y="4023360"/>
            <a:ext cx="4754880" cy="27432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Apriori / ALS on MovieLens</a:t>
            </a:r>
            <a:endParaRPr lang="en-US" sz="1050" dirty="0"/>
          </a:p>
        </p:txBody>
      </p:sp>
      <p:sp>
        <p:nvSpPr>
          <p:cNvPr id="26" name="Text 24"/>
          <p:cNvSpPr/>
          <p:nvPr/>
        </p:nvSpPr>
        <p:spPr>
          <a:xfrm>
            <a:off x="6309360" y="3712464"/>
            <a:ext cx="914400" cy="228600"/>
          </a:xfrm>
          <a:prstGeom prst="rect">
            <a:avLst/>
          </a:prstGeom>
          <a:noFill/>
          <a:ln/>
        </p:spPr>
        <p:txBody>
          <a:bodyPr wrap="square" lIns="0" tIns="0" rIns="0" bIns="0" rtlCol="0" anchor="ctr"/>
          <a:lstStyle/>
          <a:p>
            <a:pPr marL="0" indent="0">
              <a:buNone/>
            </a:pPr>
            <a:r>
              <a:rPr lang="en-US" sz="900" b="1" kern="0" spc="200" dirty="0">
                <a:solidFill>
                  <a:srgbClr val="64748B"/>
                </a:solidFill>
                <a:latin typeface="Calibri" pitchFamily="34" charset="0"/>
                <a:ea typeface="Calibri" pitchFamily="34" charset="-122"/>
                <a:cs typeface="Calibri" pitchFamily="34" charset="-120"/>
              </a:rPr>
              <a:t>TEACHES</a:t>
            </a:r>
            <a:endParaRPr lang="en-US" sz="900" dirty="0"/>
          </a:p>
        </p:txBody>
      </p:sp>
      <p:sp>
        <p:nvSpPr>
          <p:cNvPr id="27" name="Text 25"/>
          <p:cNvSpPr/>
          <p:nvPr/>
        </p:nvSpPr>
        <p:spPr>
          <a:xfrm>
            <a:off x="6309360" y="3931920"/>
            <a:ext cx="5394960" cy="365760"/>
          </a:xfrm>
          <a:prstGeom prst="rect">
            <a:avLst/>
          </a:prstGeom>
          <a:noFill/>
          <a:ln/>
        </p:spPr>
        <p:txBody>
          <a:bodyPr wrap="square" lIns="0" tIns="0" rIns="0" bIns="0" rtlCol="0" anchor="ctr"/>
          <a:lstStyle/>
          <a:p>
            <a:pPr marL="0" indent="0">
              <a:buNone/>
            </a:pPr>
            <a:r>
              <a:rPr lang="en-US" sz="1200" b="1" dirty="0">
                <a:solidFill>
                  <a:srgbClr val="FF6B35"/>
                </a:solidFill>
                <a:latin typeface="Calibri" pitchFamily="34" charset="0"/>
                <a:ea typeface="Calibri" pitchFamily="34" charset="-122"/>
                <a:cs typeface="Calibri" pitchFamily="34" charset="-120"/>
              </a:rPr>
              <a:t>Association rules, collaborative filtering</a:t>
            </a:r>
            <a:endParaRPr lang="en-US" sz="1200" dirty="0"/>
          </a:p>
        </p:txBody>
      </p:sp>
      <p:sp>
        <p:nvSpPr>
          <p:cNvPr id="28" name="Shape 26"/>
          <p:cNvSpPr/>
          <p:nvPr/>
        </p:nvSpPr>
        <p:spPr>
          <a:xfrm>
            <a:off x="457200" y="4434840"/>
            <a:ext cx="11247120" cy="685800"/>
          </a:xfrm>
          <a:prstGeom prst="rect">
            <a:avLst/>
          </a:prstGeom>
          <a:solidFill>
            <a:srgbClr val="F8FAFC"/>
          </a:solidFill>
          <a:ln/>
        </p:spPr>
        <p:txBody>
          <a:bodyPr/>
          <a:lstStyle/>
          <a:p>
            <a:endParaRPr lang="en-AE"/>
          </a:p>
        </p:txBody>
      </p:sp>
      <p:sp>
        <p:nvSpPr>
          <p:cNvPr id="29" name="Shape 27"/>
          <p:cNvSpPr/>
          <p:nvPr/>
        </p:nvSpPr>
        <p:spPr>
          <a:xfrm>
            <a:off x="457200" y="4434840"/>
            <a:ext cx="685800" cy="685800"/>
          </a:xfrm>
          <a:prstGeom prst="rect">
            <a:avLst/>
          </a:prstGeom>
          <a:solidFill>
            <a:srgbClr val="0891B2"/>
          </a:solidFill>
          <a:ln/>
        </p:spPr>
        <p:txBody>
          <a:bodyPr/>
          <a:lstStyle/>
          <a:p>
            <a:endParaRPr lang="en-AE"/>
          </a:p>
        </p:txBody>
      </p:sp>
      <p:sp>
        <p:nvSpPr>
          <p:cNvPr id="30" name="Text 28"/>
          <p:cNvSpPr/>
          <p:nvPr/>
        </p:nvSpPr>
        <p:spPr>
          <a:xfrm>
            <a:off x="457200" y="4434840"/>
            <a:ext cx="685800" cy="685800"/>
          </a:xfrm>
          <a:prstGeom prst="rect">
            <a:avLst/>
          </a:prstGeom>
          <a:noFill/>
          <a:ln/>
        </p:spPr>
        <p:txBody>
          <a:bodyPr wrap="square" lIns="0" tIns="0" rIns="0" bIns="0" rtlCol="0" anchor="ctr"/>
          <a:lstStyle/>
          <a:p>
            <a:pPr marL="0" indent="0" algn="ctr">
              <a:buNone/>
            </a:pPr>
            <a:r>
              <a:rPr lang="en-US" sz="2800" b="1" dirty="0">
                <a:solidFill>
                  <a:srgbClr val="FFFFFF"/>
                </a:solidFill>
                <a:latin typeface="Arial Black" pitchFamily="34" charset="0"/>
                <a:ea typeface="Arial Black" pitchFamily="34" charset="-122"/>
                <a:cs typeface="Arial Black" pitchFamily="34" charset="-120"/>
              </a:rPr>
              <a:t>4</a:t>
            </a:r>
            <a:endParaRPr lang="en-US" sz="2800" dirty="0"/>
          </a:p>
        </p:txBody>
      </p:sp>
      <p:sp>
        <p:nvSpPr>
          <p:cNvPr id="31" name="Text 29"/>
          <p:cNvSpPr/>
          <p:nvPr/>
        </p:nvSpPr>
        <p:spPr>
          <a:xfrm>
            <a:off x="1280160" y="4480560"/>
            <a:ext cx="4754880" cy="32004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Customer Churn Predictor</a:t>
            </a:r>
            <a:endParaRPr lang="en-US" sz="1500" dirty="0"/>
          </a:p>
        </p:txBody>
      </p:sp>
      <p:sp>
        <p:nvSpPr>
          <p:cNvPr id="32" name="Text 30"/>
          <p:cNvSpPr/>
          <p:nvPr/>
        </p:nvSpPr>
        <p:spPr>
          <a:xfrm>
            <a:off x="1280160" y="4800600"/>
            <a:ext cx="4754880" cy="27432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pandas + sklearn + SHAP + FastAPI</a:t>
            </a:r>
            <a:endParaRPr lang="en-US" sz="1050" dirty="0"/>
          </a:p>
        </p:txBody>
      </p:sp>
      <p:sp>
        <p:nvSpPr>
          <p:cNvPr id="33" name="Text 31"/>
          <p:cNvSpPr/>
          <p:nvPr/>
        </p:nvSpPr>
        <p:spPr>
          <a:xfrm>
            <a:off x="6309360" y="4489704"/>
            <a:ext cx="914400" cy="228600"/>
          </a:xfrm>
          <a:prstGeom prst="rect">
            <a:avLst/>
          </a:prstGeom>
          <a:noFill/>
          <a:ln/>
        </p:spPr>
        <p:txBody>
          <a:bodyPr wrap="square" lIns="0" tIns="0" rIns="0" bIns="0" rtlCol="0" anchor="ctr"/>
          <a:lstStyle/>
          <a:p>
            <a:pPr marL="0" indent="0">
              <a:buNone/>
            </a:pPr>
            <a:r>
              <a:rPr lang="en-US" sz="900" b="1" kern="0" spc="200" dirty="0">
                <a:solidFill>
                  <a:srgbClr val="64748B"/>
                </a:solidFill>
                <a:latin typeface="Calibri" pitchFamily="34" charset="0"/>
                <a:ea typeface="Calibri" pitchFamily="34" charset="-122"/>
                <a:cs typeface="Calibri" pitchFamily="34" charset="-120"/>
              </a:rPr>
              <a:t>TEACHES</a:t>
            </a:r>
            <a:endParaRPr lang="en-US" sz="900" dirty="0"/>
          </a:p>
        </p:txBody>
      </p:sp>
      <p:sp>
        <p:nvSpPr>
          <p:cNvPr id="34" name="Text 32"/>
          <p:cNvSpPr/>
          <p:nvPr/>
        </p:nvSpPr>
        <p:spPr>
          <a:xfrm>
            <a:off x="6309360" y="4709160"/>
            <a:ext cx="5394960" cy="365760"/>
          </a:xfrm>
          <a:prstGeom prst="rect">
            <a:avLst/>
          </a:prstGeom>
          <a:noFill/>
          <a:ln/>
        </p:spPr>
        <p:txBody>
          <a:bodyPr wrap="square" lIns="0" tIns="0" rIns="0" bIns="0" rtlCol="0" anchor="ctr"/>
          <a:lstStyle/>
          <a:p>
            <a:pPr marL="0" indent="0">
              <a:buNone/>
            </a:pPr>
            <a:r>
              <a:rPr lang="en-US" sz="1200" b="1" dirty="0">
                <a:solidFill>
                  <a:srgbClr val="0891B2"/>
                </a:solidFill>
                <a:latin typeface="Calibri" pitchFamily="34" charset="0"/>
                <a:ea typeface="Calibri" pitchFamily="34" charset="-122"/>
                <a:cs typeface="Calibri" pitchFamily="34" charset="-120"/>
              </a:rPr>
              <a:t>Classification, feature eng, serving</a:t>
            </a:r>
            <a:endParaRPr lang="en-US" sz="1200" dirty="0"/>
          </a:p>
        </p:txBody>
      </p:sp>
      <p:sp>
        <p:nvSpPr>
          <p:cNvPr id="35" name="Shape 33"/>
          <p:cNvSpPr/>
          <p:nvPr/>
        </p:nvSpPr>
        <p:spPr>
          <a:xfrm>
            <a:off x="457200" y="5212080"/>
            <a:ext cx="11247120" cy="685800"/>
          </a:xfrm>
          <a:prstGeom prst="rect">
            <a:avLst/>
          </a:prstGeom>
          <a:solidFill>
            <a:srgbClr val="F8FAFC"/>
          </a:solidFill>
          <a:ln/>
        </p:spPr>
        <p:txBody>
          <a:bodyPr/>
          <a:lstStyle/>
          <a:p>
            <a:endParaRPr lang="en-AE"/>
          </a:p>
        </p:txBody>
      </p:sp>
      <p:sp>
        <p:nvSpPr>
          <p:cNvPr id="36" name="Shape 34"/>
          <p:cNvSpPr/>
          <p:nvPr/>
        </p:nvSpPr>
        <p:spPr>
          <a:xfrm>
            <a:off x="457200" y="5212080"/>
            <a:ext cx="685800" cy="685800"/>
          </a:xfrm>
          <a:prstGeom prst="rect">
            <a:avLst/>
          </a:prstGeom>
          <a:solidFill>
            <a:srgbClr val="DB2777"/>
          </a:solidFill>
          <a:ln/>
        </p:spPr>
        <p:txBody>
          <a:bodyPr/>
          <a:lstStyle/>
          <a:p>
            <a:endParaRPr lang="en-AE"/>
          </a:p>
        </p:txBody>
      </p:sp>
      <p:sp>
        <p:nvSpPr>
          <p:cNvPr id="37" name="Text 35"/>
          <p:cNvSpPr/>
          <p:nvPr/>
        </p:nvSpPr>
        <p:spPr>
          <a:xfrm>
            <a:off x="457200" y="5212080"/>
            <a:ext cx="685800" cy="685800"/>
          </a:xfrm>
          <a:prstGeom prst="rect">
            <a:avLst/>
          </a:prstGeom>
          <a:noFill/>
          <a:ln/>
        </p:spPr>
        <p:txBody>
          <a:bodyPr wrap="square" lIns="0" tIns="0" rIns="0" bIns="0" rtlCol="0" anchor="ctr"/>
          <a:lstStyle/>
          <a:p>
            <a:pPr marL="0" indent="0" algn="ctr">
              <a:buNone/>
            </a:pPr>
            <a:r>
              <a:rPr lang="en-US" sz="2800" b="1" dirty="0">
                <a:solidFill>
                  <a:srgbClr val="FFFFFF"/>
                </a:solidFill>
                <a:latin typeface="Arial Black" pitchFamily="34" charset="0"/>
                <a:ea typeface="Arial Black" pitchFamily="34" charset="-122"/>
                <a:cs typeface="Arial Black" pitchFamily="34" charset="-120"/>
              </a:rPr>
              <a:t>5</a:t>
            </a:r>
            <a:endParaRPr lang="en-US" sz="2800" dirty="0"/>
          </a:p>
        </p:txBody>
      </p:sp>
      <p:sp>
        <p:nvSpPr>
          <p:cNvPr id="38" name="Text 36"/>
          <p:cNvSpPr/>
          <p:nvPr/>
        </p:nvSpPr>
        <p:spPr>
          <a:xfrm>
            <a:off x="1280160" y="5257800"/>
            <a:ext cx="4754880" cy="32004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RAG over your college PDFs</a:t>
            </a:r>
            <a:endParaRPr lang="en-US" sz="1500" dirty="0"/>
          </a:p>
        </p:txBody>
      </p:sp>
      <p:sp>
        <p:nvSpPr>
          <p:cNvPr id="39" name="Text 37"/>
          <p:cNvSpPr/>
          <p:nvPr/>
        </p:nvSpPr>
        <p:spPr>
          <a:xfrm>
            <a:off x="1280160" y="5577840"/>
            <a:ext cx="4754880" cy="27432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LangChain + Chroma + Llama / GPT</a:t>
            </a:r>
            <a:endParaRPr lang="en-US" sz="1050" dirty="0"/>
          </a:p>
        </p:txBody>
      </p:sp>
      <p:sp>
        <p:nvSpPr>
          <p:cNvPr id="40" name="Text 38"/>
          <p:cNvSpPr/>
          <p:nvPr/>
        </p:nvSpPr>
        <p:spPr>
          <a:xfrm>
            <a:off x="6309360" y="5266944"/>
            <a:ext cx="914400" cy="228600"/>
          </a:xfrm>
          <a:prstGeom prst="rect">
            <a:avLst/>
          </a:prstGeom>
          <a:noFill/>
          <a:ln/>
        </p:spPr>
        <p:txBody>
          <a:bodyPr wrap="square" lIns="0" tIns="0" rIns="0" bIns="0" rtlCol="0" anchor="ctr"/>
          <a:lstStyle/>
          <a:p>
            <a:pPr marL="0" indent="0">
              <a:buNone/>
            </a:pPr>
            <a:r>
              <a:rPr lang="en-US" sz="900" b="1" kern="0" spc="200" dirty="0">
                <a:solidFill>
                  <a:srgbClr val="64748B"/>
                </a:solidFill>
                <a:latin typeface="Calibri" pitchFamily="34" charset="0"/>
                <a:ea typeface="Calibri" pitchFamily="34" charset="-122"/>
                <a:cs typeface="Calibri" pitchFamily="34" charset="-120"/>
              </a:rPr>
              <a:t>TEACHES</a:t>
            </a:r>
            <a:endParaRPr lang="en-US" sz="900" dirty="0"/>
          </a:p>
        </p:txBody>
      </p:sp>
      <p:sp>
        <p:nvSpPr>
          <p:cNvPr id="41" name="Text 39"/>
          <p:cNvSpPr/>
          <p:nvPr/>
        </p:nvSpPr>
        <p:spPr>
          <a:xfrm>
            <a:off x="6309360" y="5486400"/>
            <a:ext cx="5394960" cy="365760"/>
          </a:xfrm>
          <a:prstGeom prst="rect">
            <a:avLst/>
          </a:prstGeom>
          <a:noFill/>
          <a:ln/>
        </p:spPr>
        <p:txBody>
          <a:bodyPr wrap="square" lIns="0" tIns="0" rIns="0" bIns="0" rtlCol="0" anchor="ctr"/>
          <a:lstStyle/>
          <a:p>
            <a:pPr marL="0" indent="0">
              <a:buNone/>
            </a:pPr>
            <a:r>
              <a:rPr lang="en-US" sz="1200" b="1" dirty="0">
                <a:solidFill>
                  <a:srgbClr val="DB2777"/>
                </a:solidFill>
                <a:latin typeface="Calibri" pitchFamily="34" charset="0"/>
                <a:ea typeface="Calibri" pitchFamily="34" charset="-122"/>
                <a:cs typeface="Calibri" pitchFamily="34" charset="-120"/>
              </a:rPr>
              <a:t>Embeddings, RAG, GenAI basics</a:t>
            </a:r>
            <a:endParaRPr lang="en-US" sz="1200" dirty="0"/>
          </a:p>
        </p:txBody>
      </p:sp>
      <p:sp>
        <p:nvSpPr>
          <p:cNvPr id="42" name="Shape 40"/>
          <p:cNvSpPr/>
          <p:nvPr/>
        </p:nvSpPr>
        <p:spPr>
          <a:xfrm>
            <a:off x="457200" y="6126480"/>
            <a:ext cx="11247120" cy="411480"/>
          </a:xfrm>
          <a:prstGeom prst="rect">
            <a:avLst/>
          </a:prstGeom>
          <a:solidFill>
            <a:srgbClr val="0B1437"/>
          </a:solidFill>
          <a:ln/>
        </p:spPr>
        <p:txBody>
          <a:bodyPr/>
          <a:lstStyle/>
          <a:p>
            <a:endParaRPr lang="en-AE"/>
          </a:p>
        </p:txBody>
      </p:sp>
      <p:sp>
        <p:nvSpPr>
          <p:cNvPr id="43" name="Text 41"/>
          <p:cNvSpPr/>
          <p:nvPr/>
        </p:nvSpPr>
        <p:spPr>
          <a:xfrm>
            <a:off x="640080" y="6153912"/>
            <a:ext cx="10972800" cy="365760"/>
          </a:xfrm>
          <a:prstGeom prst="rect">
            <a:avLst/>
          </a:prstGeom>
          <a:noFill/>
          <a:ln/>
        </p:spPr>
        <p:txBody>
          <a:bodyPr wrap="square" lIns="0" tIns="0" rIns="0" bIns="0" rtlCol="0" anchor="ctr"/>
          <a:lstStyle/>
          <a:p>
            <a:pPr marL="0" indent="0">
              <a:buNone/>
            </a:pPr>
            <a:r>
              <a:rPr lang="en-US" sz="1200" b="1" dirty="0">
                <a:solidFill>
                  <a:srgbClr val="FF6B35"/>
                </a:solidFill>
                <a:latin typeface="Calibri" pitchFamily="34" charset="0"/>
                <a:ea typeface="Calibri" pitchFamily="34" charset="-122"/>
                <a:cs typeface="Calibri" pitchFamily="34" charset="-120"/>
              </a:rPr>
              <a:t>Don't try to build a unicorn. </a:t>
            </a:r>
            <a:r>
              <a:rPr lang="en-US" sz="1200" i="1" dirty="0">
                <a:solidFill>
                  <a:srgbClr val="FFFFFF"/>
                </a:solidFill>
                <a:latin typeface="Calibri" pitchFamily="34" charset="0"/>
                <a:ea typeface="Calibri" pitchFamily="34" charset="-122"/>
                <a:cs typeface="Calibri" pitchFamily="34" charset="-120"/>
              </a:rPr>
              <a:t>Ship something small, end-to-end, with a README and a Loom video. That IS a portfolio.</a:t>
            </a:r>
            <a:endParaRPr lang="en-US" sz="1200" dirty="0"/>
          </a:p>
        </p:txBody>
      </p:sp>
      <p:sp>
        <p:nvSpPr>
          <p:cNvPr id="44" name="Text 42"/>
          <p:cNvSpPr/>
          <p:nvPr/>
        </p:nvSpPr>
        <p:spPr>
          <a:xfrm>
            <a:off x="10332720" y="6510528"/>
            <a:ext cx="173736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29 / 32  ·  DATA &amp; AI</a:t>
            </a:r>
            <a:endParaRPr lang="en-US" sz="900" dirty="0"/>
          </a:p>
        </p:txBody>
      </p:sp>
      <p:sp>
        <p:nvSpPr>
          <p:cNvPr id="45" name="Text 43"/>
          <p:cNvSpPr/>
          <p:nvPr/>
        </p:nvSpPr>
        <p:spPr>
          <a:xfrm>
            <a:off x="457200" y="6510528"/>
            <a:ext cx="5486400" cy="256032"/>
          </a:xfrm>
          <a:prstGeom prst="rect">
            <a:avLst/>
          </a:prstGeom>
          <a:noFill/>
          <a:ln/>
        </p:spPr>
        <p:txBody>
          <a:bodyPr wrap="square" lIns="0" tIns="0" rIns="0" bIns="0" rtlCol="0" anchor="ctr"/>
          <a:lstStyle/>
          <a:p>
            <a:pPr marL="0" indent="0">
              <a:buNone/>
            </a:pPr>
            <a:r>
              <a:rPr lang="en-US" sz="900" b="1" kern="0" spc="200" dirty="0">
                <a:solidFill>
                  <a:srgbClr val="94A3B8"/>
                </a:solidFill>
                <a:latin typeface="Calibri" pitchFamily="34" charset="0"/>
                <a:ea typeface="Calibri" pitchFamily="34" charset="-122"/>
                <a:cs typeface="Calibri" pitchFamily="34" charset="-120"/>
              </a:rPr>
              <a:t>YOUR LAUNCHPAD</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128016" cy="128016"/>
          </a:xfrm>
          <a:prstGeom prst="rect">
            <a:avLst/>
          </a:prstGeom>
          <a:solidFill>
            <a:srgbClr val="FF6B35"/>
          </a:solidFill>
          <a:ln/>
        </p:spPr>
        <p:txBody>
          <a:bodyPr/>
          <a:lstStyle/>
          <a:p>
            <a:endParaRPr lang="en-AE"/>
          </a:p>
        </p:txBody>
      </p:sp>
      <p:sp>
        <p:nvSpPr>
          <p:cNvPr id="3" name="Shape 1"/>
          <p:cNvSpPr/>
          <p:nvPr/>
        </p:nvSpPr>
        <p:spPr>
          <a:xfrm>
            <a:off x="621792" y="457200"/>
            <a:ext cx="54864" cy="128016"/>
          </a:xfrm>
          <a:prstGeom prst="rect">
            <a:avLst/>
          </a:prstGeom>
          <a:solidFill>
            <a:srgbClr val="0B1437"/>
          </a:solidFill>
          <a:ln/>
        </p:spPr>
        <p:txBody>
          <a:bodyPr/>
          <a:lstStyle/>
          <a:p>
            <a:endParaRPr lang="en-AE"/>
          </a:p>
        </p:txBody>
      </p:sp>
      <p:sp>
        <p:nvSpPr>
          <p:cNvPr id="4" name="Text 2"/>
          <p:cNvSpPr/>
          <p:nvPr/>
        </p:nvSpPr>
        <p:spPr>
          <a:xfrm>
            <a:off x="457200" y="685800"/>
            <a:ext cx="11247120" cy="274320"/>
          </a:xfrm>
          <a:prstGeom prst="rect">
            <a:avLst/>
          </a:prstGeom>
          <a:noFill/>
          <a:ln/>
        </p:spPr>
        <p:txBody>
          <a:bodyPr wrap="square" lIns="0" tIns="0" rIns="0" bIns="0" rtlCol="0" anchor="ctr"/>
          <a:lstStyle/>
          <a:p>
            <a:pPr marL="0" indent="0">
              <a:buNone/>
            </a:pPr>
            <a:r>
              <a:rPr lang="en-US" sz="1100" b="1" kern="0" spc="400" dirty="0">
                <a:solidFill>
                  <a:srgbClr val="FF6B35"/>
                </a:solidFill>
                <a:latin typeface="Calibri" pitchFamily="34" charset="0"/>
                <a:ea typeface="Calibri" pitchFamily="34" charset="-122"/>
                <a:cs typeface="Calibri" pitchFamily="34" charset="-120"/>
              </a:rPr>
              <a:t>IF YOU REMEMBER TEN THINGS</a:t>
            </a:r>
            <a:endParaRPr lang="en-US" sz="1100" dirty="0"/>
          </a:p>
        </p:txBody>
      </p:sp>
      <p:sp>
        <p:nvSpPr>
          <p:cNvPr id="5" name="Text 3"/>
          <p:cNvSpPr/>
          <p:nvPr/>
        </p:nvSpPr>
        <p:spPr>
          <a:xfrm>
            <a:off x="457200" y="932688"/>
            <a:ext cx="1124712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10 things I want you to walk out remembering.</a:t>
            </a:r>
            <a:endParaRPr lang="en-US" sz="3000" dirty="0"/>
          </a:p>
        </p:txBody>
      </p:sp>
      <p:sp>
        <p:nvSpPr>
          <p:cNvPr id="6" name="Shape 4"/>
          <p:cNvSpPr/>
          <p:nvPr/>
        </p:nvSpPr>
        <p:spPr>
          <a:xfrm>
            <a:off x="457200" y="1920240"/>
            <a:ext cx="5577840" cy="777240"/>
          </a:xfrm>
          <a:prstGeom prst="rect">
            <a:avLst/>
          </a:prstGeom>
          <a:solidFill>
            <a:srgbClr val="F8FAFC"/>
          </a:solidFill>
          <a:ln/>
        </p:spPr>
        <p:txBody>
          <a:bodyPr/>
          <a:lstStyle/>
          <a:p>
            <a:endParaRPr lang="en-AE"/>
          </a:p>
        </p:txBody>
      </p:sp>
      <p:sp>
        <p:nvSpPr>
          <p:cNvPr id="7" name="Shape 5"/>
          <p:cNvSpPr/>
          <p:nvPr/>
        </p:nvSpPr>
        <p:spPr>
          <a:xfrm>
            <a:off x="457200" y="1920240"/>
            <a:ext cx="594360" cy="777240"/>
          </a:xfrm>
          <a:prstGeom prst="rect">
            <a:avLst/>
          </a:prstGeom>
          <a:solidFill>
            <a:srgbClr val="0B1437"/>
          </a:solidFill>
          <a:ln/>
        </p:spPr>
        <p:txBody>
          <a:bodyPr/>
          <a:lstStyle/>
          <a:p>
            <a:endParaRPr lang="en-AE"/>
          </a:p>
        </p:txBody>
      </p:sp>
      <p:sp>
        <p:nvSpPr>
          <p:cNvPr id="8" name="Text 6"/>
          <p:cNvSpPr/>
          <p:nvPr/>
        </p:nvSpPr>
        <p:spPr>
          <a:xfrm>
            <a:off x="457200" y="1920240"/>
            <a:ext cx="594360" cy="777240"/>
          </a:xfrm>
          <a:prstGeom prst="rect">
            <a:avLst/>
          </a:prstGeom>
          <a:noFill/>
          <a:ln/>
        </p:spPr>
        <p:txBody>
          <a:bodyPr wrap="square" lIns="0" tIns="0" rIns="0" bIns="0" rtlCol="0" anchor="ctr"/>
          <a:lstStyle/>
          <a:p>
            <a:pPr marL="0" indent="0" algn="ctr">
              <a:buNone/>
            </a:pPr>
            <a:r>
              <a:rPr lang="en-US" sz="2000" b="1" dirty="0">
                <a:solidFill>
                  <a:srgbClr val="FF6B35"/>
                </a:solidFill>
                <a:latin typeface="Arial Black" pitchFamily="34" charset="0"/>
                <a:ea typeface="Arial Black" pitchFamily="34" charset="-122"/>
                <a:cs typeface="Arial Black" pitchFamily="34" charset="-120"/>
              </a:rPr>
              <a:t>01</a:t>
            </a:r>
            <a:endParaRPr lang="en-US" sz="2000" dirty="0"/>
          </a:p>
        </p:txBody>
      </p:sp>
      <p:sp>
        <p:nvSpPr>
          <p:cNvPr id="9" name="Text 7"/>
          <p:cNvSpPr/>
          <p:nvPr/>
        </p:nvSpPr>
        <p:spPr>
          <a:xfrm>
            <a:off x="1234440" y="1920240"/>
            <a:ext cx="4709160" cy="77724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OLTP runs the business. OLAP understands it. Don't mix them.</a:t>
            </a:r>
            <a:endParaRPr lang="en-US" sz="1150" dirty="0"/>
          </a:p>
        </p:txBody>
      </p:sp>
      <p:sp>
        <p:nvSpPr>
          <p:cNvPr id="10" name="Shape 8"/>
          <p:cNvSpPr/>
          <p:nvPr/>
        </p:nvSpPr>
        <p:spPr>
          <a:xfrm>
            <a:off x="6172200" y="1920240"/>
            <a:ext cx="5577840" cy="777240"/>
          </a:xfrm>
          <a:prstGeom prst="rect">
            <a:avLst/>
          </a:prstGeom>
          <a:solidFill>
            <a:srgbClr val="F8FAFC"/>
          </a:solidFill>
          <a:ln/>
        </p:spPr>
        <p:txBody>
          <a:bodyPr/>
          <a:lstStyle/>
          <a:p>
            <a:endParaRPr lang="en-AE"/>
          </a:p>
        </p:txBody>
      </p:sp>
      <p:sp>
        <p:nvSpPr>
          <p:cNvPr id="11" name="Shape 9"/>
          <p:cNvSpPr/>
          <p:nvPr/>
        </p:nvSpPr>
        <p:spPr>
          <a:xfrm>
            <a:off x="6172200" y="1920240"/>
            <a:ext cx="594360" cy="777240"/>
          </a:xfrm>
          <a:prstGeom prst="rect">
            <a:avLst/>
          </a:prstGeom>
          <a:solidFill>
            <a:srgbClr val="0B1437"/>
          </a:solidFill>
          <a:ln/>
        </p:spPr>
        <p:txBody>
          <a:bodyPr/>
          <a:lstStyle/>
          <a:p>
            <a:endParaRPr lang="en-AE"/>
          </a:p>
        </p:txBody>
      </p:sp>
      <p:sp>
        <p:nvSpPr>
          <p:cNvPr id="12" name="Text 10"/>
          <p:cNvSpPr/>
          <p:nvPr/>
        </p:nvSpPr>
        <p:spPr>
          <a:xfrm>
            <a:off x="6172200" y="1920240"/>
            <a:ext cx="594360" cy="777240"/>
          </a:xfrm>
          <a:prstGeom prst="rect">
            <a:avLst/>
          </a:prstGeom>
          <a:noFill/>
          <a:ln/>
        </p:spPr>
        <p:txBody>
          <a:bodyPr wrap="square" lIns="0" tIns="0" rIns="0" bIns="0" rtlCol="0" anchor="ctr"/>
          <a:lstStyle/>
          <a:p>
            <a:pPr marL="0" indent="0" algn="ctr">
              <a:buNone/>
            </a:pPr>
            <a:r>
              <a:rPr lang="en-US" sz="2000" b="1" dirty="0">
                <a:solidFill>
                  <a:srgbClr val="FF6B35"/>
                </a:solidFill>
                <a:latin typeface="Arial Black" pitchFamily="34" charset="0"/>
                <a:ea typeface="Arial Black" pitchFamily="34" charset="-122"/>
                <a:cs typeface="Arial Black" pitchFamily="34" charset="-120"/>
              </a:rPr>
              <a:t>02</a:t>
            </a:r>
            <a:endParaRPr lang="en-US" sz="2000" dirty="0"/>
          </a:p>
        </p:txBody>
      </p:sp>
      <p:sp>
        <p:nvSpPr>
          <p:cNvPr id="13" name="Text 11"/>
          <p:cNvSpPr/>
          <p:nvPr/>
        </p:nvSpPr>
        <p:spPr>
          <a:xfrm>
            <a:off x="6949440" y="1920240"/>
            <a:ext cx="4709160" cy="77724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Start with a STAR schema. Everyone does. Everyone should.</a:t>
            </a:r>
            <a:endParaRPr lang="en-US" sz="1150" dirty="0"/>
          </a:p>
        </p:txBody>
      </p:sp>
      <p:sp>
        <p:nvSpPr>
          <p:cNvPr id="14" name="Shape 12"/>
          <p:cNvSpPr/>
          <p:nvPr/>
        </p:nvSpPr>
        <p:spPr>
          <a:xfrm>
            <a:off x="457200" y="2788920"/>
            <a:ext cx="5577840" cy="777240"/>
          </a:xfrm>
          <a:prstGeom prst="rect">
            <a:avLst/>
          </a:prstGeom>
          <a:solidFill>
            <a:srgbClr val="F8FAFC"/>
          </a:solidFill>
          <a:ln/>
        </p:spPr>
        <p:txBody>
          <a:bodyPr/>
          <a:lstStyle/>
          <a:p>
            <a:endParaRPr lang="en-AE"/>
          </a:p>
        </p:txBody>
      </p:sp>
      <p:sp>
        <p:nvSpPr>
          <p:cNvPr id="15" name="Shape 13"/>
          <p:cNvSpPr/>
          <p:nvPr/>
        </p:nvSpPr>
        <p:spPr>
          <a:xfrm>
            <a:off x="457200" y="2788920"/>
            <a:ext cx="594360" cy="777240"/>
          </a:xfrm>
          <a:prstGeom prst="rect">
            <a:avLst/>
          </a:prstGeom>
          <a:solidFill>
            <a:srgbClr val="0B1437"/>
          </a:solidFill>
          <a:ln/>
        </p:spPr>
        <p:txBody>
          <a:bodyPr/>
          <a:lstStyle/>
          <a:p>
            <a:endParaRPr lang="en-AE"/>
          </a:p>
        </p:txBody>
      </p:sp>
      <p:sp>
        <p:nvSpPr>
          <p:cNvPr id="16" name="Text 14"/>
          <p:cNvSpPr/>
          <p:nvPr/>
        </p:nvSpPr>
        <p:spPr>
          <a:xfrm>
            <a:off x="457200" y="2788920"/>
            <a:ext cx="594360" cy="777240"/>
          </a:xfrm>
          <a:prstGeom prst="rect">
            <a:avLst/>
          </a:prstGeom>
          <a:noFill/>
          <a:ln/>
        </p:spPr>
        <p:txBody>
          <a:bodyPr wrap="square" lIns="0" tIns="0" rIns="0" bIns="0" rtlCol="0" anchor="ctr"/>
          <a:lstStyle/>
          <a:p>
            <a:pPr marL="0" indent="0" algn="ctr">
              <a:buNone/>
            </a:pPr>
            <a:r>
              <a:rPr lang="en-US" sz="2000" b="1" dirty="0">
                <a:solidFill>
                  <a:srgbClr val="FF6B35"/>
                </a:solidFill>
                <a:latin typeface="Arial Black" pitchFamily="34" charset="0"/>
                <a:ea typeface="Arial Black" pitchFamily="34" charset="-122"/>
                <a:cs typeface="Arial Black" pitchFamily="34" charset="-120"/>
              </a:rPr>
              <a:t>03</a:t>
            </a:r>
            <a:endParaRPr lang="en-US" sz="2000" dirty="0"/>
          </a:p>
        </p:txBody>
      </p:sp>
      <p:sp>
        <p:nvSpPr>
          <p:cNvPr id="17" name="Text 15"/>
          <p:cNvSpPr/>
          <p:nvPr/>
        </p:nvSpPr>
        <p:spPr>
          <a:xfrm>
            <a:off x="1234440" y="2788920"/>
            <a:ext cx="4709160" cy="77724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ELT replaced ETL because cloud compute became cheaper than transform servers.</a:t>
            </a:r>
            <a:endParaRPr lang="en-US" sz="1150" dirty="0"/>
          </a:p>
        </p:txBody>
      </p:sp>
      <p:sp>
        <p:nvSpPr>
          <p:cNvPr id="18" name="Shape 16"/>
          <p:cNvSpPr/>
          <p:nvPr/>
        </p:nvSpPr>
        <p:spPr>
          <a:xfrm>
            <a:off x="6172200" y="2788920"/>
            <a:ext cx="5577840" cy="777240"/>
          </a:xfrm>
          <a:prstGeom prst="rect">
            <a:avLst/>
          </a:prstGeom>
          <a:solidFill>
            <a:srgbClr val="F8FAFC"/>
          </a:solidFill>
          <a:ln/>
        </p:spPr>
        <p:txBody>
          <a:bodyPr/>
          <a:lstStyle/>
          <a:p>
            <a:endParaRPr lang="en-AE"/>
          </a:p>
        </p:txBody>
      </p:sp>
      <p:sp>
        <p:nvSpPr>
          <p:cNvPr id="19" name="Shape 17"/>
          <p:cNvSpPr/>
          <p:nvPr/>
        </p:nvSpPr>
        <p:spPr>
          <a:xfrm>
            <a:off x="6172200" y="2788920"/>
            <a:ext cx="594360" cy="777240"/>
          </a:xfrm>
          <a:prstGeom prst="rect">
            <a:avLst/>
          </a:prstGeom>
          <a:solidFill>
            <a:srgbClr val="0B1437"/>
          </a:solidFill>
          <a:ln/>
        </p:spPr>
        <p:txBody>
          <a:bodyPr/>
          <a:lstStyle/>
          <a:p>
            <a:endParaRPr lang="en-AE"/>
          </a:p>
        </p:txBody>
      </p:sp>
      <p:sp>
        <p:nvSpPr>
          <p:cNvPr id="20" name="Text 18"/>
          <p:cNvSpPr/>
          <p:nvPr/>
        </p:nvSpPr>
        <p:spPr>
          <a:xfrm>
            <a:off x="6172200" y="2788920"/>
            <a:ext cx="594360" cy="777240"/>
          </a:xfrm>
          <a:prstGeom prst="rect">
            <a:avLst/>
          </a:prstGeom>
          <a:noFill/>
          <a:ln/>
        </p:spPr>
        <p:txBody>
          <a:bodyPr wrap="square" lIns="0" tIns="0" rIns="0" bIns="0" rtlCol="0" anchor="ctr"/>
          <a:lstStyle/>
          <a:p>
            <a:pPr marL="0" indent="0" algn="ctr">
              <a:buNone/>
            </a:pPr>
            <a:r>
              <a:rPr lang="en-US" sz="2000" b="1" dirty="0">
                <a:solidFill>
                  <a:srgbClr val="FF6B35"/>
                </a:solidFill>
                <a:latin typeface="Arial Black" pitchFamily="34" charset="0"/>
                <a:ea typeface="Arial Black" pitchFamily="34" charset="-122"/>
                <a:cs typeface="Arial Black" pitchFamily="34" charset="-120"/>
              </a:rPr>
              <a:t>04</a:t>
            </a:r>
            <a:endParaRPr lang="en-US" sz="2000" dirty="0"/>
          </a:p>
        </p:txBody>
      </p:sp>
      <p:sp>
        <p:nvSpPr>
          <p:cNvPr id="21" name="Text 19"/>
          <p:cNvSpPr/>
          <p:nvPr/>
        </p:nvSpPr>
        <p:spPr>
          <a:xfrm>
            <a:off x="6949440" y="2788920"/>
            <a:ext cx="4709160" cy="77724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Bronze → Silver → Gold is the default mental model. Memorize it.</a:t>
            </a:r>
            <a:endParaRPr lang="en-US" sz="1150" dirty="0"/>
          </a:p>
        </p:txBody>
      </p:sp>
      <p:sp>
        <p:nvSpPr>
          <p:cNvPr id="22" name="Shape 20"/>
          <p:cNvSpPr/>
          <p:nvPr/>
        </p:nvSpPr>
        <p:spPr>
          <a:xfrm>
            <a:off x="457200" y="3657600"/>
            <a:ext cx="5577840" cy="777240"/>
          </a:xfrm>
          <a:prstGeom prst="rect">
            <a:avLst/>
          </a:prstGeom>
          <a:solidFill>
            <a:srgbClr val="F8FAFC"/>
          </a:solidFill>
          <a:ln/>
        </p:spPr>
        <p:txBody>
          <a:bodyPr/>
          <a:lstStyle/>
          <a:p>
            <a:endParaRPr lang="en-AE"/>
          </a:p>
        </p:txBody>
      </p:sp>
      <p:sp>
        <p:nvSpPr>
          <p:cNvPr id="23" name="Shape 21"/>
          <p:cNvSpPr/>
          <p:nvPr/>
        </p:nvSpPr>
        <p:spPr>
          <a:xfrm>
            <a:off x="457200" y="3657600"/>
            <a:ext cx="594360" cy="777240"/>
          </a:xfrm>
          <a:prstGeom prst="rect">
            <a:avLst/>
          </a:prstGeom>
          <a:solidFill>
            <a:srgbClr val="0B1437"/>
          </a:solidFill>
          <a:ln/>
        </p:spPr>
        <p:txBody>
          <a:bodyPr/>
          <a:lstStyle/>
          <a:p>
            <a:endParaRPr lang="en-AE"/>
          </a:p>
        </p:txBody>
      </p:sp>
      <p:sp>
        <p:nvSpPr>
          <p:cNvPr id="24" name="Text 22"/>
          <p:cNvSpPr/>
          <p:nvPr/>
        </p:nvSpPr>
        <p:spPr>
          <a:xfrm>
            <a:off x="457200" y="3657600"/>
            <a:ext cx="594360" cy="777240"/>
          </a:xfrm>
          <a:prstGeom prst="rect">
            <a:avLst/>
          </a:prstGeom>
          <a:noFill/>
          <a:ln/>
        </p:spPr>
        <p:txBody>
          <a:bodyPr wrap="square" lIns="0" tIns="0" rIns="0" bIns="0" rtlCol="0" anchor="ctr"/>
          <a:lstStyle/>
          <a:p>
            <a:pPr marL="0" indent="0" algn="ctr">
              <a:buNone/>
            </a:pPr>
            <a:r>
              <a:rPr lang="en-US" sz="2000" b="1" dirty="0">
                <a:solidFill>
                  <a:srgbClr val="FF6B35"/>
                </a:solidFill>
                <a:latin typeface="Arial Black" pitchFamily="34" charset="0"/>
                <a:ea typeface="Arial Black" pitchFamily="34" charset="-122"/>
                <a:cs typeface="Arial Black" pitchFamily="34" charset="-120"/>
              </a:rPr>
              <a:t>05</a:t>
            </a:r>
            <a:endParaRPr lang="en-US" sz="2000" dirty="0"/>
          </a:p>
        </p:txBody>
      </p:sp>
      <p:sp>
        <p:nvSpPr>
          <p:cNvPr id="25" name="Text 23"/>
          <p:cNvSpPr/>
          <p:nvPr/>
        </p:nvSpPr>
        <p:spPr>
          <a:xfrm>
            <a:off x="1234440" y="3657600"/>
            <a:ext cx="4709160" cy="77724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70% of a data scientist's job is cleaning data. Accept it early.</a:t>
            </a:r>
            <a:endParaRPr lang="en-US" sz="1150" dirty="0"/>
          </a:p>
        </p:txBody>
      </p:sp>
      <p:sp>
        <p:nvSpPr>
          <p:cNvPr id="26" name="Shape 24"/>
          <p:cNvSpPr/>
          <p:nvPr/>
        </p:nvSpPr>
        <p:spPr>
          <a:xfrm>
            <a:off x="6172200" y="3657600"/>
            <a:ext cx="5577840" cy="777240"/>
          </a:xfrm>
          <a:prstGeom prst="rect">
            <a:avLst/>
          </a:prstGeom>
          <a:solidFill>
            <a:srgbClr val="F8FAFC"/>
          </a:solidFill>
          <a:ln/>
        </p:spPr>
        <p:txBody>
          <a:bodyPr/>
          <a:lstStyle/>
          <a:p>
            <a:endParaRPr lang="en-AE"/>
          </a:p>
        </p:txBody>
      </p:sp>
      <p:sp>
        <p:nvSpPr>
          <p:cNvPr id="27" name="Shape 25"/>
          <p:cNvSpPr/>
          <p:nvPr/>
        </p:nvSpPr>
        <p:spPr>
          <a:xfrm>
            <a:off x="6172200" y="3657600"/>
            <a:ext cx="594360" cy="777240"/>
          </a:xfrm>
          <a:prstGeom prst="rect">
            <a:avLst/>
          </a:prstGeom>
          <a:solidFill>
            <a:srgbClr val="0B1437"/>
          </a:solidFill>
          <a:ln/>
        </p:spPr>
        <p:txBody>
          <a:bodyPr/>
          <a:lstStyle/>
          <a:p>
            <a:endParaRPr lang="en-AE"/>
          </a:p>
        </p:txBody>
      </p:sp>
      <p:sp>
        <p:nvSpPr>
          <p:cNvPr id="28" name="Text 26"/>
          <p:cNvSpPr/>
          <p:nvPr/>
        </p:nvSpPr>
        <p:spPr>
          <a:xfrm>
            <a:off x="6172200" y="3657600"/>
            <a:ext cx="594360" cy="777240"/>
          </a:xfrm>
          <a:prstGeom prst="rect">
            <a:avLst/>
          </a:prstGeom>
          <a:noFill/>
          <a:ln/>
        </p:spPr>
        <p:txBody>
          <a:bodyPr wrap="square" lIns="0" tIns="0" rIns="0" bIns="0" rtlCol="0" anchor="ctr"/>
          <a:lstStyle/>
          <a:p>
            <a:pPr marL="0" indent="0" algn="ctr">
              <a:buNone/>
            </a:pPr>
            <a:r>
              <a:rPr lang="en-US" sz="2000" b="1" dirty="0">
                <a:solidFill>
                  <a:srgbClr val="FF6B35"/>
                </a:solidFill>
                <a:latin typeface="Arial Black" pitchFamily="34" charset="0"/>
                <a:ea typeface="Arial Black" pitchFamily="34" charset="-122"/>
                <a:cs typeface="Arial Black" pitchFamily="34" charset="-120"/>
              </a:rPr>
              <a:t>06</a:t>
            </a:r>
            <a:endParaRPr lang="en-US" sz="2000" dirty="0"/>
          </a:p>
        </p:txBody>
      </p:sp>
      <p:sp>
        <p:nvSpPr>
          <p:cNvPr id="29" name="Text 27"/>
          <p:cNvSpPr/>
          <p:nvPr/>
        </p:nvSpPr>
        <p:spPr>
          <a:xfrm>
            <a:off x="6949440" y="3657600"/>
            <a:ext cx="4709160" cy="77724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Classification · Regression · Clustering · Association · Anomaly match the question to the tool.</a:t>
            </a:r>
            <a:endParaRPr lang="en-US" sz="1150" dirty="0"/>
          </a:p>
        </p:txBody>
      </p:sp>
      <p:sp>
        <p:nvSpPr>
          <p:cNvPr id="30" name="Shape 28"/>
          <p:cNvSpPr/>
          <p:nvPr/>
        </p:nvSpPr>
        <p:spPr>
          <a:xfrm>
            <a:off x="457200" y="4526280"/>
            <a:ext cx="5577840" cy="777240"/>
          </a:xfrm>
          <a:prstGeom prst="rect">
            <a:avLst/>
          </a:prstGeom>
          <a:solidFill>
            <a:srgbClr val="F8FAFC"/>
          </a:solidFill>
          <a:ln/>
        </p:spPr>
        <p:txBody>
          <a:bodyPr/>
          <a:lstStyle/>
          <a:p>
            <a:endParaRPr lang="en-AE"/>
          </a:p>
        </p:txBody>
      </p:sp>
      <p:sp>
        <p:nvSpPr>
          <p:cNvPr id="31" name="Shape 29"/>
          <p:cNvSpPr/>
          <p:nvPr/>
        </p:nvSpPr>
        <p:spPr>
          <a:xfrm>
            <a:off x="457200" y="4526280"/>
            <a:ext cx="594360" cy="777240"/>
          </a:xfrm>
          <a:prstGeom prst="rect">
            <a:avLst/>
          </a:prstGeom>
          <a:solidFill>
            <a:srgbClr val="0B1437"/>
          </a:solidFill>
          <a:ln/>
        </p:spPr>
        <p:txBody>
          <a:bodyPr/>
          <a:lstStyle/>
          <a:p>
            <a:endParaRPr lang="en-AE"/>
          </a:p>
        </p:txBody>
      </p:sp>
      <p:sp>
        <p:nvSpPr>
          <p:cNvPr id="32" name="Text 30"/>
          <p:cNvSpPr/>
          <p:nvPr/>
        </p:nvSpPr>
        <p:spPr>
          <a:xfrm>
            <a:off x="457200" y="4526280"/>
            <a:ext cx="594360" cy="777240"/>
          </a:xfrm>
          <a:prstGeom prst="rect">
            <a:avLst/>
          </a:prstGeom>
          <a:noFill/>
          <a:ln/>
        </p:spPr>
        <p:txBody>
          <a:bodyPr wrap="square" lIns="0" tIns="0" rIns="0" bIns="0" rtlCol="0" anchor="ctr"/>
          <a:lstStyle/>
          <a:p>
            <a:pPr marL="0" indent="0" algn="ctr">
              <a:buNone/>
            </a:pPr>
            <a:r>
              <a:rPr lang="en-US" sz="2000" b="1" dirty="0">
                <a:solidFill>
                  <a:srgbClr val="FF6B35"/>
                </a:solidFill>
                <a:latin typeface="Arial Black" pitchFamily="34" charset="0"/>
                <a:ea typeface="Arial Black" pitchFamily="34" charset="-122"/>
                <a:cs typeface="Arial Black" pitchFamily="34" charset="-120"/>
              </a:rPr>
              <a:t>07</a:t>
            </a:r>
            <a:endParaRPr lang="en-US" sz="2000" dirty="0"/>
          </a:p>
        </p:txBody>
      </p:sp>
      <p:sp>
        <p:nvSpPr>
          <p:cNvPr id="33" name="Text 31"/>
          <p:cNvSpPr/>
          <p:nvPr/>
        </p:nvSpPr>
        <p:spPr>
          <a:xfrm>
            <a:off x="1234440" y="4526280"/>
            <a:ext cx="4709160" cy="77724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GenAI made data quality MORE important, not less. RAG without clean data is a liar.</a:t>
            </a:r>
            <a:endParaRPr lang="en-US" sz="1150" dirty="0"/>
          </a:p>
        </p:txBody>
      </p:sp>
      <p:sp>
        <p:nvSpPr>
          <p:cNvPr id="34" name="Shape 32"/>
          <p:cNvSpPr/>
          <p:nvPr/>
        </p:nvSpPr>
        <p:spPr>
          <a:xfrm>
            <a:off x="6172200" y="4526280"/>
            <a:ext cx="5577840" cy="777240"/>
          </a:xfrm>
          <a:prstGeom prst="rect">
            <a:avLst/>
          </a:prstGeom>
          <a:solidFill>
            <a:srgbClr val="F8FAFC"/>
          </a:solidFill>
          <a:ln/>
        </p:spPr>
        <p:txBody>
          <a:bodyPr/>
          <a:lstStyle/>
          <a:p>
            <a:endParaRPr lang="en-AE"/>
          </a:p>
        </p:txBody>
      </p:sp>
      <p:sp>
        <p:nvSpPr>
          <p:cNvPr id="35" name="Shape 33"/>
          <p:cNvSpPr/>
          <p:nvPr/>
        </p:nvSpPr>
        <p:spPr>
          <a:xfrm>
            <a:off x="6172200" y="4526280"/>
            <a:ext cx="594360" cy="777240"/>
          </a:xfrm>
          <a:prstGeom prst="rect">
            <a:avLst/>
          </a:prstGeom>
          <a:solidFill>
            <a:srgbClr val="0B1437"/>
          </a:solidFill>
          <a:ln/>
        </p:spPr>
        <p:txBody>
          <a:bodyPr/>
          <a:lstStyle/>
          <a:p>
            <a:endParaRPr lang="en-AE"/>
          </a:p>
        </p:txBody>
      </p:sp>
      <p:sp>
        <p:nvSpPr>
          <p:cNvPr id="36" name="Text 34"/>
          <p:cNvSpPr/>
          <p:nvPr/>
        </p:nvSpPr>
        <p:spPr>
          <a:xfrm>
            <a:off x="6172200" y="4526280"/>
            <a:ext cx="594360" cy="777240"/>
          </a:xfrm>
          <a:prstGeom prst="rect">
            <a:avLst/>
          </a:prstGeom>
          <a:noFill/>
          <a:ln/>
        </p:spPr>
        <p:txBody>
          <a:bodyPr wrap="square" lIns="0" tIns="0" rIns="0" bIns="0" rtlCol="0" anchor="ctr"/>
          <a:lstStyle/>
          <a:p>
            <a:pPr marL="0" indent="0" algn="ctr">
              <a:buNone/>
            </a:pPr>
            <a:r>
              <a:rPr lang="en-US" sz="2000" b="1" dirty="0">
                <a:solidFill>
                  <a:srgbClr val="FF6B35"/>
                </a:solidFill>
                <a:latin typeface="Arial Black" pitchFamily="34" charset="0"/>
                <a:ea typeface="Arial Black" pitchFamily="34" charset="-122"/>
                <a:cs typeface="Arial Black" pitchFamily="34" charset="-120"/>
              </a:rPr>
              <a:t>08</a:t>
            </a:r>
            <a:endParaRPr lang="en-US" sz="2000" dirty="0"/>
          </a:p>
        </p:txBody>
      </p:sp>
      <p:sp>
        <p:nvSpPr>
          <p:cNvPr id="37" name="Text 35"/>
          <p:cNvSpPr/>
          <p:nvPr/>
        </p:nvSpPr>
        <p:spPr>
          <a:xfrm>
            <a:off x="6949440" y="4526280"/>
            <a:ext cx="4709160" cy="77724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Data quality is a religion, not a stage. Monitor schemas and distributions always.</a:t>
            </a:r>
            <a:endParaRPr lang="en-US" sz="1150" dirty="0"/>
          </a:p>
        </p:txBody>
      </p:sp>
      <p:sp>
        <p:nvSpPr>
          <p:cNvPr id="38" name="Shape 36"/>
          <p:cNvSpPr/>
          <p:nvPr/>
        </p:nvSpPr>
        <p:spPr>
          <a:xfrm>
            <a:off x="457200" y="5394960"/>
            <a:ext cx="5577840" cy="777240"/>
          </a:xfrm>
          <a:prstGeom prst="rect">
            <a:avLst/>
          </a:prstGeom>
          <a:solidFill>
            <a:srgbClr val="F8FAFC"/>
          </a:solidFill>
          <a:ln/>
        </p:spPr>
        <p:txBody>
          <a:bodyPr/>
          <a:lstStyle/>
          <a:p>
            <a:endParaRPr lang="en-AE"/>
          </a:p>
        </p:txBody>
      </p:sp>
      <p:sp>
        <p:nvSpPr>
          <p:cNvPr id="39" name="Shape 37"/>
          <p:cNvSpPr/>
          <p:nvPr/>
        </p:nvSpPr>
        <p:spPr>
          <a:xfrm>
            <a:off x="457200" y="5394960"/>
            <a:ext cx="594360" cy="777240"/>
          </a:xfrm>
          <a:prstGeom prst="rect">
            <a:avLst/>
          </a:prstGeom>
          <a:solidFill>
            <a:srgbClr val="0B1437"/>
          </a:solidFill>
          <a:ln/>
        </p:spPr>
        <p:txBody>
          <a:bodyPr/>
          <a:lstStyle/>
          <a:p>
            <a:endParaRPr lang="en-AE"/>
          </a:p>
        </p:txBody>
      </p:sp>
      <p:sp>
        <p:nvSpPr>
          <p:cNvPr id="40" name="Text 38"/>
          <p:cNvSpPr/>
          <p:nvPr/>
        </p:nvSpPr>
        <p:spPr>
          <a:xfrm>
            <a:off x="457200" y="5394960"/>
            <a:ext cx="594360" cy="777240"/>
          </a:xfrm>
          <a:prstGeom prst="rect">
            <a:avLst/>
          </a:prstGeom>
          <a:noFill/>
          <a:ln/>
        </p:spPr>
        <p:txBody>
          <a:bodyPr wrap="square" lIns="0" tIns="0" rIns="0" bIns="0" rtlCol="0" anchor="ctr"/>
          <a:lstStyle/>
          <a:p>
            <a:pPr marL="0" indent="0" algn="ctr">
              <a:buNone/>
            </a:pPr>
            <a:r>
              <a:rPr lang="en-US" sz="2000" b="1" dirty="0">
                <a:solidFill>
                  <a:srgbClr val="FF6B35"/>
                </a:solidFill>
                <a:latin typeface="Arial Black" pitchFamily="34" charset="0"/>
                <a:ea typeface="Arial Black" pitchFamily="34" charset="-122"/>
                <a:cs typeface="Arial Black" pitchFamily="34" charset="-120"/>
              </a:rPr>
              <a:t>09</a:t>
            </a:r>
            <a:endParaRPr lang="en-US" sz="2000" dirty="0"/>
          </a:p>
        </p:txBody>
      </p:sp>
      <p:sp>
        <p:nvSpPr>
          <p:cNvPr id="41" name="Text 39"/>
          <p:cNvSpPr/>
          <p:nvPr/>
        </p:nvSpPr>
        <p:spPr>
          <a:xfrm>
            <a:off x="1234440" y="5394960"/>
            <a:ext cx="4709160" cy="77724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Pick ONE cloud stack and go deep. T-shaped &gt; shallow across 10.</a:t>
            </a:r>
            <a:endParaRPr lang="en-US" sz="1150" dirty="0"/>
          </a:p>
        </p:txBody>
      </p:sp>
      <p:sp>
        <p:nvSpPr>
          <p:cNvPr id="42" name="Shape 40"/>
          <p:cNvSpPr/>
          <p:nvPr/>
        </p:nvSpPr>
        <p:spPr>
          <a:xfrm>
            <a:off x="6172200" y="5394960"/>
            <a:ext cx="5577840" cy="777240"/>
          </a:xfrm>
          <a:prstGeom prst="rect">
            <a:avLst/>
          </a:prstGeom>
          <a:solidFill>
            <a:srgbClr val="F8FAFC"/>
          </a:solidFill>
          <a:ln/>
        </p:spPr>
        <p:txBody>
          <a:bodyPr/>
          <a:lstStyle/>
          <a:p>
            <a:endParaRPr lang="en-AE"/>
          </a:p>
        </p:txBody>
      </p:sp>
      <p:sp>
        <p:nvSpPr>
          <p:cNvPr id="43" name="Shape 41"/>
          <p:cNvSpPr/>
          <p:nvPr/>
        </p:nvSpPr>
        <p:spPr>
          <a:xfrm>
            <a:off x="6172200" y="5394960"/>
            <a:ext cx="594360" cy="777240"/>
          </a:xfrm>
          <a:prstGeom prst="rect">
            <a:avLst/>
          </a:prstGeom>
          <a:solidFill>
            <a:srgbClr val="0B1437"/>
          </a:solidFill>
          <a:ln/>
        </p:spPr>
        <p:txBody>
          <a:bodyPr/>
          <a:lstStyle/>
          <a:p>
            <a:endParaRPr lang="en-AE"/>
          </a:p>
        </p:txBody>
      </p:sp>
      <p:sp>
        <p:nvSpPr>
          <p:cNvPr id="44" name="Text 42"/>
          <p:cNvSpPr/>
          <p:nvPr/>
        </p:nvSpPr>
        <p:spPr>
          <a:xfrm>
            <a:off x="6172200" y="5394960"/>
            <a:ext cx="594360" cy="777240"/>
          </a:xfrm>
          <a:prstGeom prst="rect">
            <a:avLst/>
          </a:prstGeom>
          <a:noFill/>
          <a:ln/>
        </p:spPr>
        <p:txBody>
          <a:bodyPr wrap="square" lIns="0" tIns="0" rIns="0" bIns="0" rtlCol="0" anchor="ctr"/>
          <a:lstStyle/>
          <a:p>
            <a:pPr marL="0" indent="0" algn="ctr">
              <a:buNone/>
            </a:pPr>
            <a:r>
              <a:rPr lang="en-US" sz="2000" b="1" dirty="0">
                <a:solidFill>
                  <a:srgbClr val="FF6B35"/>
                </a:solidFill>
                <a:latin typeface="Arial Black" pitchFamily="34" charset="0"/>
                <a:ea typeface="Arial Black" pitchFamily="34" charset="-122"/>
                <a:cs typeface="Arial Black" pitchFamily="34" charset="-120"/>
              </a:rPr>
              <a:t>10</a:t>
            </a:r>
            <a:endParaRPr lang="en-US" sz="2000" dirty="0"/>
          </a:p>
        </p:txBody>
      </p:sp>
      <p:sp>
        <p:nvSpPr>
          <p:cNvPr id="45" name="Text 43"/>
          <p:cNvSpPr/>
          <p:nvPr/>
        </p:nvSpPr>
        <p:spPr>
          <a:xfrm>
            <a:off x="6949440" y="5394960"/>
            <a:ext cx="4709160" cy="77724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Build ONE end-to-end project. Ship it. The README matters more than the stack.</a:t>
            </a:r>
            <a:endParaRPr lang="en-US" sz="1150" dirty="0"/>
          </a:p>
        </p:txBody>
      </p:sp>
      <p:sp>
        <p:nvSpPr>
          <p:cNvPr id="46" name="Text 44"/>
          <p:cNvSpPr/>
          <p:nvPr/>
        </p:nvSpPr>
        <p:spPr>
          <a:xfrm>
            <a:off x="10332720" y="6510528"/>
            <a:ext cx="173736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30 / 32  ·  DATA &amp; AI</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1437"/>
        </a:solidFill>
        <a:effectLst/>
      </p:bgPr>
    </p:bg>
    <p:spTree>
      <p:nvGrpSpPr>
        <p:cNvPr id="1" name=""/>
        <p:cNvGrpSpPr/>
        <p:nvPr/>
      </p:nvGrpSpPr>
      <p:grpSpPr>
        <a:xfrm>
          <a:off x="0" y="0"/>
          <a:ext cx="0" cy="0"/>
          <a:chOff x="0" y="0"/>
          <a:chExt cx="0" cy="0"/>
        </a:xfrm>
      </p:grpSpPr>
      <p:sp>
        <p:nvSpPr>
          <p:cNvPr id="2" name="Text 0"/>
          <p:cNvSpPr/>
          <p:nvPr/>
        </p:nvSpPr>
        <p:spPr>
          <a:xfrm>
            <a:off x="640080" y="822960"/>
            <a:ext cx="7315200" cy="365760"/>
          </a:xfrm>
          <a:prstGeom prst="rect">
            <a:avLst/>
          </a:prstGeom>
          <a:noFill/>
          <a:ln/>
        </p:spPr>
        <p:txBody>
          <a:bodyPr wrap="square" lIns="0" tIns="0" rIns="0" bIns="0" rtlCol="0" anchor="ctr"/>
          <a:lstStyle/>
          <a:p>
            <a:pPr marL="0" indent="0">
              <a:buNone/>
            </a:pPr>
            <a:r>
              <a:rPr lang="en-US" sz="1300" b="1" kern="0" spc="500" dirty="0">
                <a:solidFill>
                  <a:srgbClr val="FF6B35"/>
                </a:solidFill>
                <a:latin typeface="Calibri" pitchFamily="34" charset="0"/>
                <a:ea typeface="Calibri" pitchFamily="34" charset="-122"/>
                <a:cs typeface="Calibri" pitchFamily="34" charset="-120"/>
              </a:rPr>
              <a:t>ONE MORE THING.</a:t>
            </a:r>
            <a:endParaRPr lang="en-US" sz="1300" dirty="0"/>
          </a:p>
        </p:txBody>
      </p:sp>
      <p:sp>
        <p:nvSpPr>
          <p:cNvPr id="3" name="Text 1"/>
          <p:cNvSpPr/>
          <p:nvPr/>
        </p:nvSpPr>
        <p:spPr>
          <a:xfrm>
            <a:off x="640080" y="1828800"/>
            <a:ext cx="10972800" cy="1097280"/>
          </a:xfrm>
          <a:prstGeom prst="rect">
            <a:avLst/>
          </a:prstGeom>
          <a:noFill/>
          <a:ln/>
        </p:spPr>
        <p:txBody>
          <a:bodyPr wrap="square" lIns="0" tIns="0" rIns="0" bIns="0" rtlCol="0" anchor="ctr"/>
          <a:lstStyle/>
          <a:p>
            <a:pPr marL="0" indent="0">
              <a:buNone/>
            </a:pPr>
            <a:r>
              <a:rPr lang="en-US" sz="7200" b="1" dirty="0">
                <a:solidFill>
                  <a:srgbClr val="FFFFFF"/>
                </a:solidFill>
                <a:latin typeface="Arial Black" pitchFamily="34" charset="0"/>
                <a:ea typeface="Arial Black" pitchFamily="34" charset="-122"/>
                <a:cs typeface="Arial Black" pitchFamily="34" charset="-120"/>
              </a:rPr>
              <a:t>The tools will change.</a:t>
            </a:r>
            <a:endParaRPr lang="en-US" sz="7200" dirty="0"/>
          </a:p>
        </p:txBody>
      </p:sp>
      <p:sp>
        <p:nvSpPr>
          <p:cNvPr id="4" name="Text 2"/>
          <p:cNvSpPr/>
          <p:nvPr/>
        </p:nvSpPr>
        <p:spPr>
          <a:xfrm>
            <a:off x="640080" y="3146727"/>
            <a:ext cx="10972800" cy="1097280"/>
          </a:xfrm>
          <a:prstGeom prst="rect">
            <a:avLst/>
          </a:prstGeom>
          <a:noFill/>
          <a:ln/>
        </p:spPr>
        <p:txBody>
          <a:bodyPr wrap="square" lIns="0" tIns="0" rIns="0" bIns="0" rtlCol="0" anchor="ctr"/>
          <a:lstStyle/>
          <a:p>
            <a:pPr marL="0" indent="0">
              <a:buNone/>
            </a:pPr>
            <a:r>
              <a:rPr lang="en-US" sz="7200" b="1" i="1" dirty="0">
                <a:solidFill>
                  <a:srgbClr val="FF6B35"/>
                </a:solidFill>
                <a:latin typeface="Arial Black" pitchFamily="34" charset="0"/>
                <a:ea typeface="Arial Black" pitchFamily="34" charset="-122"/>
                <a:cs typeface="Arial Black" pitchFamily="34" charset="-120"/>
              </a:rPr>
              <a:t>The patterns won't.</a:t>
            </a:r>
            <a:endParaRPr lang="en-US" sz="7200" dirty="0"/>
          </a:p>
        </p:txBody>
      </p:sp>
      <p:sp>
        <p:nvSpPr>
          <p:cNvPr id="5" name="Shape 3"/>
          <p:cNvSpPr/>
          <p:nvPr/>
        </p:nvSpPr>
        <p:spPr>
          <a:xfrm>
            <a:off x="640080" y="4389120"/>
            <a:ext cx="10881360" cy="1371600"/>
          </a:xfrm>
          <a:prstGeom prst="rect">
            <a:avLst/>
          </a:prstGeom>
          <a:solidFill>
            <a:srgbClr val="1B2656"/>
          </a:solidFill>
          <a:ln/>
        </p:spPr>
        <p:txBody>
          <a:bodyPr/>
          <a:lstStyle/>
          <a:p>
            <a:endParaRPr lang="en-AE"/>
          </a:p>
        </p:txBody>
      </p:sp>
      <p:sp>
        <p:nvSpPr>
          <p:cNvPr id="6" name="Shape 4"/>
          <p:cNvSpPr/>
          <p:nvPr/>
        </p:nvSpPr>
        <p:spPr>
          <a:xfrm>
            <a:off x="640080" y="4389120"/>
            <a:ext cx="109728" cy="1371600"/>
          </a:xfrm>
          <a:prstGeom prst="rect">
            <a:avLst/>
          </a:prstGeom>
          <a:solidFill>
            <a:srgbClr val="22D3EE"/>
          </a:solidFill>
          <a:ln/>
        </p:spPr>
        <p:txBody>
          <a:bodyPr/>
          <a:lstStyle/>
          <a:p>
            <a:endParaRPr lang="en-AE"/>
          </a:p>
        </p:txBody>
      </p:sp>
      <p:sp>
        <p:nvSpPr>
          <p:cNvPr id="7" name="Text 5"/>
          <p:cNvSpPr/>
          <p:nvPr/>
        </p:nvSpPr>
        <p:spPr>
          <a:xfrm>
            <a:off x="914400" y="4526280"/>
            <a:ext cx="10424160" cy="1188720"/>
          </a:xfrm>
          <a:prstGeom prst="rect">
            <a:avLst/>
          </a:prstGeom>
          <a:noFill/>
          <a:ln/>
        </p:spPr>
        <p:txBody>
          <a:bodyPr wrap="square" lIns="0" tIns="0" rIns="0" bIns="0" rtlCol="0" anchor="ctr"/>
          <a:lstStyle/>
          <a:p>
            <a:pPr marL="0" indent="0">
              <a:buNone/>
            </a:pPr>
            <a:r>
              <a:rPr lang="en-US" sz="1700" i="1" dirty="0">
                <a:solidFill>
                  <a:srgbClr val="94A3B8"/>
                </a:solidFill>
                <a:latin typeface="Calibri" pitchFamily="34" charset="0"/>
                <a:ea typeface="Calibri" pitchFamily="34" charset="-122"/>
                <a:cs typeface="Calibri" pitchFamily="34" charset="-120"/>
              </a:rPr>
              <a:t>In five years, half the tool names on the earlier slides will be gone replaced by better ones. But OLTP vs OLAP, facts vs dimensions, batch vs streaming, Bronze vs Gold those are forever. Learn the patterns. The tools are just the accent.</a:t>
            </a:r>
            <a:endParaRPr lang="en-US" sz="1700" dirty="0"/>
          </a:p>
        </p:txBody>
      </p:sp>
      <p:sp>
        <p:nvSpPr>
          <p:cNvPr id="8" name="Text 6"/>
          <p:cNvSpPr/>
          <p:nvPr/>
        </p:nvSpPr>
        <p:spPr>
          <a:xfrm>
            <a:off x="640080" y="5943600"/>
            <a:ext cx="10972800" cy="6400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Thank you.  </a:t>
            </a:r>
            <a:r>
              <a:rPr lang="en-US" sz="1600" i="1" dirty="0">
                <a:solidFill>
                  <a:srgbClr val="22D3EE"/>
                </a:solidFill>
                <a:latin typeface="Calibri" pitchFamily="34" charset="0"/>
                <a:ea typeface="Calibri" pitchFamily="34" charset="-122"/>
                <a:cs typeface="Calibri" pitchFamily="34" charset="-120"/>
              </a:rPr>
              <a:t>Next session we build a mini Medallion warehouse from scratch. SQLite, Python, React. Bring your laptop.</a:t>
            </a:r>
            <a:endParaRPr lang="en-US" sz="1600" dirty="0"/>
          </a:p>
        </p:txBody>
      </p:sp>
      <p:sp>
        <p:nvSpPr>
          <p:cNvPr id="9" name="Text 7"/>
          <p:cNvSpPr/>
          <p:nvPr/>
        </p:nvSpPr>
        <p:spPr>
          <a:xfrm>
            <a:off x="10332720" y="6510528"/>
            <a:ext cx="173736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31 / 32  ·  DATA &amp; AI</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60B24"/>
        </a:solidFill>
        <a:effectLst/>
      </p:bgPr>
    </p:bg>
    <p:spTree>
      <p:nvGrpSpPr>
        <p:cNvPr id="1" name=""/>
        <p:cNvGrpSpPr/>
        <p:nvPr/>
      </p:nvGrpSpPr>
      <p:grpSpPr>
        <a:xfrm>
          <a:off x="0" y="0"/>
          <a:ext cx="0" cy="0"/>
          <a:chOff x="0" y="0"/>
          <a:chExt cx="0" cy="0"/>
        </a:xfrm>
      </p:grpSpPr>
      <p:sp>
        <p:nvSpPr>
          <p:cNvPr id="2" name="Text 0"/>
          <p:cNvSpPr/>
          <p:nvPr/>
        </p:nvSpPr>
        <p:spPr>
          <a:xfrm>
            <a:off x="1828800" y="1097280"/>
            <a:ext cx="3200400" cy="4114800"/>
          </a:xfrm>
          <a:prstGeom prst="rect">
            <a:avLst/>
          </a:prstGeom>
          <a:noFill/>
          <a:ln/>
        </p:spPr>
        <p:txBody>
          <a:bodyPr wrap="square" lIns="0" tIns="0" rIns="0" bIns="0" rtlCol="0" anchor="t"/>
          <a:lstStyle/>
          <a:p>
            <a:pPr marL="0" indent="0" algn="ctr">
              <a:buNone/>
            </a:pPr>
            <a:r>
              <a:rPr lang="en-US" sz="36000" b="1" dirty="0">
                <a:solidFill>
                  <a:srgbClr val="22D3EE"/>
                </a:solidFill>
                <a:latin typeface="Arial Black" pitchFamily="34" charset="0"/>
                <a:ea typeface="Arial Black" pitchFamily="34" charset="-122"/>
                <a:cs typeface="Arial Black" pitchFamily="34" charset="-120"/>
              </a:rPr>
              <a:t>Q</a:t>
            </a:r>
            <a:endParaRPr lang="en-US" sz="36000" dirty="0"/>
          </a:p>
        </p:txBody>
      </p:sp>
      <p:sp>
        <p:nvSpPr>
          <p:cNvPr id="3" name="Text 1"/>
          <p:cNvSpPr/>
          <p:nvPr/>
        </p:nvSpPr>
        <p:spPr>
          <a:xfrm>
            <a:off x="4754880" y="1828800"/>
            <a:ext cx="2743200" cy="3200400"/>
          </a:xfrm>
          <a:prstGeom prst="rect">
            <a:avLst/>
          </a:prstGeom>
          <a:noFill/>
          <a:ln/>
        </p:spPr>
        <p:txBody>
          <a:bodyPr wrap="square" lIns="0" tIns="0" rIns="0" bIns="0" rtlCol="0" anchor="ctr"/>
          <a:lstStyle/>
          <a:p>
            <a:pPr marL="0" indent="0" algn="ctr">
              <a:buNone/>
            </a:pPr>
            <a:r>
              <a:rPr lang="en-US" sz="18000" b="1" i="1" dirty="0">
                <a:solidFill>
                  <a:srgbClr val="FF6B35"/>
                </a:solidFill>
                <a:latin typeface="Arial Black" pitchFamily="34" charset="0"/>
                <a:ea typeface="Arial Black" pitchFamily="34" charset="-122"/>
                <a:cs typeface="Arial Black" pitchFamily="34" charset="-120"/>
              </a:rPr>
              <a:t>&amp;</a:t>
            </a:r>
            <a:endParaRPr lang="en-US" sz="18000" dirty="0"/>
          </a:p>
        </p:txBody>
      </p:sp>
      <p:sp>
        <p:nvSpPr>
          <p:cNvPr id="4" name="Text 2"/>
          <p:cNvSpPr/>
          <p:nvPr/>
        </p:nvSpPr>
        <p:spPr>
          <a:xfrm>
            <a:off x="7132320" y="1097280"/>
            <a:ext cx="3200400" cy="4114800"/>
          </a:xfrm>
          <a:prstGeom prst="rect">
            <a:avLst/>
          </a:prstGeom>
          <a:noFill/>
          <a:ln/>
        </p:spPr>
        <p:txBody>
          <a:bodyPr wrap="square" lIns="0" tIns="0" rIns="0" bIns="0" rtlCol="0" anchor="t"/>
          <a:lstStyle/>
          <a:p>
            <a:pPr marL="0" indent="0" algn="ctr">
              <a:buNone/>
            </a:pPr>
            <a:r>
              <a:rPr lang="en-US" sz="36000" b="1" dirty="0">
                <a:solidFill>
                  <a:srgbClr val="F472B6"/>
                </a:solidFill>
                <a:latin typeface="Arial Black" pitchFamily="34" charset="0"/>
                <a:ea typeface="Arial Black" pitchFamily="34" charset="-122"/>
                <a:cs typeface="Arial Black" pitchFamily="34" charset="-120"/>
              </a:rPr>
              <a:t>A</a:t>
            </a:r>
            <a:endParaRPr lang="en-US" sz="36000" dirty="0"/>
          </a:p>
        </p:txBody>
      </p:sp>
      <p:sp>
        <p:nvSpPr>
          <p:cNvPr id="5" name="Text 3"/>
          <p:cNvSpPr/>
          <p:nvPr/>
        </p:nvSpPr>
        <p:spPr>
          <a:xfrm>
            <a:off x="457200" y="6126480"/>
            <a:ext cx="11247120" cy="365760"/>
          </a:xfrm>
          <a:prstGeom prst="rect">
            <a:avLst/>
          </a:prstGeom>
          <a:noFill/>
          <a:ln/>
        </p:spPr>
        <p:txBody>
          <a:bodyPr wrap="square" lIns="0" tIns="0" rIns="0" bIns="0" rtlCol="0" anchor="ctr"/>
          <a:lstStyle/>
          <a:p>
            <a:pPr marL="0" indent="0" algn="ctr">
              <a:buNone/>
            </a:pPr>
            <a:r>
              <a:rPr lang="en-US" sz="1700" i="1" dirty="0">
                <a:solidFill>
                  <a:srgbClr val="94A3B8"/>
                </a:solidFill>
                <a:latin typeface="Calibri" pitchFamily="34" charset="0"/>
                <a:ea typeface="Calibri" pitchFamily="34" charset="-122"/>
                <a:cs typeface="Calibri" pitchFamily="34" charset="-120"/>
              </a:rPr>
              <a:t>ask the dumb questions. that's the whole point.</a:t>
            </a:r>
            <a:endParaRPr lang="en-US" sz="1700" dirty="0"/>
          </a:p>
        </p:txBody>
      </p:sp>
      <p:sp>
        <p:nvSpPr>
          <p:cNvPr id="6" name="Text 4"/>
          <p:cNvSpPr/>
          <p:nvPr/>
        </p:nvSpPr>
        <p:spPr>
          <a:xfrm>
            <a:off x="10332720" y="6510528"/>
            <a:ext cx="1737360" cy="256032"/>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32 / 32  ·  DATA &amp; AI</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3269</Words>
  <Application>Microsoft Macintosh PowerPoint</Application>
  <PresentationFormat>Widescreen</PresentationFormat>
  <Paragraphs>605</Paragraphs>
  <Slides>32</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Arial Black</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&amp; AI: The Honest Tour — CSIT321</dc:title>
  <dc:subject>PptxGenJS Presentation</dc:subject>
  <dc:creator>Vishal Mishra</dc:creator>
  <cp:lastModifiedBy>Vishal Mishra</cp:lastModifiedBy>
  <cp:revision>2</cp:revision>
  <dcterms:created xsi:type="dcterms:W3CDTF">2026-04-21T06:52:39Z</dcterms:created>
  <dcterms:modified xsi:type="dcterms:W3CDTF">2026-04-21T06:57:59Z</dcterms:modified>
</cp:coreProperties>
</file>